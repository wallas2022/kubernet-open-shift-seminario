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1bc8f9af08c48ee" /><Relationship Type="http://schemas.openxmlformats.org/officeDocument/2006/relationships/extended-properties" Target="/docProps/app.xml" Id="R39282a0abff74c70" /><Relationship Type="http://schemas.openxmlformats.org/officeDocument/2006/relationships/officeDocument" Target="/ppt/presentation.xml" Id="R74004542e8c8482e" /></Relationships>
</file>

<file path=ppt/presentation.xml><?xml version="1.0" encoding="utf-8"?>
<p:presentation xmlns:p="http://schemas.openxmlformats.org/presentationml/2006/main">
  <p:sldMasterIdLst>
    <p:sldMasterId xmlns:r="http://schemas.openxmlformats.org/officeDocument/2006/relationships" id="2147483648" r:id="Rc3375b80c6424e7a"/>
  </p:sldMasterIdLst>
  <p:notesMasterIdLst>
    <p:notesMasterId xmlns:r="http://schemas.openxmlformats.org/officeDocument/2006/relationships" r:id="R20bb09223d8d48c7"/>
  </p:notesMasterIdLst>
  <p:sldIdLst>
    <p:sldId xmlns:r="http://schemas.openxmlformats.org/officeDocument/2006/relationships" id="256" r:id="Rf52237bbdfee4586"/>
    <p:sldId xmlns:r="http://schemas.openxmlformats.org/officeDocument/2006/relationships" id="257" r:id="Rce8ed33c7a394b51"/>
    <p:sldId xmlns:r="http://schemas.openxmlformats.org/officeDocument/2006/relationships" id="258" r:id="R748b6496ca23472b"/>
    <p:sldId xmlns:r="http://schemas.openxmlformats.org/officeDocument/2006/relationships" id="259" r:id="R2d93640595a84b1d"/>
    <p:sldId xmlns:r="http://schemas.openxmlformats.org/officeDocument/2006/relationships" id="260" r:id="R61c475a0099c4a91"/>
    <p:sldId xmlns:r="http://schemas.openxmlformats.org/officeDocument/2006/relationships" id="261" r:id="R452eab7721df4b29"/>
    <p:sldId xmlns:r="http://schemas.openxmlformats.org/officeDocument/2006/relationships" id="262" r:id="R8c840b67a28044b2"/>
    <p:sldId xmlns:r="http://schemas.openxmlformats.org/officeDocument/2006/relationships" id="263" r:id="R7eee5b688eb34adc"/>
    <p:sldId xmlns:r="http://schemas.openxmlformats.org/officeDocument/2006/relationships" id="264" r:id="R0274f4f80f0a404d"/>
    <p:sldId xmlns:r="http://schemas.openxmlformats.org/officeDocument/2006/relationships" id="265" r:id="R60d464c3e0f44788"/>
    <p:sldId xmlns:r="http://schemas.openxmlformats.org/officeDocument/2006/relationships" id="266" r:id="Ra9fc8ad89508460f"/>
    <p:sldId xmlns:r="http://schemas.openxmlformats.org/officeDocument/2006/relationships" id="267" r:id="R70e996ad6e7140b1"/>
    <p:sldId xmlns:r="http://schemas.openxmlformats.org/officeDocument/2006/relationships" id="268" r:id="R9f0da7554c534529"/>
    <p:sldId xmlns:r="http://schemas.openxmlformats.org/officeDocument/2006/relationships" id="269" r:id="Rc491d03221c9410f"/>
    <p:sldId xmlns:r="http://schemas.openxmlformats.org/officeDocument/2006/relationships" id="270" r:id="Rba7ee7ec0bc84582"/>
    <p:sldId xmlns:r="http://schemas.openxmlformats.org/officeDocument/2006/relationships" id="271" r:id="R3c355bcd41024107"/>
    <p:sldId xmlns:r="http://schemas.openxmlformats.org/officeDocument/2006/relationships" id="272" r:id="Ra448e422a27c4c77"/>
    <p:sldId xmlns:r="http://schemas.openxmlformats.org/officeDocument/2006/relationships" id="273" r:id="Rc6ef12ee6f4d4c1f"/>
    <p:sldId xmlns:r="http://schemas.openxmlformats.org/officeDocument/2006/relationships" id="274" r:id="Rf0414e6d0e984ef9"/>
    <p:sldId xmlns:r="http://schemas.openxmlformats.org/officeDocument/2006/relationships" id="275" r:id="Rac54366b3e9b4ca3"/>
    <p:sldId xmlns:r="http://schemas.openxmlformats.org/officeDocument/2006/relationships" id="276" r:id="R62c4afcb2e3d4eae"/>
    <p:sldId xmlns:r="http://schemas.openxmlformats.org/officeDocument/2006/relationships" id="277" r:id="R99047cdf27af4a89"/>
    <p:sldId xmlns:r="http://schemas.openxmlformats.org/officeDocument/2006/relationships" id="278" r:id="R9c1ffa29353548fc"/>
    <p:sldId xmlns:r="http://schemas.openxmlformats.org/officeDocument/2006/relationships" id="279" r:id="R06807d8db2f645d9"/>
    <p:sldId xmlns:r="http://schemas.openxmlformats.org/officeDocument/2006/relationships" id="280" r:id="Reafd70753fd54c9a"/>
    <p:sldId xmlns:r="http://schemas.openxmlformats.org/officeDocument/2006/relationships" id="281" r:id="R07477d512acb4572"/>
    <p:sldId xmlns:r="http://schemas.openxmlformats.org/officeDocument/2006/relationships" id="282" r:id="R2c825628a27c40a9"/>
    <p:sldId xmlns:r="http://schemas.openxmlformats.org/officeDocument/2006/relationships" id="283" r:id="R63f44e6fdc8f4956"/>
    <p:sldId xmlns:r="http://schemas.openxmlformats.org/officeDocument/2006/relationships" id="284" r:id="Rfdc9b2f1c8f44420"/>
    <p:sldId xmlns:r="http://schemas.openxmlformats.org/officeDocument/2006/relationships" id="285" r:id="Rde310cc1af6448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853ef2332e44ff" /><Relationship Type="http://schemas.openxmlformats.org/officeDocument/2006/relationships/slideMaster" Target="/ppt/slideMasters/slideMaster1.xml" Id="Rc3375b80c6424e7a" /><Relationship Type="http://schemas.openxmlformats.org/officeDocument/2006/relationships/notesMaster" Target="/ppt/notesMasters/notesMaster1.xml" Id="R20bb09223d8d48c7" /><Relationship Type="http://schemas.openxmlformats.org/officeDocument/2006/relationships/presProps" Target="/ppt/presProps.xml" Id="R6e84bb554072410d" /><Relationship Type="http://schemas.openxmlformats.org/officeDocument/2006/relationships/tableStyles" Target="/ppt/tableStyles.xml" Id="R62f469ad6ed1452d" /><Relationship Type="http://schemas.openxmlformats.org/officeDocument/2006/relationships/slide" Target="/ppt/slides/slide1.xml" Id="Rf52237bbdfee4586" /><Relationship Type="http://schemas.openxmlformats.org/officeDocument/2006/relationships/slide" Target="/ppt/slides/slide2.xml" Id="Rce8ed33c7a394b51" /><Relationship Type="http://schemas.openxmlformats.org/officeDocument/2006/relationships/slide" Target="/ppt/slides/slide3.xml" Id="R748b6496ca23472b" /><Relationship Type="http://schemas.openxmlformats.org/officeDocument/2006/relationships/slide" Target="/ppt/slides/slide4.xml" Id="R2d93640595a84b1d" /><Relationship Type="http://schemas.openxmlformats.org/officeDocument/2006/relationships/slide" Target="/ppt/slides/slide5.xml" Id="R61c475a0099c4a91" /><Relationship Type="http://schemas.openxmlformats.org/officeDocument/2006/relationships/slide" Target="/ppt/slides/slide6.xml" Id="R452eab7721df4b29" /><Relationship Type="http://schemas.openxmlformats.org/officeDocument/2006/relationships/slide" Target="/ppt/slides/slide7.xml" Id="R8c840b67a28044b2" /><Relationship Type="http://schemas.openxmlformats.org/officeDocument/2006/relationships/slide" Target="/ppt/slides/slide8.xml" Id="R7eee5b688eb34adc" /><Relationship Type="http://schemas.openxmlformats.org/officeDocument/2006/relationships/slide" Target="/ppt/slides/slide9.xml" Id="R0274f4f80f0a404d" /><Relationship Type="http://schemas.openxmlformats.org/officeDocument/2006/relationships/slide" Target="/ppt/slides/slide10.xml" Id="R60d464c3e0f44788" /><Relationship Type="http://schemas.openxmlformats.org/officeDocument/2006/relationships/slide" Target="/ppt/slides/slide11.xml" Id="Ra9fc8ad89508460f" /><Relationship Type="http://schemas.openxmlformats.org/officeDocument/2006/relationships/slide" Target="/ppt/slides/slide12.xml" Id="R70e996ad6e7140b1" /><Relationship Type="http://schemas.openxmlformats.org/officeDocument/2006/relationships/slide" Target="/ppt/slides/slide13.xml" Id="R9f0da7554c534529" /><Relationship Type="http://schemas.openxmlformats.org/officeDocument/2006/relationships/slide" Target="/ppt/slides/slide14.xml" Id="Rc491d03221c9410f" /><Relationship Type="http://schemas.openxmlformats.org/officeDocument/2006/relationships/slide" Target="/ppt/slides/slide15.xml" Id="Rba7ee7ec0bc84582" /><Relationship Type="http://schemas.openxmlformats.org/officeDocument/2006/relationships/slide" Target="/ppt/slides/slide16.xml" Id="R3c355bcd41024107" /><Relationship Type="http://schemas.openxmlformats.org/officeDocument/2006/relationships/slide" Target="/ppt/slides/slide17.xml" Id="Ra448e422a27c4c77" /><Relationship Type="http://schemas.openxmlformats.org/officeDocument/2006/relationships/slide" Target="/ppt/slides/slide18.xml" Id="Rc6ef12ee6f4d4c1f" /><Relationship Type="http://schemas.openxmlformats.org/officeDocument/2006/relationships/slide" Target="/ppt/slides/slide19.xml" Id="Rf0414e6d0e984ef9" /><Relationship Type="http://schemas.openxmlformats.org/officeDocument/2006/relationships/slide" Target="/ppt/slides/slide20.xml" Id="Rac54366b3e9b4ca3" /><Relationship Type="http://schemas.openxmlformats.org/officeDocument/2006/relationships/slide" Target="/ppt/slides/slide21.xml" Id="R62c4afcb2e3d4eae" /><Relationship Type="http://schemas.openxmlformats.org/officeDocument/2006/relationships/slide" Target="/ppt/slides/slide22.xml" Id="R99047cdf27af4a89" /><Relationship Type="http://schemas.openxmlformats.org/officeDocument/2006/relationships/slide" Target="/ppt/slides/slide23.xml" Id="R9c1ffa29353548fc" /><Relationship Type="http://schemas.openxmlformats.org/officeDocument/2006/relationships/slide" Target="/ppt/slides/slide24.xml" Id="R06807d8db2f645d9" /><Relationship Type="http://schemas.openxmlformats.org/officeDocument/2006/relationships/slide" Target="/ppt/slides/slide25.xml" Id="Reafd70753fd54c9a" /><Relationship Type="http://schemas.openxmlformats.org/officeDocument/2006/relationships/slide" Target="/ppt/slides/slide26.xml" Id="R07477d512acb4572" /><Relationship Type="http://schemas.openxmlformats.org/officeDocument/2006/relationships/slide" Target="/ppt/slides/slide27.xml" Id="R2c825628a27c40a9" /><Relationship Type="http://schemas.openxmlformats.org/officeDocument/2006/relationships/slide" Target="/ppt/slides/slide28.xml" Id="R63f44e6fdc8f4956" /><Relationship Type="http://schemas.openxmlformats.org/officeDocument/2006/relationships/slide" Target="/ppt/slides/slide29.xml" Id="Rfdc9b2f1c8f44420" /><Relationship Type="http://schemas.openxmlformats.org/officeDocument/2006/relationships/slide" Target="/ppt/slides/slide30.xml" Id="Rde310cc1af6448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99f0b875974f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1a35de10514290" /><Relationship Type="http://schemas.openxmlformats.org/officeDocument/2006/relationships/notesMaster" Target="/ppt/notesMasters/notesMaster1.xml" Id="R7cc6ae58b95746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b43d954d3d4c5e" /><Relationship Type="http://schemas.openxmlformats.org/officeDocument/2006/relationships/notesMaster" Target="/ppt/notesMasters/notesMaster1.xml" Id="R5afe2d81ff1c46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e6b1823c354e1e" /><Relationship Type="http://schemas.openxmlformats.org/officeDocument/2006/relationships/notesMaster" Target="/ppt/notesMasters/notesMaster1.xml" Id="Rb24a8fc17fa741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9cf5a1ee324091" /><Relationship Type="http://schemas.openxmlformats.org/officeDocument/2006/relationships/notesMaster" Target="/ppt/notesMasters/notesMaster1.xml" Id="R5be896a1a69141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1d5feea5e84d55" /><Relationship Type="http://schemas.openxmlformats.org/officeDocument/2006/relationships/notesMaster" Target="/ppt/notesMasters/notesMaster1.xml" Id="R3e6df30561864a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1c9e92e3b64591" /><Relationship Type="http://schemas.openxmlformats.org/officeDocument/2006/relationships/notesMaster" Target="/ppt/notesMasters/notesMaster1.xml" Id="R273467d79cbd47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7125694a384f37" /><Relationship Type="http://schemas.openxmlformats.org/officeDocument/2006/relationships/notesMaster" Target="/ppt/notesMasters/notesMaster1.xml" Id="R9df665f3526848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eefaac7c424f1a" /><Relationship Type="http://schemas.openxmlformats.org/officeDocument/2006/relationships/notesMaster" Target="/ppt/notesMasters/notesMaster1.xml" Id="R918350d0fcbe4d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61e9dfd495431b" /><Relationship Type="http://schemas.openxmlformats.org/officeDocument/2006/relationships/notesMaster" Target="/ppt/notesMasters/notesMaster1.xml" Id="Rac5f2cc5e8a94c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0052c80cff40cf" /><Relationship Type="http://schemas.openxmlformats.org/officeDocument/2006/relationships/notesMaster" Target="/ppt/notesMasters/notesMaster1.xml" Id="R82a9fbcd9d7441a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85daebc2314bac" /><Relationship Type="http://schemas.openxmlformats.org/officeDocument/2006/relationships/notesMaster" Target="/ppt/notesMasters/notesMaster1.xml" Id="Rc2f2dba6ed7742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389fc1c0377460e" /><Relationship Type="http://schemas.openxmlformats.org/officeDocument/2006/relationships/notesMaster" Target="/ppt/notesMasters/notesMaster1.xml" Id="Rb2f688c5acad400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0ab6388a1524188" /><Relationship Type="http://schemas.openxmlformats.org/officeDocument/2006/relationships/notesMaster" Target="/ppt/notesMasters/notesMaster1.xml" Id="R70e202b3be2641a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1895e867d2452e" /><Relationship Type="http://schemas.openxmlformats.org/officeDocument/2006/relationships/notesMaster" Target="/ppt/notesMasters/notesMaster1.xml" Id="R225a4b2b1903441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53ee8e2a34744a0" /><Relationship Type="http://schemas.openxmlformats.org/officeDocument/2006/relationships/notesMaster" Target="/ppt/notesMasters/notesMaster1.xml" Id="R1b720760df434f9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04e129aa10546f9" /><Relationship Type="http://schemas.openxmlformats.org/officeDocument/2006/relationships/notesMaster" Target="/ppt/notesMasters/notesMaster1.xml" Id="R0114b7f5d3cb4d1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3957270ecaf4d70" /><Relationship Type="http://schemas.openxmlformats.org/officeDocument/2006/relationships/notesMaster" Target="/ppt/notesMasters/notesMaster1.xml" Id="Rf5454dd98ee740b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d825a8fa8ec43ab" /><Relationship Type="http://schemas.openxmlformats.org/officeDocument/2006/relationships/notesMaster" Target="/ppt/notesMasters/notesMaster1.xml" Id="Rc93bf31b5af24f7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b318746f4f642cb" /><Relationship Type="http://schemas.openxmlformats.org/officeDocument/2006/relationships/notesMaster" Target="/ppt/notesMasters/notesMaster1.xml" Id="R7b5e68876067414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4bc05973e6b4f06" /><Relationship Type="http://schemas.openxmlformats.org/officeDocument/2006/relationships/notesMaster" Target="/ppt/notesMasters/notesMaster1.xml" Id="R50ac92bd2f43442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39fa2e8df914948" /><Relationship Type="http://schemas.openxmlformats.org/officeDocument/2006/relationships/notesMaster" Target="/ppt/notesMasters/notesMaster1.xml" Id="R008b28d8e2ee46c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5a8a875713643f8" /><Relationship Type="http://schemas.openxmlformats.org/officeDocument/2006/relationships/notesMaster" Target="/ppt/notesMasters/notesMaster1.xml" Id="Rcb57b2ec07b748d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c3bbe51af2d407c" /><Relationship Type="http://schemas.openxmlformats.org/officeDocument/2006/relationships/notesMaster" Target="/ppt/notesMasters/notesMaster1.xml" Id="R18227e4ea8f2448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a9c6048b37346d5" /><Relationship Type="http://schemas.openxmlformats.org/officeDocument/2006/relationships/notesMaster" Target="/ppt/notesMasters/notesMaster1.xml" Id="R43aca49cb4c04a5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01a3fe39f7647cf" /><Relationship Type="http://schemas.openxmlformats.org/officeDocument/2006/relationships/notesMaster" Target="/ppt/notesMasters/notesMaster1.xml" Id="R7346e0938a9440c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c512ca8f5644aa5" /><Relationship Type="http://schemas.openxmlformats.org/officeDocument/2006/relationships/notesMaster" Target="/ppt/notesMasters/notesMaster1.xml" Id="R195dfb0bf281439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96f11a9ece64893" /><Relationship Type="http://schemas.openxmlformats.org/officeDocument/2006/relationships/notesMaster" Target="/ppt/notesMasters/notesMaster1.xml" Id="R191c7b4dcddf4a7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cca1e20cadf47be" /><Relationship Type="http://schemas.openxmlformats.org/officeDocument/2006/relationships/notesMaster" Target="/ppt/notesMasters/notesMaster1.xml" Id="Rc814372fddb84a3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86f6c82b5444a5d" /><Relationship Type="http://schemas.openxmlformats.org/officeDocument/2006/relationships/notesMaster" Target="/ppt/notesMasters/notesMaster1.xml" Id="R5a27818f96dc451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121a03e4051458b" /><Relationship Type="http://schemas.openxmlformats.org/officeDocument/2006/relationships/notesMaster" Target="/ppt/notesMasters/notesMaster1.xml" Id="R0fba85f532ed43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Abrir con el sistema construido por el seminario. El caso propio es la reserva de cupos, no una empresa externa ni una aplicación de venta. Distinguir el éxito funcional local de las hipótesis de escalabilidad todavía pendientes.</a:t>
            </a:r>
          </a:p>
          <a:p xmlns:a="http://schemas.openxmlformats.org/drawingml/2006/main">
            <a:r>
              <a:t/>
            </a:r>
          </a:p>
          <a:p xmlns:a="http://schemas.openxmlformats.org/drawingml/2006/main">
            <a:r>
              <a:t>Fuentes</a:t>
            </a:r>
          </a:p>
          <a:p xmlns:a="http://schemas.openxmlformats.org/drawingml/2006/main">
            <a:r>
              <a:t>documentacion/fase-01/fuentes/organizacion_grupos_seminario.docx</a:t>
            </a:r>
          </a:p>
          <a:p xmlns:a="http://schemas.openxmlformats.org/drawingml/2006/main">
            <a:r>
              <a:t>documentacion/fase-01/fuentes/caso_exito_kubernetes_openshift.docx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pregunta conecta los seis equipos. No basta con mostrar que la pantalla responde: se debe verificar inventario, una confirmación por intención y calidad de servicio. El rango de millones procede del documento rector; no fue ejecutado en el laboratorio actual.</a:t>
            </a:r>
          </a:p>
          <a:p xmlns:a="http://schemas.openxmlformats.org/drawingml/2006/main">
            <a:r>
              <a:t/>
            </a:r>
          </a:p>
          <a:p xmlns:a="http://schemas.openxmlformats.org/drawingml/2006/main">
            <a:r>
              <a:t>Fuentes</a:t>
            </a:r>
          </a:p>
          <a:p xmlns:a="http://schemas.openxmlformats.org/drawingml/2006/main">
            <a:r>
              <a:t>documentacion/fase-01/fuentes/caso_exito_kubernetes_openshift.docx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Respetar la distribución del documento original: 4+4+4+4+3+3=22. Cada representante coordina semanalmente con G6. La investigación y la exposición siguen este mismo orden.</a:t>
            </a:r>
          </a:p>
          <a:p xmlns:a="http://schemas.openxmlformats.org/drawingml/2006/main">
            <a:r>
              <a:t/>
            </a:r>
          </a:p>
          <a:p xmlns:a="http://schemas.openxmlformats.org/drawingml/2006/main">
            <a:r>
              <a:t>Fuentes</a:t>
            </a:r>
          </a:p>
          <a:p xmlns:a="http://schemas.openxmlformats.org/drawingml/2006/main">
            <a:r>
              <a:t>documentacion/fase-01/fuentes/organizacion_grupos_seminario.docx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Mostrar el recorrido funcional existente. El frontend ofrece catálogo, disponibilidad, reserva, consulta y salida. El comprobante aparece después de la confirmación de la base, no después de encolar una solicitud.</a:t>
            </a:r>
          </a:p>
          <a:p xmlns:a="http://schemas.openxmlformats.org/drawingml/2006/main">
            <a:r>
              <a:t/>
            </a:r>
          </a:p>
          <a:p xmlns:a="http://schemas.openxmlformats.org/drawingml/2006/main">
            <a:r>
              <a:t>Fuentes</a:t>
            </a:r>
          </a:p>
          <a:p xmlns:a="http://schemas.openxmlformats.org/drawingml/2006/main">
            <a:r>
              <a:t>frontend/src/app/App.tsx</a:t>
            </a:r>
          </a:p>
          <a:p xmlns:a="http://schemas.openxmlformats.org/drawingml/2006/main">
            <a:r>
              <a:t>aplicacion/reservas/store.py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G1 explica fronteras y responsabilidades. El frontend compilado sirve assets y /api mediante proxy; la API aplica autorización y negocio. Diferenciar la aplicación con worker de la topología de medición S19 sin worker.</a:t>
            </a:r>
          </a:p>
          <a:p xmlns:a="http://schemas.openxmlformats.org/drawingml/2006/main">
            <a:r>
              <a:t/>
            </a:r>
          </a:p>
          <a:p xmlns:a="http://schemas.openxmlformats.org/drawingml/2006/main">
            <a:r>
              <a:t>Fuentes</a:t>
            </a:r>
          </a:p>
          <a:p xmlns:a="http://schemas.openxmlformats.org/drawingml/2006/main">
            <a:r>
              <a:t>frontend/container/nginx.conf</a:t>
            </a:r>
          </a:p>
          <a:p xmlns:a="http://schemas.openxmlformats.org/drawingml/2006/main">
            <a:r>
              <a:t>aplicacion/reservas/store.py</a:t>
            </a:r>
          </a:p>
          <a:p xmlns:a="http://schemas.openxmlformats.org/drawingml/2006/main">
            <a:r>
              <a:t>evidencias/frontend-s19/topology.json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Relacionar cada objeto con un componente del diagrama. Explicar que etcd conserva estado del clúster, no las reservas del negocio. Los manifiestos preparados requieren admisión y verificación real.</a:t>
            </a:r>
          </a:p>
          <a:p xmlns:a="http://schemas.openxmlformats.org/drawingml/2006/main">
            <a:r>
              <a:t/>
            </a:r>
          </a:p>
          <a:p xmlns:a="http://schemas.openxmlformats.org/drawingml/2006/main">
            <a:r>
              <a:t>Fuentes</a:t>
            </a:r>
          </a:p>
          <a:p xmlns:a="http://schemas.openxmlformats.org/drawingml/2006/main">
            <a:r>
              <a:t>https://kubernetes.io/docs/concepts/overview/</a:t>
            </a:r>
          </a:p>
          <a:p xmlns:a="http://schemas.openxmlformats.org/drawingml/2006/main">
            <a:r>
              <a:t>frontend/deploy/base/frontend.yaml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hipótesis original compara microservicios y monolito; no hay todavía un comparador equivalente ejecutado. G1 entrega arquitectura base y ficha reproducible antes de atribuir ventajas al estilo arquitectónico.</a:t>
            </a:r>
          </a:p>
          <a:p xmlns:a="http://schemas.openxmlformats.org/drawingml/2006/main">
            <a:r>
              <a:t/>
            </a:r>
          </a:p>
          <a:p xmlns:a="http://schemas.openxmlformats.org/drawingml/2006/main">
            <a:r>
              <a:t>Fuentes</a:t>
            </a:r>
          </a:p>
          <a:p xmlns:a="http://schemas.openxmlformats.org/drawingml/2006/main">
            <a:r>
              <a:t>documentacion/fase-01/fuentes/organizacion_grupos_seminario.docx</a:t>
            </a:r>
          </a:p>
          <a:p xmlns:a="http://schemas.openxmlformats.org/drawingml/2006/main">
            <a:r>
              <a:t>evidencias/frontend-s18/runtime.json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Aplicar HPA y KEDA a cargas diferentes para no crear controladores que compitan por el mismo Deployment. No presentar un dibujo de réplicas como evidencia de escalado ejecutado.</a:t>
            </a:r>
          </a:p>
          <a:p xmlns:a="http://schemas.openxmlformats.org/drawingml/2006/main">
            <a:r>
              <a:t/>
            </a:r>
          </a:p>
          <a:p xmlns:a="http://schemas.openxmlformats.org/drawingml/2006/main">
            <a:r>
              <a:t>Fuentes</a:t>
            </a:r>
          </a:p>
          <a:p xmlns:a="http://schemas.openxmlformats.org/drawingml/2006/main">
            <a:r>
              <a:t>https://kubernetes.io/docs/concepts/workloads/autoscaling/horizontal-pod-autoscale/</a:t>
            </a:r>
          </a:p>
          <a:p xmlns:a="http://schemas.openxmlformats.org/drawingml/2006/main">
            <a:r>
              <a:t>https://keda.sh/docs/2.21/scalers/apache-kafka/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Separar dimensión vertical, horizontal y de nodos. Activarlas juntas impediría atribuir un efecto. G2 conserva el estudio de todos los mecanismos y ordena su evaluación.</a:t>
            </a:r>
          </a:p>
          <a:p xmlns:a="http://schemas.openxmlformats.org/drawingml/2006/main">
            <a:r>
              <a:t/>
            </a:r>
          </a:p>
          <a:p xmlns:a="http://schemas.openxmlformats.org/drawingml/2006/main">
            <a:r>
              <a:t>Fuentes</a:t>
            </a:r>
          </a:p>
          <a:p xmlns:a="http://schemas.openxmlformats.org/drawingml/2006/main">
            <a:r>
              <a:t>https://kubernetes.io/docs/concepts/workloads/autoscaling/vertical-pod-autoscale/</a:t>
            </a:r>
          </a:p>
          <a:p xmlns:a="http://schemas.openxmlformats.org/drawingml/2006/main">
            <a:r>
              <a:t>https://kubernetes.io/docs/concepts/configuration/manage-resources-containers/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Declarar presupuesto máximo de recursos de cada condición para distinguir el efecto del control de asignar más capacidad. Registrar también estabilización y solicitudes pendientes. No existe todavía un contraste local que pruebe la hipótesis de G2.</a:t>
            </a:r>
          </a:p>
          <a:p xmlns:a="http://schemas.openxmlformats.org/drawingml/2006/main">
            <a:r>
              <a:t/>
            </a:r>
          </a:p>
          <a:p xmlns:a="http://schemas.openxmlformats.org/drawingml/2006/main">
            <a:r>
              <a:t>Fuentes</a:t>
            </a:r>
          </a:p>
          <a:p xmlns:a="http://schemas.openxmlformats.org/drawingml/2006/main">
            <a:r>
              <a:t>documentacion/fase-01/fuentes/DOC-01-02-investigacion-seis-grupos.md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frontend saludable no certifica salud de PostgreSQL. PDB no evita fallos físicos ni toda eliminación de Pods. Una sola base sigue siendo un punto de fallo.</a:t>
            </a:r>
          </a:p>
          <a:p xmlns:a="http://schemas.openxmlformats.org/drawingml/2006/main">
            <a:r>
              <a:t/>
            </a:r>
          </a:p>
          <a:p xmlns:a="http://schemas.openxmlformats.org/drawingml/2006/main">
            <a:r>
              <a:t>Fuentes</a:t>
            </a:r>
          </a:p>
          <a:p xmlns:a="http://schemas.openxmlformats.org/drawingml/2006/main">
            <a:r>
              <a:t>https://kubernetes.io/docs/tasks/configure-pod-container/configure-liveness-readiness-probes/</a:t>
            </a:r>
          </a:p>
          <a:p xmlns:a="http://schemas.openxmlformats.org/drawingml/2006/main">
            <a:r>
              <a:t>https://kubernetes.io/docs/concepts/workloads/pods/disruptions/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prueba local de UID existe en S18. El grupo debe obtener SCC efectiva y eventos del clúster. Service Mesh puede agregar control y telemetría pero no sustituye una transacción ni garantiza efectos externos únicos.</a:t>
            </a:r>
          </a:p>
          <a:p xmlns:a="http://schemas.openxmlformats.org/drawingml/2006/main">
            <a:r>
              <a:t/>
            </a:r>
          </a:p>
          <a:p xmlns:a="http://schemas.openxmlformats.org/drawingml/2006/main">
            <a:r>
              <a:t>Fuentes</a:t>
            </a:r>
          </a:p>
          <a:p xmlns:a="http://schemas.openxmlformats.org/drawingml/2006/main">
            <a:r>
              <a:t>evidencias/frontend-s18/runtime.json</a:t>
            </a:r>
          </a:p>
          <a:p xmlns:a="http://schemas.openxmlformats.org/drawingml/2006/main">
            <a:r>
              <a:t>https://docs.redhat.com/en/documentation/openshift_container_platform/4.20/html/authentication_and_authorization/managing-pod-security-policies</a:t>
            </a:r>
          </a:p>
          <a:p xmlns:a="http://schemas.openxmlformats.org/drawingml/2006/main">
            <a:r>
              <a:t>https://docs.redhat.com/en/documentation/red_hat_openshift_service_mesh/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G3 entrega matriz de fallos y protocolo. S18 verificó caída y recuperación de una API exclusiva en Compose, no tolerancia de un nodo OpenShift. El porcentaje debe interpretarse solo en la ventana y método del experimento.</a:t>
            </a:r>
          </a:p>
          <a:p xmlns:a="http://schemas.openxmlformats.org/drawingml/2006/main">
            <a:r>
              <a:t/>
            </a:r>
          </a:p>
          <a:p xmlns:a="http://schemas.openxmlformats.org/drawingml/2006/main">
            <a:r>
              <a:t>Fuentes</a:t>
            </a:r>
          </a:p>
          <a:p xmlns:a="http://schemas.openxmlformats.org/drawingml/2006/main">
            <a:r>
              <a:t>evidencias/frontend-s18/runtime.json</a:t>
            </a:r>
          </a:p>
          <a:p xmlns:a="http://schemas.openxmlformats.org/drawingml/2006/main">
            <a:r>
              <a:t>documentacion/fase-01/fuentes/organizacion_grupos_seminario.docx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cajas describen la unidad lógica de la transacción, no una instrucción para ejecutar commits separados. Consultar disponibilidad antes no protege frente a dos clientes concurrentes. La escritura condicional y restricciones de base deciden la reserva.</a:t>
            </a:r>
          </a:p>
          <a:p xmlns:a="http://schemas.openxmlformats.org/drawingml/2006/main">
            <a:r>
              <a:t/>
            </a:r>
          </a:p>
          <a:p xmlns:a="http://schemas.openxmlformats.org/drawingml/2006/main">
            <a:r>
              <a:t>Fuentes</a:t>
            </a:r>
          </a:p>
          <a:p xmlns:a="http://schemas.openxmlformats.org/drawingml/2006/main">
            <a:r>
              <a:t>aplicacion/reservas/store.py</a:t>
            </a:r>
          </a:p>
          <a:p xmlns:a="http://schemas.openxmlformats.org/drawingml/2006/main">
            <a:r>
              <a:t>https://www.postgresql.org/docs/current/transaction-iso.html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la diferencia entre clave privada de autenticación, clave de idempotencia e identificador de comprobante. No mostrar claves reales en proyección. CAP trata particiones y garantías distribuidas, no una elección genérica de dos letras para cualquier sistema.</a:t>
            </a:r>
          </a:p>
          <a:p xmlns:a="http://schemas.openxmlformats.org/drawingml/2006/main">
            <a:r>
              <a:t/>
            </a:r>
          </a:p>
          <a:p xmlns:a="http://schemas.openxmlformats.org/drawingml/2006/main">
            <a:r>
              <a:t>Fuentes</a:t>
            </a:r>
          </a:p>
          <a:p xmlns:a="http://schemas.openxmlformats.org/drawingml/2006/main">
            <a:r>
              <a:t>aplicacion/reservas/store.py</a:t>
            </a:r>
          </a:p>
          <a:p xmlns:a="http://schemas.openxmlformats.org/drawingml/2006/main">
            <a:r>
              <a:t>https://doi.org/10.1145/564585.564601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publicación se propone después del commit. Responder solo porque la solicitud se encoló requeriría otro contrato, por ejemplo estado pendiente. G4 entrega esquema, topic, particionado, retención y deduplicación; KEDA estudiaría el consumidor.</a:t>
            </a:r>
          </a:p>
          <a:p xmlns:a="http://schemas.openxmlformats.org/drawingml/2006/main">
            <a:r>
              <a:t/>
            </a:r>
          </a:p>
          <a:p xmlns:a="http://schemas.openxmlformats.org/drawingml/2006/main">
            <a:r>
              <a:t>Fuentes</a:t>
            </a:r>
          </a:p>
          <a:p xmlns:a="http://schemas.openxmlformats.org/drawingml/2006/main">
            <a:r>
              <a:t>https://kafka.apache.org/documentation/#design</a:t>
            </a:r>
          </a:p>
          <a:p xmlns:a="http://schemas.openxmlformats.org/drawingml/2006/main">
            <a:r>
              <a:t>documentacion/fase-01/fuentes/caso_exito_kubernetes_openshift.docx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G5 necesita relacionar las señales con run_id y tiempo. No usar claves ni UUID por reserva como etiquetas de métricas. Los rechazos válidos y los fallos técnicos se reportan por separado.</a:t>
            </a:r>
          </a:p>
          <a:p xmlns:a="http://schemas.openxmlformats.org/drawingml/2006/main">
            <a:r>
              <a:t/>
            </a:r>
          </a:p>
          <a:p xmlns:a="http://schemas.openxmlformats.org/drawingml/2006/main">
            <a:r>
              <a:t>Fuentes</a:t>
            </a:r>
          </a:p>
          <a:p xmlns:a="http://schemas.openxmlformats.org/drawingml/2006/main">
            <a:r>
              <a:t>https://opentelemetry.io/docs/concepts/signals/</a:t>
            </a:r>
          </a:p>
          <a:p xmlns:a="http://schemas.openxmlformats.org/drawingml/2006/main">
            <a:r>
              <a:t>aplicacion/reservas/api.py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presentar un dashboard diseñado como si estuviera instalado. La precisión del 95 por ciento exige TP FP FN, ventanas etiquetadas y demora; no equivale a confianza estadística ni garantiza un punto exacto de degradación.</a:t>
            </a:r>
          </a:p>
          <a:p xmlns:a="http://schemas.openxmlformats.org/drawingml/2006/main">
            <a:r>
              <a:t/>
            </a:r>
          </a:p>
          <a:p xmlns:a="http://schemas.openxmlformats.org/drawingml/2006/main">
            <a:r>
              <a:t>Fuentes</a:t>
            </a:r>
          </a:p>
          <a:p xmlns:a="http://schemas.openxmlformats.org/drawingml/2006/main">
            <a:r>
              <a:t>https://prometheus.io/docs/practices/histograms/</a:t>
            </a:r>
          </a:p>
          <a:p xmlns:a="http://schemas.openxmlformats.org/drawingml/2006/main">
            <a:r>
              <a:t>https://opentelemetry.io/docs/concepts/signals/</a:t>
            </a:r>
          </a:p>
          <a:p xmlns:a="http://schemas.openxmlformats.org/drawingml/2006/main">
            <a:r>
              <a:t>evidencias/frontend-s19/summary.json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Valores recalculados desde JSONL: 18.514697, 19.016653 y 19.461934 ms, con 120 observaciones de creación por corrida. Hubo 360 reservas nuevas medidas y veinte de calentamiento. Se registró limitación de CPU en API y generador y ningún evento OOM en los intervalos. No se midieron HPA, Kafka, clúster ni HTTPS.</a:t>
            </a:r>
          </a:p>
          <a:p xmlns:a="http://schemas.openxmlformats.org/drawingml/2006/main">
            <a:r>
              <a:t/>
            </a:r>
          </a:p>
          <a:p xmlns:a="http://schemas.openxmlformats.org/drawingml/2006/main">
            <a:r>
              <a:t>Fuentes</a:t>
            </a:r>
          </a:p>
          <a:p xmlns:a="http://schemas.openxmlformats.org/drawingml/2006/main">
            <a:r>
              <a:t>evidencias/frontend-s19/summary.json</a:t>
            </a:r>
          </a:p>
          <a:p xmlns:a="http://schemas.openxmlformats.org/drawingml/2006/main">
            <a:r>
              <a:t>evidencias/frontend-s19/database-audit.json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operación de negocio no equivale a una descarga de JavaScript o una lectura de catálogo. S19 generó 360 reservas nuevas durante las corridas medidas. El símbolo distinto de significa que no se deben intercambiar las unidades.</a:t>
            </a:r>
          </a:p>
          <a:p xmlns:a="http://schemas.openxmlformats.org/drawingml/2006/main">
            <a:r>
              <a:t/>
            </a:r>
          </a:p>
          <a:p xmlns:a="http://schemas.openxmlformats.org/drawingml/2006/main">
            <a:r>
              <a:t>Fuentes</a:t>
            </a:r>
          </a:p>
          <a:p xmlns:a="http://schemas.openxmlformats.org/drawingml/2006/main">
            <a:r>
              <a:t>evidencias/frontend-s19/summary.json</a:t>
            </a:r>
          </a:p>
          <a:p xmlns:a="http://schemas.openxmlformats.org/drawingml/2006/main">
            <a:r>
              <a:t>documentacion/fase-01/fuentes/DOC-01-02-investigacion-seis-grupos.md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niveles suman 26M. Multiplicar por dos condiciones y tres repeticiones da 156M, sin reenvíos ni lecturas. Esa escala exige aprobar recursos y almacenamiento; no es una promesa para la laptop. Los umbrales de latencia y disponibilidad del documento son propuestas por congelar.</a:t>
            </a:r>
          </a:p>
          <a:p xmlns:a="http://schemas.openxmlformats.org/drawingml/2006/main">
            <a:r>
              <a:t/>
            </a:r>
          </a:p>
          <a:p xmlns:a="http://schemas.openxmlformats.org/drawingml/2006/main">
            <a:r>
              <a:t>Fuentes</a:t>
            </a:r>
          </a:p>
          <a:p xmlns:a="http://schemas.openxmlformats.org/drawingml/2006/main">
            <a:r>
              <a:t>documentacion/fase-01/fuentes/caso_exito_kubernetes_openshift.docx</a:t>
            </a:r>
          </a:p>
          <a:p xmlns:a="http://schemas.openxmlformats.org/drawingml/2006/main">
            <a:r>
              <a:t>documentacion/fase-01/fuentes/DOC-01-02-investigacion-seis-grupos.md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Tres repeticiones son un mínimo exploratorio. No promediar p95 para llamarlo p95 conjunto. No concluir todo el rango desde un resultado favorable en 10M. Hoy H0 y H1 a escala OpenShift siguen sin contraste suficiente.</a:t>
            </a:r>
          </a:p>
          <a:p xmlns:a="http://schemas.openxmlformats.org/drawingml/2006/main">
            <a:r>
              <a:t/>
            </a:r>
          </a:p>
          <a:p xmlns:a="http://schemas.openxmlformats.org/drawingml/2006/main">
            <a:r>
              <a:t>Fuentes</a:t>
            </a:r>
          </a:p>
          <a:p xmlns:a="http://schemas.openxmlformats.org/drawingml/2006/main">
            <a:r>
              <a:t>https://www.itl.nist.gov/div898/handbook/prc/section3/prc311.htm</a:t>
            </a:r>
          </a:p>
          <a:p xmlns:a="http://schemas.openxmlformats.org/drawingml/2006/main">
            <a:r>
              <a:t>https://itl.nist.gov/div898/handbook/prc/section2/prc241.htm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Antes de la exposición comprobar salud, acceso y cupos de un entorno exclusivo. Puede utilizarse S18 si continúa disponible y se registra el inventario real. No usar la base medida S19 para nuevas reservas de demostración porque alteraría su auditoría.</a:t>
            </a:r>
          </a:p>
          <a:p xmlns:a="http://schemas.openxmlformats.org/drawingml/2006/main">
            <a:r>
              <a:t/>
            </a:r>
          </a:p>
          <a:p xmlns:a="http://schemas.openxmlformats.org/drawingml/2006/main">
            <a:r>
              <a:t>Fuentes</a:t>
            </a:r>
          </a:p>
          <a:p xmlns:a="http://schemas.openxmlformats.org/drawingml/2006/main">
            <a:r>
              <a:t>documentacion/fase-07/fuentes/DOC-07-02-guia-seis-grupos.md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G3 prepara el acceso por canal privado y oculta la proyección durante la entrada. G1 muestra componentes mientras G4 registra el valor inicial A. Si no hay evento o cupo, detener la reserva y usar evidencia preparada; no forzar datos del experimento.</a:t>
            </a:r>
          </a:p>
          <a:p xmlns:a="http://schemas.openxmlformats.org/drawingml/2006/main">
            <a:r>
              <a:t/>
            </a:r>
          </a:p>
          <a:p xmlns:a="http://schemas.openxmlformats.org/drawingml/2006/main">
            <a:r>
              <a:t>Fuentes</a:t>
            </a:r>
          </a:p>
          <a:p xmlns:a="http://schemas.openxmlformats.org/drawingml/2006/main">
            <a:r>
              <a:t>frontend/src/session/LaboratoryAccess.tsx</a:t>
            </a:r>
          </a:p>
          <a:p xmlns:a="http://schemas.openxmlformats.org/drawingml/2006/main">
            <a:r>
              <a:t>frontend/src/availability/AvailabilityPage.tsx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G4 comprueba cantidad e identificador; G5 anota operación y resultado; G6 registra la verificación. No hay cancelación ni pago que demostrar. La reserva de demo consume un cupo real de su base exclusiva.</a:t>
            </a:r>
          </a:p>
          <a:p xmlns:a="http://schemas.openxmlformats.org/drawingml/2006/main">
            <a:r>
              <a:t/>
            </a:r>
          </a:p>
          <a:p xmlns:a="http://schemas.openxmlformats.org/drawingml/2006/main">
            <a:r>
              <a:t>Fuentes</a:t>
            </a:r>
          </a:p>
          <a:p xmlns:a="http://schemas.openxmlformats.org/drawingml/2006/main">
            <a:r>
              <a:t>frontend/src/reservation/ReservationReceipt.tsx</a:t>
            </a:r>
          </a:p>
          <a:p xmlns:a="http://schemas.openxmlformats.org/drawingml/2006/main">
            <a:r>
              <a:t>frontend/src/session/ExitSession.tsx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frontend bloquea el doble envío. Para demostrar el contrato se usan las pruebas aisladas S18/S19 o un ensayo preparado y auditado. La recuperación controlada debe ensayarse antes; no detener servicios de otros sprints frente al público.</a:t>
            </a:r>
          </a:p>
          <a:p xmlns:a="http://schemas.openxmlformats.org/drawingml/2006/main">
            <a:r>
              <a:t/>
            </a:r>
          </a:p>
          <a:p xmlns:a="http://schemas.openxmlformats.org/drawingml/2006/main">
            <a:r>
              <a:t>Fuentes</a:t>
            </a:r>
          </a:p>
          <a:p xmlns:a="http://schemas.openxmlformats.org/drawingml/2006/main">
            <a:r>
              <a:t>evidencias/frontend-s18/deployment-real.json</a:t>
            </a:r>
          </a:p>
          <a:p xmlns:a="http://schemas.openxmlformats.org/drawingml/2006/main">
            <a:r>
              <a:t>evidencias/frontend-s19/database-audit.json</a:t>
            </a:r>
          </a:p>
          <a:p xmlns:a="http://schemas.openxmlformats.org/drawingml/2006/main">
            <a:r>
              <a:t>documentacion/fase-10/sprints/S10/fuentes/DOC-S10-01-entrega.md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 la separación que debe conservar toda conclusión. El éxito local es real y útil; no necesita atribuirse capacidades de plataforma no ejecutadas. No hay worker en S19 ni evidencia de entrega externa exactamente una vez.</a:t>
            </a:r>
          </a:p>
          <a:p xmlns:a="http://schemas.openxmlformats.org/drawingml/2006/main">
            <a:r>
              <a:t/>
            </a:r>
          </a:p>
          <a:p xmlns:a="http://schemas.openxmlformats.org/drawingml/2006/main">
            <a:r>
              <a:t>Fuentes</a:t>
            </a:r>
          </a:p>
          <a:p xmlns:a="http://schemas.openxmlformats.org/drawingml/2006/main">
            <a:r>
              <a:t>evidencias/frontend-s18/revision-documental.json</a:t>
            </a:r>
          </a:p>
          <a:p xmlns:a="http://schemas.openxmlformats.org/drawingml/2006/main">
            <a:r>
              <a:t>evidencias/frontend-s19/revision-documental.json</a:t>
            </a:r>
          </a:p>
          <a:p xmlns:a="http://schemas.openxmlformats.org/drawingml/2006/main">
            <a:r>
              <a:t>documentacion/fase-01/fuentes/organizacion_grupos_seminario.docx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equipos trabajan de forma coordinada y no como seis exposiciones inconexas. G6 integra a todos; no puede ejecutar la hipótesis general antes de recibir arquitectura, políticas, datos e instrumentos verificables.</a:t>
            </a:r>
          </a:p>
          <a:p xmlns:a="http://schemas.openxmlformats.org/drawingml/2006/main">
            <a:r>
              <a:t/>
            </a:r>
          </a:p>
          <a:p xmlns:a="http://schemas.openxmlformats.org/drawingml/2006/main">
            <a:r>
              <a:t>Fuentes</a:t>
            </a:r>
          </a:p>
          <a:p xmlns:a="http://schemas.openxmlformats.org/drawingml/2006/main">
            <a:r>
              <a:t>documentacion/fase-01/fuentes/organizacion_grupos_seminario.docx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evaluación debe valorar comprensión y trazabilidad, no solo una herramienta instalada. Las referencias técnicas son Kubernetes, Red Hat, PostgreSQL, Kafka, KEDA, OpenTelemetry, Prometheus y NIST, además de los dos documentos rectores y evidencias del proyecto. Consultar la bibliografía completa en DOC-01-02.</a:t>
            </a:r>
          </a:p>
          <a:p xmlns:a="http://schemas.openxmlformats.org/drawingml/2006/main">
            <a:r>
              <a:t/>
            </a:r>
          </a:p>
          <a:p xmlns:a="http://schemas.openxmlformats.org/drawingml/2006/main">
            <a:r>
              <a:t>Fuentes</a:t>
            </a:r>
          </a:p>
          <a:p xmlns:a="http://schemas.openxmlformats.org/drawingml/2006/main">
            <a:r>
              <a:t>documentacion/fase-01/fuentes/DOC-01-02-investigacion-seis-grupos.md</a:t>
            </a:r>
          </a:p>
          <a:p xmlns:a="http://schemas.openxmlformats.org/drawingml/2006/main">
            <a:r>
              <a:t>documentacion/fase-07/fuentes/DOC-07-02-guia-seis-grupos.md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Cerrar mostrando cómo cada grupo contribuyó al problema inicial. La investigación no promete confirmar H1; debe poder refutarla o declarar insuficiencia de evidencia. El sistema propio es el caso central y las metas de millones, HPA, Kafka y disponibilidad permanecen explícitas como investigación pendiente.</a:t>
            </a:r>
          </a:p>
          <a:p xmlns:a="http://schemas.openxmlformats.org/drawingml/2006/main">
            <a:r>
              <a:t/>
            </a:r>
          </a:p>
          <a:p xmlns:a="http://schemas.openxmlformats.org/drawingml/2006/main">
            <a:r>
              <a:t>Fuentes</a:t>
            </a:r>
          </a:p>
          <a:p xmlns:a="http://schemas.openxmlformats.org/drawingml/2006/main">
            <a:r>
              <a:t>documentacion/fase-01/fuentes/DOC-01-02-investigacion-seis-grupos.md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26d3461ae44c1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b437171615c4a4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bf8aed4d714ad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f68c2e8a4ba418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e62a3b3cb544c0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42aa5d89b9540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46816F-7E92-41AE-B2F5-EAAEF17301D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2727CA0-EE56-477A-AF35-8BA4AC48ED9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234575C-30B9-4DCC-AB87-17375D78FDD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F19685-0033-4D36-8F09-55DE3C0400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8858FA5-677F-498A-ADA9-ACA3C6793EC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4BFC7A-A23F-4404-ADC3-7554579181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92950B-65E5-4B1C-BC30-3BF768F567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31C1C46-17EC-48C6-8923-06F4F494158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623A33-EEE3-47B3-81B3-665FA7BFE1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37B1E0-E0DD-4C6E-9C3B-AA23045D28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c49d5ea82a40d5" /><Relationship Type="http://schemas.openxmlformats.org/officeDocument/2006/relationships/slideLayout" Target="/ppt/slideLayouts/slideLayout1.xml" Id="Rae14916fe4ef4a07" /><Relationship Type="http://schemas.openxmlformats.org/officeDocument/2006/relationships/slideLayout" Target="/ppt/slideLayouts/slideLayout2.xml" Id="R1418fb45cdb6461f" /><Relationship Type="http://schemas.openxmlformats.org/officeDocument/2006/relationships/slideLayout" Target="/ppt/slideLayouts/slideLayout3.xml" Id="Re6ef9e66c3084022" /><Relationship Type="http://schemas.openxmlformats.org/officeDocument/2006/relationships/slideLayout" Target="/ppt/slideLayouts/slideLayout4.xml" Id="R02a2d886abc142a9" /><Relationship Type="http://schemas.openxmlformats.org/officeDocument/2006/relationships/slideLayout" Target="/ppt/slideLayouts/slideLayout5.xml" Id="Rc550fdfdbad44f64" /><Relationship Type="http://schemas.openxmlformats.org/officeDocument/2006/relationships/slideLayout" Target="/ppt/slideLayouts/slideLayout6.xml" Id="Rbf03abbc81f849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14916fe4ef4a07"/>
    <p:sldLayoutId xmlns:r="http://schemas.openxmlformats.org/officeDocument/2006/relationships" id="2147483650" r:id="R1418fb45cdb6461f"/>
    <p:sldLayoutId xmlns:r="http://schemas.openxmlformats.org/officeDocument/2006/relationships" id="2147483651" r:id="Re6ef9e66c3084022"/>
    <p:sldLayoutId xmlns:r="http://schemas.openxmlformats.org/officeDocument/2006/relationships" id="2147483652" r:id="R02a2d886abc142a9"/>
    <p:sldLayoutId xmlns:r="http://schemas.openxmlformats.org/officeDocument/2006/relationships" id="2147483653" r:id="Rc550fdfdbad44f64"/>
    <p:sldLayoutId xmlns:r="http://schemas.openxmlformats.org/officeDocument/2006/relationships" id="2147483654" r:id="Rbf03abbc81f849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e0e63f2a6ca491b" /><Relationship Type="http://schemas.openxmlformats.org/officeDocument/2006/relationships/notesSlide" Target="/ppt/notesSlides/notesSlide1.xml" Id="R4b4ad82ac07b42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4600a7587ad4b5c" /><Relationship Type="http://schemas.openxmlformats.org/officeDocument/2006/relationships/notesSlide" Target="/ppt/notesSlides/notesSlide2.xml" Id="R93cdcded98ca4d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02b172a89e8403b" /><Relationship Type="http://schemas.openxmlformats.org/officeDocument/2006/relationships/notesSlide" Target="/ppt/notesSlides/notesSlide3.xml" Id="R58c6a719f4d349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c5bcfe227ce4865" /><Relationship Type="http://schemas.openxmlformats.org/officeDocument/2006/relationships/notesSlide" Target="/ppt/notesSlides/notesSlide4.xml" Id="Rb361406c815341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c22054ba8a64d9a" /><Relationship Type="http://schemas.openxmlformats.org/officeDocument/2006/relationships/notesSlide" Target="/ppt/notesSlides/notesSlide5.xml" Id="R2f46b62d955a44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e27aac6a9e946d2" /><Relationship Type="http://schemas.openxmlformats.org/officeDocument/2006/relationships/notesSlide" Target="/ppt/notesSlides/notesSlide6.xml" Id="R0136532574d541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d4fcc0dc9424d7d" /><Relationship Type="http://schemas.openxmlformats.org/officeDocument/2006/relationships/notesSlide" Target="/ppt/notesSlides/notesSlide7.xml" Id="Rdbfeebf0b09842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65ede895a6c4915" /><Relationship Type="http://schemas.openxmlformats.org/officeDocument/2006/relationships/notesSlide" Target="/ppt/notesSlides/notesSlide8.xml" Id="R2f31537e793647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79a0e768dbb423a" /><Relationship Type="http://schemas.openxmlformats.org/officeDocument/2006/relationships/notesSlide" Target="/ppt/notesSlides/notesSlide9.xml" Id="R7610996265014f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0744184251347d3" /><Relationship Type="http://schemas.openxmlformats.org/officeDocument/2006/relationships/notesSlide" Target="/ppt/notesSlides/notesSlide10.xml" Id="Rea1bae0b77b448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d28194c06354286" /><Relationship Type="http://schemas.openxmlformats.org/officeDocument/2006/relationships/notesSlide" Target="/ppt/notesSlides/notesSlide11.xml" Id="R12a769b67d5d4f2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ee1f79f0c0b4dfe" /><Relationship Type="http://schemas.openxmlformats.org/officeDocument/2006/relationships/notesSlide" Target="/ppt/notesSlides/notesSlide12.xml" Id="R596cdcb43c8b482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2c60253b4f3447e" /><Relationship Type="http://schemas.openxmlformats.org/officeDocument/2006/relationships/notesSlide" Target="/ppt/notesSlides/notesSlide13.xml" Id="R3c538fec271a4d4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a3fc1c49adf4ab3" /><Relationship Type="http://schemas.openxmlformats.org/officeDocument/2006/relationships/notesSlide" Target="/ppt/notesSlides/notesSlide14.xml" Id="R23090def0592405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abe808071e54064" /><Relationship Type="http://schemas.openxmlformats.org/officeDocument/2006/relationships/notesSlide" Target="/ppt/notesSlides/notesSlide15.xml" Id="R32b3da66328f478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fddf2ba2e4e45ff" /><Relationship Type="http://schemas.openxmlformats.org/officeDocument/2006/relationships/notesSlide" Target="/ppt/notesSlides/notesSlide16.xml" Id="R20db8311450842f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3446ad9976546e6" /><Relationship Type="http://schemas.openxmlformats.org/officeDocument/2006/relationships/notesSlide" Target="/ppt/notesSlides/notesSlide17.xml" Id="R19e1bae3b32e498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e5c1fdc46d8496a" /><Relationship Type="http://schemas.openxmlformats.org/officeDocument/2006/relationships/notesSlide" Target="/ppt/notesSlides/notesSlide18.xml" Id="R1281b15989b14ea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419ddbf0517419d" /><Relationship Type="http://schemas.openxmlformats.org/officeDocument/2006/relationships/chart" Target="/ppt/slides/charts/chart1.xml" Id="R5683d5ecef744429" /><Relationship Type="http://schemas.openxmlformats.org/officeDocument/2006/relationships/notesSlide" Target="/ppt/notesSlides/notesSlide19.xml" Id="R1760cd2a92fd44a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dc4d5f79ac947f5" /><Relationship Type="http://schemas.openxmlformats.org/officeDocument/2006/relationships/notesSlide" Target="/ppt/notesSlides/notesSlide20.xml" Id="R5bac5985117c4c7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2890726d79d4ccc" /><Relationship Type="http://schemas.openxmlformats.org/officeDocument/2006/relationships/notesSlide" Target="/ppt/notesSlides/notesSlide21.xml" Id="R5d92cd9ef2ae4c5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d8b250ee7a44cac" /><Relationship Type="http://schemas.openxmlformats.org/officeDocument/2006/relationships/notesSlide" Target="/ppt/notesSlides/notesSlide22.xml" Id="Ra3653eb47d134b8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a6815022e6f4450" /><Relationship Type="http://schemas.openxmlformats.org/officeDocument/2006/relationships/notesSlide" Target="/ppt/notesSlides/notesSlide23.xml" Id="R1f82221bd47342d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814db4cdc8b4eb0" /><Relationship Type="http://schemas.openxmlformats.org/officeDocument/2006/relationships/notesSlide" Target="/ppt/notesSlides/notesSlide24.xml" Id="Rdd29a267078b49f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0d04e07ada84779" /><Relationship Type="http://schemas.openxmlformats.org/officeDocument/2006/relationships/notesSlide" Target="/ppt/notesSlides/notesSlide25.xml" Id="R61cc33012793404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307ac5660634380" /><Relationship Type="http://schemas.openxmlformats.org/officeDocument/2006/relationships/notesSlide" Target="/ppt/notesSlides/notesSlide26.xml" Id="R2d6d728d76114f0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3853d9304d94f02" /><Relationship Type="http://schemas.openxmlformats.org/officeDocument/2006/relationships/notesSlide" Target="/ppt/notesSlides/notesSlide27.xml" Id="R766c2929d832405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287e8bb7f844ae4" /><Relationship Type="http://schemas.openxmlformats.org/officeDocument/2006/relationships/notesSlide" Target="/ppt/notesSlides/notesSlide28.xml" Id="R154a1765b7a440c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335fd7b1d004c71" /><Relationship Type="http://schemas.openxmlformats.org/officeDocument/2006/relationships/notesSlide" Target="/ppt/notesSlides/notesSlide29.xml" Id="R2ac7c3deac09470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27b6b6c0dc14cbb" /><Relationship Type="http://schemas.openxmlformats.org/officeDocument/2006/relationships/notesSlide" Target="/ppt/notesSlides/notesSlide30.xml" Id="R078573a1faa94a1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a:latin typeface="Arial"/>
                <a:ea typeface="Arial"/>
                <a:cs typeface="Arial"/>
              </a:rPr>
              <a:t>p95 de creación de reserva en ms</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plotArea>
      <c:barChart>
        <c:barDir val="col"/>
        <c:varyColors val="0"/>
        <c:ser>
          <c:idx val="0"/>
          <c:order val="0"/>
          <c:tx>
            <c:v>p95 en ms</c:v>
          </c:tx>
          <c:spPr>
            <a:solidFill xmlns:a="http://schemas.openxmlformats.org/drawingml/2006/main">
              <a:srgbClr val="454545"/>
            </a:solidFill>
          </c:spPr>
          <c:invertIfNegative val="0"/>
          <c:cat>
            <c:strRef>
              <c:f>'Chart Data'!$A$2:$A$4</c:f>
              <c:strCache>
                <c:ptCount val="3"/>
                <c:pt idx="0">
                  <c:v>Repetición 1</c:v>
                </c:pt>
                <c:pt idx="1">
                  <c:v>Repetición 2</c:v>
                </c:pt>
                <c:pt idx="2">
                  <c:v>Repetición 3</c:v>
                </c:pt>
              </c:strCache>
            </c:strRef>
          </c:cat>
          <c:val>
            <c:numRef>
              <c:f>'Chart Data'!$B$2:$B$4</c:f>
              <c:numCache>
                <c:formatCode>0</c:formatCode>
                <c:ptCount val="3"/>
                <c:pt idx="0">
                  <c:v>18.514697</c:v>
                </c:pt>
                <c:pt idx="1">
                  <c:v>19.016653</c:v>
                </c:pt>
                <c:pt idx="2">
                  <c:v>19.461934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gapWidth val="1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25"/>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6D6491E-30AA-455E-83BC-16B09673DC7E}"/>
              </a:ext>
            </a:extLst>
          </p:cNvPr>
          <p:cNvSpPr>
            <a:spLocks xmlns:a="http://schemas.openxmlformats.org/drawingml/2006/main" noGrp="1"/>
          </p:cNvSpPr>
          <p:nvPr/>
        </p:nvSpPr>
        <p:spPr>
          <a:xfrm xmlns:a="http://schemas.openxmlformats.org/drawingml/2006/main">
            <a:off x="685800" y="11906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4350" b="1">
                <a:solidFill>
                  <a:srgbClr val="111111"/>
                </a:solidFill>
                <a:latin typeface="Arial"/>
                <a:ea typeface="Arial"/>
                <a:cs typeface="Arial"/>
              </a:defRPr>
            </a:defPPr>
            <a:lvl1pPr algn="l">
              <a:defRPr sz="4350" b="1">
                <a:solidFill>
                  <a:srgbClr val="111111"/>
                </a:solidFill>
                <a:latin typeface="Arial"/>
                <a:ea typeface="Arial"/>
                <a:cs typeface="Arial"/>
              </a:defRPr>
            </a:lvl1pPr>
            <a:lvl2pPr algn="l">
              <a:defRPr sz="4350" b="1">
                <a:solidFill>
                  <a:srgbClr val="111111"/>
                </a:solidFill>
                <a:latin typeface="Arial"/>
                <a:ea typeface="Arial"/>
                <a:cs typeface="Arial"/>
              </a:defRPr>
            </a:lvl2pPr>
            <a:lvl3pPr algn="l">
              <a:defRPr sz="4350" b="1">
                <a:solidFill>
                  <a:srgbClr val="111111"/>
                </a:solidFill>
                <a:latin typeface="Arial"/>
                <a:ea typeface="Arial"/>
                <a:cs typeface="Arial"/>
              </a:defRPr>
            </a:lvl3pPr>
            <a:lvl4pPr algn="l">
              <a:defRPr sz="4350" b="1">
                <a:solidFill>
                  <a:srgbClr val="111111"/>
                </a:solidFill>
                <a:latin typeface="Arial"/>
                <a:ea typeface="Arial"/>
                <a:cs typeface="Arial"/>
              </a:defRPr>
            </a:lvl4pPr>
            <a:lvl5pPr algn="l">
              <a:defRPr sz="4350" b="1">
                <a:solidFill>
                  <a:srgbClr val="111111"/>
                </a:solidFill>
                <a:latin typeface="Arial"/>
                <a:ea typeface="Arial"/>
                <a:cs typeface="Arial"/>
              </a:defRPr>
            </a:lvl5pPr>
            <a:lvl6pPr algn="l">
              <a:defRPr sz="4350" b="1">
                <a:solidFill>
                  <a:srgbClr val="111111"/>
                </a:solidFill>
                <a:latin typeface="Arial"/>
                <a:ea typeface="Arial"/>
                <a:cs typeface="Arial"/>
              </a:defRPr>
            </a:lvl6pPr>
            <a:lvl7pPr algn="l">
              <a:defRPr sz="4350" b="1">
                <a:solidFill>
                  <a:srgbClr val="111111"/>
                </a:solidFill>
                <a:latin typeface="Arial"/>
                <a:ea typeface="Arial"/>
                <a:cs typeface="Arial"/>
              </a:defRPr>
            </a:lvl7pPr>
            <a:lvl8pPr algn="l">
              <a:defRPr sz="4350" b="1">
                <a:solidFill>
                  <a:srgbClr val="111111"/>
                </a:solidFill>
                <a:latin typeface="Arial"/>
                <a:ea typeface="Arial"/>
                <a:cs typeface="Arial"/>
              </a:defRPr>
            </a:lvl8pPr>
            <a:lvl9pPr algn="l">
              <a:defRPr sz="4350" b="1">
                <a:solidFill>
                  <a:srgbClr val="111111"/>
                </a:solidFill>
                <a:latin typeface="Arial"/>
                <a:ea typeface="Arial"/>
                <a:cs typeface="Arial"/>
              </a:defRPr>
            </a:lvl9pPr>
          </a:lstStyle>
          <a:p xmlns:a="http://schemas.openxmlformats.org/drawingml/2006/main">
            <a:pPr algn="l">
              <a:defRPr sz="4350" b="1">
                <a:solidFill>
                  <a:srgbClr val="111111"/>
                </a:solidFill>
                <a:latin typeface="Arial"/>
                <a:ea typeface="Arial"/>
                <a:cs typeface="Arial"/>
              </a:defRPr>
            </a:pPr>
            <a:r>
              <a:rPr sz="4350" b="1">
                <a:solidFill>
                  <a:srgbClr val="111111"/>
                </a:solidFill>
                <a:latin typeface="Arial"/>
                <a:ea typeface="Arial"/>
                <a:cs typeface="Arial"/>
              </a:rPr>
              <a:t>Sistema de reservas</a:t>
            </a:r>
          </a:p>
        </p:txBody>
      </p:sp>
      <p:sp>
        <p:nvSpPr>
          <p:cNvPr id="2" name="">
            <a:extLst xmlns:a="http://schemas.openxmlformats.org/drawingml/2006/main">
              <a:ext uri="{FF2B5EF4-FFF2-40B4-BE49-F238E27FC236}">
                <a16:creationId xmlns:a16="http://schemas.microsoft.com/office/drawing/2014/main" id="{A0ABB7EB-B91F-4DE3-A28D-3F254AC493E2}"/>
              </a:ext>
            </a:extLst>
          </p:cNvPr>
          <p:cNvSpPr>
            <a:spLocks xmlns:a="http://schemas.openxmlformats.org/drawingml/2006/main" noGrp="1"/>
          </p:cNvSpPr>
          <p:nvPr/>
        </p:nvSpPr>
        <p:spPr>
          <a:xfrm xmlns:a="http://schemas.openxmlformats.org/drawingml/2006/main">
            <a:off x="685800" y="2428875"/>
            <a:ext cx="1000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Nuestro caso de éxito para investigar Kubernetes y Red Hat OpenShift</a:t>
            </a:r>
          </a:p>
        </p:txBody>
      </p:sp>
      <p:sp>
        <p:nvSpPr>
          <p:cNvPr id="3" name="">
            <a:extLst xmlns:a="http://schemas.openxmlformats.org/drawingml/2006/main">
              <a:ext uri="{FF2B5EF4-FFF2-40B4-BE49-F238E27FC236}">
                <a16:creationId xmlns:a16="http://schemas.microsoft.com/office/drawing/2014/main" id="{6F09BDA2-41AB-4A06-B6AA-E90D51E8B898}"/>
              </a:ext>
            </a:extLst>
          </p:cNvPr>
          <p:cNvSpPr>
            <a:spLocks xmlns:a="http://schemas.openxmlformats.org/drawingml/2006/main" noGrp="1"/>
          </p:cNvSpPr>
          <p:nvPr/>
        </p:nvSpPr>
        <p:spPr>
          <a:xfrm xmlns:a="http://schemas.openxmlformats.org/drawingml/2006/main">
            <a:off x="685800" y="419100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111111"/>
                </a:solidFill>
                <a:latin typeface="Arial"/>
                <a:ea typeface="Arial"/>
                <a:cs typeface="Arial"/>
              </a:defRPr>
            </a:defPPr>
            <a:lvl1pPr algn="l">
              <a:defRPr sz="2025" b="0">
                <a:solidFill>
                  <a:srgbClr val="111111"/>
                </a:solidFill>
                <a:latin typeface="Arial"/>
                <a:ea typeface="Arial"/>
                <a:cs typeface="Arial"/>
              </a:defRPr>
            </a:lvl1pPr>
            <a:lvl2pPr algn="l">
              <a:defRPr sz="2025" b="0">
                <a:solidFill>
                  <a:srgbClr val="111111"/>
                </a:solidFill>
                <a:latin typeface="Arial"/>
                <a:ea typeface="Arial"/>
                <a:cs typeface="Arial"/>
              </a:defRPr>
            </a:lvl2pPr>
            <a:lvl3pPr algn="l">
              <a:defRPr sz="2025" b="0">
                <a:solidFill>
                  <a:srgbClr val="111111"/>
                </a:solidFill>
                <a:latin typeface="Arial"/>
                <a:ea typeface="Arial"/>
                <a:cs typeface="Arial"/>
              </a:defRPr>
            </a:lvl3pPr>
            <a:lvl4pPr algn="l">
              <a:defRPr sz="2025" b="0">
                <a:solidFill>
                  <a:srgbClr val="111111"/>
                </a:solidFill>
                <a:latin typeface="Arial"/>
                <a:ea typeface="Arial"/>
                <a:cs typeface="Arial"/>
              </a:defRPr>
            </a:lvl4pPr>
            <a:lvl5pPr algn="l">
              <a:defRPr sz="2025" b="0">
                <a:solidFill>
                  <a:srgbClr val="111111"/>
                </a:solidFill>
                <a:latin typeface="Arial"/>
                <a:ea typeface="Arial"/>
                <a:cs typeface="Arial"/>
              </a:defRPr>
            </a:lvl5pPr>
            <a:lvl6pPr algn="l">
              <a:defRPr sz="2025" b="0">
                <a:solidFill>
                  <a:srgbClr val="111111"/>
                </a:solidFill>
                <a:latin typeface="Arial"/>
                <a:ea typeface="Arial"/>
                <a:cs typeface="Arial"/>
              </a:defRPr>
            </a:lvl6pPr>
            <a:lvl7pPr algn="l">
              <a:defRPr sz="2025" b="0">
                <a:solidFill>
                  <a:srgbClr val="111111"/>
                </a:solidFill>
                <a:latin typeface="Arial"/>
                <a:ea typeface="Arial"/>
                <a:cs typeface="Arial"/>
              </a:defRPr>
            </a:lvl7pPr>
            <a:lvl8pPr algn="l">
              <a:defRPr sz="2025" b="0">
                <a:solidFill>
                  <a:srgbClr val="111111"/>
                </a:solidFill>
                <a:latin typeface="Arial"/>
                <a:ea typeface="Arial"/>
                <a:cs typeface="Arial"/>
              </a:defRPr>
            </a:lvl8pPr>
            <a:lvl9pPr algn="l">
              <a:defRPr sz="2025" b="0">
                <a:solidFill>
                  <a:srgbClr val="111111"/>
                </a:solidFill>
                <a:latin typeface="Arial"/>
                <a:ea typeface="Arial"/>
                <a:cs typeface="Arial"/>
              </a:defRPr>
            </a:lvl9pPr>
          </a:lstStyle>
          <a:p xmlns:a="http://schemas.openxmlformats.org/drawingml/2006/main">
            <a:pPr algn="l">
              <a:defRPr sz="2025" b="0">
                <a:solidFill>
                  <a:srgbClr val="111111"/>
                </a:solidFill>
                <a:latin typeface="Arial"/>
                <a:ea typeface="Arial"/>
                <a:cs typeface="Arial"/>
              </a:defRPr>
            </a:pPr>
            <a:r>
              <a:rPr sz="2025" b="0">
                <a:solidFill>
                  <a:srgbClr val="111111"/>
                </a:solidFill>
                <a:latin typeface="Arial"/>
                <a:ea typeface="Arial"/>
                <a:cs typeface="Arial"/>
              </a:rPr>
              <a:t>22 alumnos · 6 grupos de investigación</a:t>
            </a:r>
          </a:p>
        </p:txBody>
      </p:sp>
      <p:sp>
        <p:nvSpPr>
          <p:cNvPr id="4" name="">
            <a:extLst xmlns:a="http://schemas.openxmlformats.org/drawingml/2006/main">
              <a:ext uri="{FF2B5EF4-FFF2-40B4-BE49-F238E27FC236}">
                <a16:creationId xmlns:a16="http://schemas.microsoft.com/office/drawing/2014/main" id="{899BCBA3-292C-4C70-BC54-C08496F3D571}"/>
              </a:ext>
            </a:extLst>
          </p:cNvPr>
          <p:cNvSpPr>
            <a:spLocks xmlns:a="http://schemas.openxmlformats.org/drawingml/2006/main" noGrp="1"/>
          </p:cNvSpPr>
          <p:nvPr/>
        </p:nvSpPr>
        <p:spPr>
          <a:xfrm xmlns:a="http://schemas.openxmlformats.org/drawingml/2006/main">
            <a:off x="685800" y="481965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111111"/>
                </a:solidFill>
                <a:latin typeface="Arial"/>
                <a:ea typeface="Arial"/>
                <a:cs typeface="Arial"/>
              </a:defRPr>
            </a:defPPr>
            <a:lvl1pPr algn="l">
              <a:defRPr sz="2025" b="0">
                <a:solidFill>
                  <a:srgbClr val="111111"/>
                </a:solidFill>
                <a:latin typeface="Arial"/>
                <a:ea typeface="Arial"/>
                <a:cs typeface="Arial"/>
              </a:defRPr>
            </a:lvl1pPr>
            <a:lvl2pPr algn="l">
              <a:defRPr sz="2025" b="0">
                <a:solidFill>
                  <a:srgbClr val="111111"/>
                </a:solidFill>
                <a:latin typeface="Arial"/>
                <a:ea typeface="Arial"/>
                <a:cs typeface="Arial"/>
              </a:defRPr>
            </a:lvl2pPr>
            <a:lvl3pPr algn="l">
              <a:defRPr sz="2025" b="0">
                <a:solidFill>
                  <a:srgbClr val="111111"/>
                </a:solidFill>
                <a:latin typeface="Arial"/>
                <a:ea typeface="Arial"/>
                <a:cs typeface="Arial"/>
              </a:defRPr>
            </a:lvl3pPr>
            <a:lvl4pPr algn="l">
              <a:defRPr sz="2025" b="0">
                <a:solidFill>
                  <a:srgbClr val="111111"/>
                </a:solidFill>
                <a:latin typeface="Arial"/>
                <a:ea typeface="Arial"/>
                <a:cs typeface="Arial"/>
              </a:defRPr>
            </a:lvl4pPr>
            <a:lvl5pPr algn="l">
              <a:defRPr sz="2025" b="0">
                <a:solidFill>
                  <a:srgbClr val="111111"/>
                </a:solidFill>
                <a:latin typeface="Arial"/>
                <a:ea typeface="Arial"/>
                <a:cs typeface="Arial"/>
              </a:defRPr>
            </a:lvl5pPr>
            <a:lvl6pPr algn="l">
              <a:defRPr sz="2025" b="0">
                <a:solidFill>
                  <a:srgbClr val="111111"/>
                </a:solidFill>
                <a:latin typeface="Arial"/>
                <a:ea typeface="Arial"/>
                <a:cs typeface="Arial"/>
              </a:defRPr>
            </a:lvl6pPr>
            <a:lvl7pPr algn="l">
              <a:defRPr sz="2025" b="0">
                <a:solidFill>
                  <a:srgbClr val="111111"/>
                </a:solidFill>
                <a:latin typeface="Arial"/>
                <a:ea typeface="Arial"/>
                <a:cs typeface="Arial"/>
              </a:defRPr>
            </a:lvl7pPr>
            <a:lvl8pPr algn="l">
              <a:defRPr sz="2025" b="0">
                <a:solidFill>
                  <a:srgbClr val="111111"/>
                </a:solidFill>
                <a:latin typeface="Arial"/>
                <a:ea typeface="Arial"/>
                <a:cs typeface="Arial"/>
              </a:defRPr>
            </a:lvl8pPr>
            <a:lvl9pPr algn="l">
              <a:defRPr sz="2025" b="0">
                <a:solidFill>
                  <a:srgbClr val="111111"/>
                </a:solidFill>
                <a:latin typeface="Arial"/>
                <a:ea typeface="Arial"/>
                <a:cs typeface="Arial"/>
              </a:defRPr>
            </a:lvl9pPr>
          </a:lstStyle>
          <a:p xmlns:a="http://schemas.openxmlformats.org/drawingml/2006/main">
            <a:pPr algn="l">
              <a:defRPr sz="2025" b="0">
                <a:solidFill>
                  <a:srgbClr val="111111"/>
                </a:solidFill>
                <a:latin typeface="Arial"/>
                <a:ea typeface="Arial"/>
                <a:cs typeface="Arial"/>
              </a:defRPr>
            </a:pPr>
            <a:r>
              <a:rPr sz="2025" b="0">
                <a:solidFill>
                  <a:srgbClr val="111111"/>
                </a:solidFill>
                <a:latin typeface="Arial"/>
                <a:ea typeface="Arial"/>
                <a:cs typeface="Arial"/>
              </a:rPr>
              <a:t>Seminario · Walter Rosales</a:t>
            </a:r>
          </a:p>
        </p:txBody>
      </p:sp>
      <p:sp>
        <p:nvSpPr>
          <p:cNvPr id="5" name="">
            <a:extLst xmlns:a="http://schemas.openxmlformats.org/drawingml/2006/main">
              <a:ext uri="{FF2B5EF4-FFF2-40B4-BE49-F238E27FC236}">
                <a16:creationId xmlns:a16="http://schemas.microsoft.com/office/drawing/2014/main" id="{DB567610-EC4F-4E52-8C92-F26D96680A0B}"/>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01</a:t>
            </a:r>
          </a:p>
        </p:txBody>
      </p:sp>
    </p:spTree>
    <p:extLst>
      <p:ext uri="{BB962C8B-B14F-4D97-AF65-F5344CB8AC3E}">
        <p14:creationId xmlns:p14="http://schemas.microsoft.com/office/powerpoint/2010/main" val="1747858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034355-06FC-4263-846B-8320394D651E}"/>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La pregunta del seminario</a:t>
            </a:r>
          </a:p>
        </p:txBody>
      </p:sp>
      <p:sp>
        <p:nvSpPr>
          <p:cNvPr id="2" name="">
            <a:extLst xmlns:a="http://schemas.openxmlformats.org/drawingml/2006/main">
              <a:ext uri="{FF2B5EF4-FFF2-40B4-BE49-F238E27FC236}">
                <a16:creationId xmlns:a16="http://schemas.microsoft.com/office/drawing/2014/main" id="{F5FC0601-7703-4A48-A006-B8976138D69E}"/>
              </a:ext>
            </a:extLst>
          </p:cNvPr>
          <p:cNvSpPr>
            <a:spLocks xmlns:a="http://schemas.openxmlformats.org/drawingml/2006/main" noGrp="1"/>
          </p:cNvSpPr>
          <p:nvPr/>
        </p:nvSpPr>
        <p:spPr>
          <a:xfrm xmlns:a="http://schemas.openxmlformats.org/drawingml/2006/main">
            <a:off x="685800" y="2076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111111"/>
                </a:solidFill>
                <a:latin typeface="Arial"/>
                <a:ea typeface="Arial"/>
                <a:cs typeface="Arial"/>
              </a:defRPr>
            </a:defPPr>
            <a:lvl1pPr algn="l">
              <a:defRPr sz="2400" b="1">
                <a:solidFill>
                  <a:srgbClr val="111111"/>
                </a:solidFill>
                <a:latin typeface="Arial"/>
                <a:ea typeface="Arial"/>
                <a:cs typeface="Arial"/>
              </a:defRPr>
            </a:lvl1pPr>
            <a:lvl2pPr algn="l">
              <a:defRPr sz="2400" b="1">
                <a:solidFill>
                  <a:srgbClr val="111111"/>
                </a:solidFill>
                <a:latin typeface="Arial"/>
                <a:ea typeface="Arial"/>
                <a:cs typeface="Arial"/>
              </a:defRPr>
            </a:lvl2pPr>
            <a:lvl3pPr algn="l">
              <a:defRPr sz="2400" b="1">
                <a:solidFill>
                  <a:srgbClr val="111111"/>
                </a:solidFill>
                <a:latin typeface="Arial"/>
                <a:ea typeface="Arial"/>
                <a:cs typeface="Arial"/>
              </a:defRPr>
            </a:lvl3pPr>
            <a:lvl4pPr algn="l">
              <a:defRPr sz="2400" b="1">
                <a:solidFill>
                  <a:srgbClr val="111111"/>
                </a:solidFill>
                <a:latin typeface="Arial"/>
                <a:ea typeface="Arial"/>
                <a:cs typeface="Arial"/>
              </a:defRPr>
            </a:lvl4pPr>
            <a:lvl5pPr algn="l">
              <a:defRPr sz="2400" b="1">
                <a:solidFill>
                  <a:srgbClr val="111111"/>
                </a:solidFill>
                <a:latin typeface="Arial"/>
                <a:ea typeface="Arial"/>
                <a:cs typeface="Arial"/>
              </a:defRPr>
            </a:lvl5pPr>
            <a:lvl6pPr algn="l">
              <a:defRPr sz="2400" b="1">
                <a:solidFill>
                  <a:srgbClr val="111111"/>
                </a:solidFill>
                <a:latin typeface="Arial"/>
                <a:ea typeface="Arial"/>
                <a:cs typeface="Arial"/>
              </a:defRPr>
            </a:lvl6pPr>
            <a:lvl7pPr algn="l">
              <a:defRPr sz="2400" b="1">
                <a:solidFill>
                  <a:srgbClr val="111111"/>
                </a:solidFill>
                <a:latin typeface="Arial"/>
                <a:ea typeface="Arial"/>
                <a:cs typeface="Arial"/>
              </a:defRPr>
            </a:lvl7pPr>
            <a:lvl8pPr algn="l">
              <a:defRPr sz="2400" b="1">
                <a:solidFill>
                  <a:srgbClr val="111111"/>
                </a:solidFill>
                <a:latin typeface="Arial"/>
                <a:ea typeface="Arial"/>
                <a:cs typeface="Arial"/>
              </a:defRPr>
            </a:lvl8pPr>
            <a:lvl9pPr algn="l">
              <a:defRPr sz="2400" b="1">
                <a:solidFill>
                  <a:srgbClr val="111111"/>
                </a:solidFill>
                <a:latin typeface="Arial"/>
                <a:ea typeface="Arial"/>
                <a:cs typeface="Arial"/>
              </a:defRPr>
            </a:lvl9pPr>
          </a:lstStyle>
          <a:p xmlns:a="http://schemas.openxmlformats.org/drawingml/2006/main">
            <a:pPr algn="l">
              <a:defRPr sz="2400" b="1">
                <a:solidFill>
                  <a:srgbClr val="111111"/>
                </a:solidFill>
                <a:latin typeface="Arial"/>
                <a:ea typeface="Arial"/>
                <a:cs typeface="Arial"/>
              </a:defRPr>
            </a:pPr>
            <a:r>
              <a:rPr sz="2400" b="1">
                <a:solidFill>
                  <a:srgbClr val="111111"/>
                </a:solidFill>
                <a:latin typeface="Arial"/>
                <a:ea typeface="Arial"/>
                <a:cs typeface="Arial"/>
              </a:rPr>
              <a:t>¿Cómo conservar una reserva correcta cuando crece la demanda?</a:t>
            </a:r>
          </a:p>
        </p:txBody>
      </p:sp>
      <p:sp>
        <p:nvSpPr>
          <p:cNvPr id="3" name="">
            <a:extLst xmlns:a="http://schemas.openxmlformats.org/drawingml/2006/main">
              <a:ext uri="{FF2B5EF4-FFF2-40B4-BE49-F238E27FC236}">
                <a16:creationId xmlns:a16="http://schemas.microsoft.com/office/drawing/2014/main" id="{201F3411-857D-46F0-B0C0-E22F3F3DA599}"/>
              </a:ext>
            </a:extLst>
          </p:cNvPr>
          <p:cNvSpPr>
            <a:spLocks xmlns:a="http://schemas.openxmlformats.org/drawingml/2006/main" noGrp="1"/>
          </p:cNvSpPr>
          <p:nvPr/>
        </p:nvSpPr>
        <p:spPr>
          <a:xfrm xmlns:a="http://schemas.openxmlformats.org/drawingml/2006/main">
            <a:off x="857250" y="33337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No confirmar más cupos de los disponibles</a:t>
            </a:r>
          </a:p>
        </p:txBody>
      </p:sp>
      <p:sp>
        <p:nvSpPr>
          <p:cNvPr id="4" name="">
            <a:extLst xmlns:a="http://schemas.openxmlformats.org/drawingml/2006/main">
              <a:ext uri="{FF2B5EF4-FFF2-40B4-BE49-F238E27FC236}">
                <a16:creationId xmlns:a16="http://schemas.microsoft.com/office/drawing/2014/main" id="{533DF196-508F-4C06-896B-091A4C31D19F}"/>
              </a:ext>
            </a:extLst>
          </p:cNvPr>
          <p:cNvSpPr>
            <a:spLocks xmlns:a="http://schemas.openxmlformats.org/drawingml/2006/main" noGrp="1"/>
          </p:cNvSpPr>
          <p:nvPr/>
        </p:nvSpPr>
        <p:spPr>
          <a:xfrm xmlns:a="http://schemas.openxmlformats.org/drawingml/2006/main">
            <a:off x="857250" y="41719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Recuperar reenvíos sin duplicar reservas</a:t>
            </a:r>
          </a:p>
        </p:txBody>
      </p:sp>
      <p:sp>
        <p:nvSpPr>
          <p:cNvPr id="5" name="">
            <a:extLst xmlns:a="http://schemas.openxmlformats.org/drawingml/2006/main">
              <a:ext uri="{FF2B5EF4-FFF2-40B4-BE49-F238E27FC236}">
                <a16:creationId xmlns:a16="http://schemas.microsoft.com/office/drawing/2014/main" id="{3379B448-6F06-4AAD-BF0D-FCB6C74F0776}"/>
              </a:ext>
            </a:extLst>
          </p:cNvPr>
          <p:cNvSpPr>
            <a:spLocks xmlns:a="http://schemas.openxmlformats.org/drawingml/2006/main" noGrp="1"/>
          </p:cNvSpPr>
          <p:nvPr/>
        </p:nvSpPr>
        <p:spPr>
          <a:xfrm xmlns:a="http://schemas.openxmlformats.org/drawingml/2006/main">
            <a:off x="857250" y="50101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Medir latencia disponibilidad y recursos</a:t>
            </a:r>
          </a:p>
        </p:txBody>
      </p:sp>
      <p:sp>
        <p:nvSpPr>
          <p:cNvPr id="6" name="">
            <a:extLst xmlns:a="http://schemas.openxmlformats.org/drawingml/2006/main">
              <a:ext uri="{FF2B5EF4-FFF2-40B4-BE49-F238E27FC236}">
                <a16:creationId xmlns:a16="http://schemas.microsoft.com/office/drawing/2014/main" id="{F6A56CDB-8C6E-44D0-B8EE-148B101A2EE9}"/>
              </a:ext>
            </a:extLst>
          </p:cNvPr>
          <p:cNvSpPr>
            <a:spLocks xmlns:a="http://schemas.openxmlformats.org/drawingml/2006/main" noGrp="1"/>
          </p:cNvSpPr>
          <p:nvPr/>
        </p:nvSpPr>
        <p:spPr>
          <a:xfrm xmlns:a="http://schemas.openxmlformats.org/drawingml/2006/main">
            <a:off x="685800" y="61531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La meta de 1M a 10M en OpenShift es una hipótesis pendiente de contraste</a:t>
            </a:r>
          </a:p>
        </p:txBody>
      </p:sp>
      <p:sp>
        <p:nvSpPr>
          <p:cNvPr id="7" name="">
            <a:extLst xmlns:a="http://schemas.openxmlformats.org/drawingml/2006/main">
              <a:ext uri="{FF2B5EF4-FFF2-40B4-BE49-F238E27FC236}">
                <a16:creationId xmlns:a16="http://schemas.microsoft.com/office/drawing/2014/main" id="{0A605321-FC64-4C24-A2F2-3EC220CA542E}"/>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02</a:t>
            </a:r>
          </a:p>
        </p:txBody>
      </p:sp>
    </p:spTree>
    <p:extLst>
      <p:ext uri="{BB962C8B-B14F-4D97-AF65-F5344CB8AC3E}">
        <p14:creationId xmlns:p14="http://schemas.microsoft.com/office/powerpoint/2010/main" val="12606512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46F11F0-0CF3-4519-B8D8-5DD3AD7F603B}"/>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Seis grupos sobre un mismo sistema</a:t>
            </a:r>
          </a:p>
        </p:txBody>
      </p:sp>
      <p:graphicFrame>
        <p:nvGraphicFramePr>
          <p:cNvPr id="2" name="">
            <a:extLst xmlns:a="http://schemas.openxmlformats.org/drawingml/2006/main">
              <a:ext uri="{FF2B5EF4-FFF2-40B4-BE49-F238E27FC236}">
                <a16:creationId xmlns:a16="http://schemas.microsoft.com/office/drawing/2014/main" id="{A8E06E57-9290-4F94-85B3-F1E364F0984B}"/>
              </a:ext>
            </a:extLst>
          </p:cNvPr>
          <p:cNvGraphicFramePr/>
          <p:nvPr/>
        </p:nvGraphicFramePr>
        <p:xfrm>
          <a:off xmlns:a="http://schemas.openxmlformats.org/drawingml/2006/main" x="685800" y="2076450"/>
          <a:ext xmlns:a="http://schemas.openxmlformats.org/drawingml/2006/main" cx="10820400" cy="3667125"/>
        </p:xfrm>
        <a:graphic xmlns:a="http://schemas.openxmlformats.org/drawingml/2006/main">
          <a:graphicData uri="http://schemas.openxmlformats.org/drawingml/2006/table">
            <a:tbl>
              <a:tblPr/>
              <a:tblGrid>
                <a:gridCol w="952500"/>
                <a:gridCol w="8572500"/>
                <a:gridCol w="1295400"/>
              </a:tblGrid>
              <a:tr h="523875">
                <a:tc>
                  <a:txBody>
                    <a:bodyPr/>
                    <a:lstStyle/>
                    <a:p>
                      <a:r>
                        <a:rPr sz="1650" b="1">
                          <a:solidFill>
                            <a:srgbClr val="FFFFFF"/>
                          </a:solidFill>
                          <a:latin typeface="Arial"/>
                          <a:ea typeface="Arial"/>
                          <a:cs typeface="Arial"/>
                        </a:rPr>
                        <a:t>Grupo</a:t>
                      </a:r>
                    </a:p>
                  </a:txBody>
                  <a:tcPr marL="91440" marR="91440" marT="45720" marB="4572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solidFill>
                      <a:srgbClr val="111111"/>
                    </a:solidFill>
                  </a:tcPr>
                </a:tc>
                <a:tc>
                  <a:txBody>
                    <a:bodyPr/>
                    <a:lstStyle/>
                    <a:p>
                      <a:r>
                        <a:rPr sz="1650" b="1">
                          <a:solidFill>
                            <a:srgbClr val="FFFFFF"/>
                          </a:solidFill>
                          <a:latin typeface="Arial"/>
                          <a:ea typeface="Arial"/>
                          <a:cs typeface="Arial"/>
                        </a:rPr>
                        <a:t>Tema</a:t>
                      </a:r>
                    </a:p>
                  </a:txBody>
                  <a:tcPr marL="91440" marR="91440" marT="45720" marB="45720">
                    <a:lnR w="9525">
                      <a:solidFill>
                        <a:srgbClr val="CCCCCC"/>
                      </a:solidFill>
                      <a:prstDash val="solid"/>
                    </a:lnR>
                    <a:lnT w="9525">
                      <a:solidFill>
                        <a:srgbClr val="CCCCCC"/>
                      </a:solidFill>
                      <a:prstDash val="solid"/>
                    </a:lnT>
                    <a:lnB w="9525">
                      <a:solidFill>
                        <a:srgbClr val="CCCCCC"/>
                      </a:solidFill>
                      <a:prstDash val="solid"/>
                    </a:lnB>
                    <a:solidFill>
                      <a:srgbClr val="111111"/>
                    </a:solidFill>
                  </a:tcPr>
                </a:tc>
                <a:tc>
                  <a:txBody>
                    <a:bodyPr/>
                    <a:lstStyle/>
                    <a:p>
                      <a:r>
                        <a:rPr sz="1650" b="1">
                          <a:solidFill>
                            <a:srgbClr val="FFFFFF"/>
                          </a:solidFill>
                          <a:latin typeface="Arial"/>
                          <a:ea typeface="Arial"/>
                          <a:cs typeface="Arial"/>
                        </a:rPr>
                        <a:t>Alumnos</a:t>
                      </a:r>
                    </a:p>
                  </a:txBody>
                  <a:tcPr marL="91440" marR="91440" marT="45720" marB="45720">
                    <a:lnR w="9525">
                      <a:solidFill>
                        <a:srgbClr val="CCCCCC"/>
                      </a:solidFill>
                      <a:prstDash val="solid"/>
                    </a:lnR>
                    <a:lnT w="9525">
                      <a:solidFill>
                        <a:srgbClr val="CCCCCC"/>
                      </a:solidFill>
                      <a:prstDash val="solid"/>
                    </a:lnT>
                    <a:lnB w="9525">
                      <a:solidFill>
                        <a:srgbClr val="CCCCCC"/>
                      </a:solidFill>
                      <a:prstDash val="solid"/>
                    </a:lnB>
                    <a:solidFill>
                      <a:srgbClr val="111111"/>
                    </a:solidFill>
                  </a:tcPr>
                </a:tc>
              </a:tr>
              <a:tr h="523875">
                <a:tc>
                  <a:txBody>
                    <a:bodyPr/>
                    <a:lstStyle/>
                    <a:p>
                      <a:r>
                        <a:rPr sz="1650" b="0">
                          <a:solidFill>
                            <a:srgbClr val="111111"/>
                          </a:solidFill>
                          <a:latin typeface="Arial"/>
                          <a:ea typeface="Arial"/>
                          <a:cs typeface="Arial"/>
                        </a:rPr>
                        <a:t>1</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Fundamentos y Arquitectura</a:t>
                      </a:r>
                    </a:p>
                  </a:txBody>
                  <a:tcPr marL="91440" marR="91440" marT="45720" marB="45720">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4</a:t>
                      </a:r>
                    </a:p>
                  </a:txBody>
                  <a:tcPr marL="91440" marR="91440" marT="45720" marB="45720">
                    <a:lnR w="9525">
                      <a:solidFill>
                        <a:srgbClr val="CCCCCC"/>
                      </a:solidFill>
                      <a:prstDash val="solid"/>
                    </a:lnR>
                    <a:lnB w="9525">
                      <a:solidFill>
                        <a:srgbClr val="CCCCCC"/>
                      </a:solidFill>
                      <a:prstDash val="solid"/>
                    </a:lnB>
                    <a:solidFill>
                      <a:srgbClr val="FFFFFF"/>
                    </a:solidFill>
                  </a:tcPr>
                </a:tc>
              </a:tr>
              <a:tr h="523875">
                <a:tc>
                  <a:txBody>
                    <a:bodyPr/>
                    <a:lstStyle/>
                    <a:p>
                      <a:r>
                        <a:rPr sz="1650" b="0">
                          <a:solidFill>
                            <a:srgbClr val="111111"/>
                          </a:solidFill>
                          <a:latin typeface="Arial"/>
                          <a:ea typeface="Arial"/>
                          <a:cs typeface="Arial"/>
                        </a:rPr>
                        <a:t>2</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Escalabilidad y Autoescalado</a:t>
                      </a:r>
                    </a:p>
                  </a:txBody>
                  <a:tcPr marL="91440" marR="91440" marT="45720" marB="45720">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4</a:t>
                      </a:r>
                    </a:p>
                  </a:txBody>
                  <a:tcPr marL="91440" marR="91440" marT="45720" marB="45720">
                    <a:lnR w="9525">
                      <a:solidFill>
                        <a:srgbClr val="CCCCCC"/>
                      </a:solidFill>
                      <a:prstDash val="solid"/>
                    </a:lnR>
                    <a:lnB w="9525">
                      <a:solidFill>
                        <a:srgbClr val="CCCCCC"/>
                      </a:solidFill>
                      <a:prstDash val="solid"/>
                    </a:lnB>
                    <a:solidFill>
                      <a:srgbClr val="FFFFFF"/>
                    </a:solidFill>
                  </a:tcPr>
                </a:tc>
              </a:tr>
              <a:tr h="523875">
                <a:tc>
                  <a:txBody>
                    <a:bodyPr/>
                    <a:lstStyle/>
                    <a:p>
                      <a:r>
                        <a:rPr sz="1650" b="0">
                          <a:solidFill>
                            <a:srgbClr val="111111"/>
                          </a:solidFill>
                          <a:latin typeface="Arial"/>
                          <a:ea typeface="Arial"/>
                          <a:cs typeface="Arial"/>
                        </a:rPr>
                        <a:t>3</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Resiliencia Disponibilidad y Seguridad</a:t>
                      </a:r>
                    </a:p>
                  </a:txBody>
                  <a:tcPr marL="91440" marR="91440" marT="45720" marB="45720">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4</a:t>
                      </a:r>
                    </a:p>
                  </a:txBody>
                  <a:tcPr marL="91440" marR="91440" marT="45720" marB="45720">
                    <a:lnR w="9525">
                      <a:solidFill>
                        <a:srgbClr val="CCCCCC"/>
                      </a:solidFill>
                      <a:prstDash val="solid"/>
                    </a:lnR>
                    <a:lnB w="9525">
                      <a:solidFill>
                        <a:srgbClr val="CCCCCC"/>
                      </a:solidFill>
                      <a:prstDash val="solid"/>
                    </a:lnB>
                    <a:solidFill>
                      <a:srgbClr val="FFFFFF"/>
                    </a:solidFill>
                  </a:tcPr>
                </a:tc>
              </a:tr>
              <a:tr h="523875">
                <a:tc>
                  <a:txBody>
                    <a:bodyPr/>
                    <a:lstStyle/>
                    <a:p>
                      <a:r>
                        <a:rPr sz="1650" b="0">
                          <a:solidFill>
                            <a:srgbClr val="111111"/>
                          </a:solidFill>
                          <a:latin typeface="Arial"/>
                          <a:ea typeface="Arial"/>
                          <a:cs typeface="Arial"/>
                        </a:rPr>
                        <a:t>4</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Persistencia Consistencia y Mensajería</a:t>
                      </a:r>
                    </a:p>
                  </a:txBody>
                  <a:tcPr marL="91440" marR="91440" marT="45720" marB="45720">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4</a:t>
                      </a:r>
                    </a:p>
                  </a:txBody>
                  <a:tcPr marL="91440" marR="91440" marT="45720" marB="45720">
                    <a:lnR w="9525">
                      <a:solidFill>
                        <a:srgbClr val="CCCCCC"/>
                      </a:solidFill>
                      <a:prstDash val="solid"/>
                    </a:lnR>
                    <a:lnB w="9525">
                      <a:solidFill>
                        <a:srgbClr val="CCCCCC"/>
                      </a:solidFill>
                      <a:prstDash val="solid"/>
                    </a:lnB>
                    <a:solidFill>
                      <a:srgbClr val="FFFFFF"/>
                    </a:solidFill>
                  </a:tcPr>
                </a:tc>
              </a:tr>
              <a:tr h="523875">
                <a:tc>
                  <a:txBody>
                    <a:bodyPr/>
                    <a:lstStyle/>
                    <a:p>
                      <a:r>
                        <a:rPr sz="1650" b="0">
                          <a:solidFill>
                            <a:srgbClr val="111111"/>
                          </a:solidFill>
                          <a:latin typeface="Arial"/>
                          <a:ea typeface="Arial"/>
                          <a:cs typeface="Arial"/>
                        </a:rPr>
                        <a:t>5</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Observabilidad y Métricas</a:t>
                      </a:r>
                    </a:p>
                  </a:txBody>
                  <a:tcPr marL="91440" marR="91440" marT="45720" marB="45720">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3</a:t>
                      </a:r>
                    </a:p>
                  </a:txBody>
                  <a:tcPr marL="91440" marR="91440" marT="45720" marB="45720">
                    <a:lnR w="9525">
                      <a:solidFill>
                        <a:srgbClr val="CCCCCC"/>
                      </a:solidFill>
                      <a:prstDash val="solid"/>
                    </a:lnR>
                    <a:lnB w="9525">
                      <a:solidFill>
                        <a:srgbClr val="CCCCCC"/>
                      </a:solidFill>
                      <a:prstDash val="solid"/>
                    </a:lnB>
                    <a:solidFill>
                      <a:srgbClr val="FFFFFF"/>
                    </a:solidFill>
                  </a:tcPr>
                </a:tc>
              </a:tr>
              <a:tr h="523875">
                <a:tc>
                  <a:txBody>
                    <a:bodyPr/>
                    <a:lstStyle/>
                    <a:p>
                      <a:r>
                        <a:rPr sz="1650" b="0">
                          <a:solidFill>
                            <a:srgbClr val="111111"/>
                          </a:solidFill>
                          <a:latin typeface="Arial"/>
                          <a:ea typeface="Arial"/>
                          <a:cs typeface="Arial"/>
                        </a:rPr>
                        <a:t>6</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Diseño Experimental y Análisis Estadístico</a:t>
                      </a:r>
                    </a:p>
                  </a:txBody>
                  <a:tcPr marL="91440" marR="91440" marT="45720" marB="45720">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3</a:t>
                      </a:r>
                    </a:p>
                  </a:txBody>
                  <a:tcPr marL="91440" marR="91440" marT="45720" marB="45720">
                    <a:lnR w="9525">
                      <a:solidFill>
                        <a:srgbClr val="CCCCCC"/>
                      </a:solidFill>
                      <a:prstDash val="solid"/>
                    </a:lnR>
                    <a:lnB w="9525">
                      <a:solidFill>
                        <a:srgbClr val="CCCCC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81358C5-DDFB-483D-9178-481E6C4586EA}"/>
              </a:ext>
            </a:extLst>
          </p:cNvPr>
          <p:cNvSpPr>
            <a:spLocks xmlns:a="http://schemas.openxmlformats.org/drawingml/2006/main" noGrp="1"/>
          </p:cNvSpPr>
          <p:nvPr/>
        </p:nvSpPr>
        <p:spPr>
          <a:xfrm xmlns:a="http://schemas.openxmlformats.org/drawingml/2006/main">
            <a:off x="685800" y="61531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G6 integra los insumos de los otros cinco grupos</a:t>
            </a:r>
          </a:p>
        </p:txBody>
      </p:sp>
      <p:sp>
        <p:nvSpPr>
          <p:cNvPr id="4" name="">
            <a:extLst xmlns:a="http://schemas.openxmlformats.org/drawingml/2006/main">
              <a:ext uri="{FF2B5EF4-FFF2-40B4-BE49-F238E27FC236}">
                <a16:creationId xmlns:a16="http://schemas.microsoft.com/office/drawing/2014/main" id="{08407831-1F9D-4C48-BB1A-364F34CAB7C8}"/>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03</a:t>
            </a:r>
          </a:p>
        </p:txBody>
      </p:sp>
    </p:spTree>
    <p:extLst>
      <p:ext uri="{BB962C8B-B14F-4D97-AF65-F5344CB8AC3E}">
        <p14:creationId xmlns:p14="http://schemas.microsoft.com/office/powerpoint/2010/main" val="19124127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A6B3B72-8ED4-445C-9947-A624BD82CCF5}"/>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El recorrido de una reserva</a:t>
            </a:r>
          </a:p>
        </p:txBody>
      </p:sp>
      <p:sp>
        <p:nvSpPr>
          <p:cNvPr id="2" name="">
            <a:extLst xmlns:a="http://schemas.openxmlformats.org/drawingml/2006/main">
              <a:ext uri="{FF2B5EF4-FFF2-40B4-BE49-F238E27FC236}">
                <a16:creationId xmlns:a16="http://schemas.microsoft.com/office/drawing/2014/main" id="{34477C03-1A1B-4E72-8051-FA2D0C5B863A}"/>
              </a:ext>
            </a:extLst>
          </p:cNvPr>
          <p:cNvSpPr>
            <a:spLocks xmlns:a="http://schemas.openxmlformats.org/drawingml/2006/main" noGrp="1"/>
          </p:cNvSpPr>
          <p:nvPr/>
        </p:nvSpPr>
        <p:spPr>
          <a:xfrm xmlns:a="http://schemas.openxmlformats.org/drawingml/2006/main">
            <a:off x="68580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Ingresar</a:t>
            </a:r>
          </a:p>
        </p:txBody>
      </p:sp>
      <p:sp>
        <p:nvSpPr>
          <p:cNvPr id="3" name="">
            <a:extLst xmlns:a="http://schemas.openxmlformats.org/drawingml/2006/main">
              <a:ext uri="{FF2B5EF4-FFF2-40B4-BE49-F238E27FC236}">
                <a16:creationId xmlns:a16="http://schemas.microsoft.com/office/drawing/2014/main" id="{B9767C17-930A-44A0-AB27-BA5AA5D54412}"/>
              </a:ext>
            </a:extLst>
          </p:cNvPr>
          <p:cNvSpPr>
            <a:spLocks xmlns:a="http://schemas.openxmlformats.org/drawingml/2006/main" noGrp="1"/>
          </p:cNvSpPr>
          <p:nvPr/>
        </p:nvSpPr>
        <p:spPr>
          <a:xfrm xmlns:a="http://schemas.openxmlformats.org/drawingml/2006/main">
            <a:off x="302895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4" name="">
            <a:extLst xmlns:a="http://schemas.openxmlformats.org/drawingml/2006/main">
              <a:ext uri="{FF2B5EF4-FFF2-40B4-BE49-F238E27FC236}">
                <a16:creationId xmlns:a16="http://schemas.microsoft.com/office/drawing/2014/main" id="{99EC472F-EB6E-4802-AD00-A94A0F9C0C77}"/>
              </a:ext>
            </a:extLst>
          </p:cNvPr>
          <p:cNvSpPr>
            <a:spLocks xmlns:a="http://schemas.openxmlformats.org/drawingml/2006/main" noGrp="1"/>
          </p:cNvSpPr>
          <p:nvPr/>
        </p:nvSpPr>
        <p:spPr>
          <a:xfrm xmlns:a="http://schemas.openxmlformats.org/drawingml/2006/main">
            <a:off x="340995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Consultar cupos</a:t>
            </a:r>
          </a:p>
        </p:txBody>
      </p:sp>
      <p:sp>
        <p:nvSpPr>
          <p:cNvPr id="5" name="">
            <a:extLst xmlns:a="http://schemas.openxmlformats.org/drawingml/2006/main">
              <a:ext uri="{FF2B5EF4-FFF2-40B4-BE49-F238E27FC236}">
                <a16:creationId xmlns:a16="http://schemas.microsoft.com/office/drawing/2014/main" id="{B7C5322C-C7D3-47CB-B2AC-0ED08C027179}"/>
              </a:ext>
            </a:extLst>
          </p:cNvPr>
          <p:cNvSpPr>
            <a:spLocks xmlns:a="http://schemas.openxmlformats.org/drawingml/2006/main" noGrp="1"/>
          </p:cNvSpPr>
          <p:nvPr/>
        </p:nvSpPr>
        <p:spPr>
          <a:xfrm xmlns:a="http://schemas.openxmlformats.org/drawingml/2006/main">
            <a:off x="575310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075817ED-8E0D-45CA-92F8-114835B866AC}"/>
              </a:ext>
            </a:extLst>
          </p:cNvPr>
          <p:cNvSpPr>
            <a:spLocks xmlns:a="http://schemas.openxmlformats.org/drawingml/2006/main" noGrp="1"/>
          </p:cNvSpPr>
          <p:nvPr/>
        </p:nvSpPr>
        <p:spPr>
          <a:xfrm xmlns:a="http://schemas.openxmlformats.org/drawingml/2006/main">
            <a:off x="613410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Confirmar</a:t>
            </a:r>
          </a:p>
        </p:txBody>
      </p:sp>
      <p:sp>
        <p:nvSpPr>
          <p:cNvPr id="7" name="">
            <a:extLst xmlns:a="http://schemas.openxmlformats.org/drawingml/2006/main">
              <a:ext uri="{FF2B5EF4-FFF2-40B4-BE49-F238E27FC236}">
                <a16:creationId xmlns:a16="http://schemas.microsoft.com/office/drawing/2014/main" id="{704E6483-2003-4349-87E9-59E9A17870B7}"/>
              </a:ext>
            </a:extLst>
          </p:cNvPr>
          <p:cNvSpPr>
            <a:spLocks xmlns:a="http://schemas.openxmlformats.org/drawingml/2006/main" noGrp="1"/>
          </p:cNvSpPr>
          <p:nvPr/>
        </p:nvSpPr>
        <p:spPr>
          <a:xfrm xmlns:a="http://schemas.openxmlformats.org/drawingml/2006/main">
            <a:off x="847725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DE9D27B5-BEAD-460E-A2EE-1374CE786161}"/>
              </a:ext>
            </a:extLst>
          </p:cNvPr>
          <p:cNvSpPr>
            <a:spLocks xmlns:a="http://schemas.openxmlformats.org/drawingml/2006/main" noGrp="1"/>
          </p:cNvSpPr>
          <p:nvPr/>
        </p:nvSpPr>
        <p:spPr>
          <a:xfrm xmlns:a="http://schemas.openxmlformats.org/drawingml/2006/main">
            <a:off x="885825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Comprobante</a:t>
            </a:r>
          </a:p>
        </p:txBody>
      </p:sp>
      <p:sp>
        <p:nvSpPr>
          <p:cNvPr id="9" name="">
            <a:extLst xmlns:a="http://schemas.openxmlformats.org/drawingml/2006/main">
              <a:ext uri="{FF2B5EF4-FFF2-40B4-BE49-F238E27FC236}">
                <a16:creationId xmlns:a16="http://schemas.microsoft.com/office/drawing/2014/main" id="{320F08EC-534B-43F4-966B-368009541DDE}"/>
              </a:ext>
            </a:extLst>
          </p:cNvPr>
          <p:cNvSpPr>
            <a:spLocks xmlns:a="http://schemas.openxmlformats.org/drawingml/2006/main" noGrp="1"/>
          </p:cNvSpPr>
          <p:nvPr/>
        </p:nvSpPr>
        <p:spPr>
          <a:xfrm xmlns:a="http://schemas.openxmlformats.org/drawingml/2006/main">
            <a:off x="685800" y="41719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La API valida y PostgreSQL decide la confirmación</a:t>
            </a:r>
          </a:p>
        </p:txBody>
      </p:sp>
      <p:sp>
        <p:nvSpPr>
          <p:cNvPr id="10" name="">
            <a:extLst xmlns:a="http://schemas.openxmlformats.org/drawingml/2006/main">
              <a:ext uri="{FF2B5EF4-FFF2-40B4-BE49-F238E27FC236}">
                <a16:creationId xmlns:a16="http://schemas.microsoft.com/office/drawing/2014/main" id="{159CB5D0-DE66-4D43-88F9-0927A0A7BE75}"/>
              </a:ext>
            </a:extLst>
          </p:cNvPr>
          <p:cNvSpPr>
            <a:spLocks xmlns:a="http://schemas.openxmlformats.org/drawingml/2006/main" noGrp="1"/>
          </p:cNvSpPr>
          <p:nvPr/>
        </p:nvSpPr>
        <p:spPr>
          <a:xfrm xmlns:a="http://schemas.openxmlformats.org/drawingml/2006/main">
            <a:off x="685800" y="49149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Una respuesta perdida exige recuperar la misma intención</a:t>
            </a:r>
          </a:p>
        </p:txBody>
      </p:sp>
      <p:sp>
        <p:nvSpPr>
          <p:cNvPr id="11" name="">
            <a:extLst xmlns:a="http://schemas.openxmlformats.org/drawingml/2006/main">
              <a:ext uri="{FF2B5EF4-FFF2-40B4-BE49-F238E27FC236}">
                <a16:creationId xmlns:a16="http://schemas.microsoft.com/office/drawing/2014/main" id="{21A38D2E-7626-47C9-956E-7AA7FD7B9E1B}"/>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04</a:t>
            </a:r>
          </a:p>
        </p:txBody>
      </p:sp>
    </p:spTree>
    <p:extLst>
      <p:ext uri="{BB962C8B-B14F-4D97-AF65-F5344CB8AC3E}">
        <p14:creationId xmlns:p14="http://schemas.microsoft.com/office/powerpoint/2010/main" val="10330334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3749B67-FD19-4701-86F6-DF08DC8F3969}"/>
              </a:ext>
            </a:extLst>
          </p:cNvPr>
          <p:cNvSpPr>
            <a:spLocks xmlns:a="http://schemas.openxmlformats.org/drawingml/2006/main" noGrp="1"/>
          </p:cNvSpPr>
          <p:nvPr/>
        </p:nvSpPr>
        <p:spPr>
          <a:xfrm xmlns:a="http://schemas.openxmlformats.org/drawingml/2006/main">
            <a:off x="685800" y="3238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555555"/>
                </a:solidFill>
                <a:latin typeface="Arial"/>
                <a:ea typeface="Arial"/>
                <a:cs typeface="Arial"/>
              </a:defRPr>
            </a:defPPr>
            <a:lvl1pPr algn="l">
              <a:defRPr sz="1275" b="1">
                <a:solidFill>
                  <a:srgbClr val="555555"/>
                </a:solidFill>
                <a:latin typeface="Arial"/>
                <a:ea typeface="Arial"/>
                <a:cs typeface="Arial"/>
              </a:defRPr>
            </a:lvl1pPr>
            <a:lvl2pPr algn="l">
              <a:defRPr sz="1275" b="1">
                <a:solidFill>
                  <a:srgbClr val="555555"/>
                </a:solidFill>
                <a:latin typeface="Arial"/>
                <a:ea typeface="Arial"/>
                <a:cs typeface="Arial"/>
              </a:defRPr>
            </a:lvl2pPr>
            <a:lvl3pPr algn="l">
              <a:defRPr sz="1275" b="1">
                <a:solidFill>
                  <a:srgbClr val="555555"/>
                </a:solidFill>
                <a:latin typeface="Arial"/>
                <a:ea typeface="Arial"/>
                <a:cs typeface="Arial"/>
              </a:defRPr>
            </a:lvl3pPr>
            <a:lvl4pPr algn="l">
              <a:defRPr sz="1275" b="1">
                <a:solidFill>
                  <a:srgbClr val="555555"/>
                </a:solidFill>
                <a:latin typeface="Arial"/>
                <a:ea typeface="Arial"/>
                <a:cs typeface="Arial"/>
              </a:defRPr>
            </a:lvl4pPr>
            <a:lvl5pPr algn="l">
              <a:defRPr sz="1275" b="1">
                <a:solidFill>
                  <a:srgbClr val="555555"/>
                </a:solidFill>
                <a:latin typeface="Arial"/>
                <a:ea typeface="Arial"/>
                <a:cs typeface="Arial"/>
              </a:defRPr>
            </a:lvl5pPr>
            <a:lvl6pPr algn="l">
              <a:defRPr sz="1275" b="1">
                <a:solidFill>
                  <a:srgbClr val="555555"/>
                </a:solidFill>
                <a:latin typeface="Arial"/>
                <a:ea typeface="Arial"/>
                <a:cs typeface="Arial"/>
              </a:defRPr>
            </a:lvl6pPr>
            <a:lvl7pPr algn="l">
              <a:defRPr sz="1275" b="1">
                <a:solidFill>
                  <a:srgbClr val="555555"/>
                </a:solidFill>
                <a:latin typeface="Arial"/>
                <a:ea typeface="Arial"/>
                <a:cs typeface="Arial"/>
              </a:defRPr>
            </a:lvl7pPr>
            <a:lvl8pPr algn="l">
              <a:defRPr sz="1275" b="1">
                <a:solidFill>
                  <a:srgbClr val="555555"/>
                </a:solidFill>
                <a:latin typeface="Arial"/>
                <a:ea typeface="Arial"/>
                <a:cs typeface="Arial"/>
              </a:defRPr>
            </a:lvl8pPr>
            <a:lvl9pPr algn="l">
              <a:defRPr sz="1275" b="1">
                <a:solidFill>
                  <a:srgbClr val="555555"/>
                </a:solidFill>
                <a:latin typeface="Arial"/>
                <a:ea typeface="Arial"/>
                <a:cs typeface="Arial"/>
              </a:defRPr>
            </a:lvl9pPr>
          </a:lstStyle>
          <a:p xmlns:a="http://schemas.openxmlformats.org/drawingml/2006/main">
            <a:pPr algn="l">
              <a:defRPr sz="1275" b="1">
                <a:solidFill>
                  <a:srgbClr val="555555"/>
                </a:solidFill>
                <a:latin typeface="Arial"/>
                <a:ea typeface="Arial"/>
                <a:cs typeface="Arial"/>
              </a:defRPr>
            </a:pPr>
            <a:r>
              <a:rPr sz="1275" b="1">
                <a:solidFill>
                  <a:srgbClr val="555555"/>
                </a:solidFill>
                <a:latin typeface="Arial"/>
                <a:ea typeface="Arial"/>
                <a:cs typeface="Arial"/>
              </a:rPr>
              <a:t>G1 · Fundamentos y Arquitectura</a:t>
            </a:r>
          </a:p>
        </p:txBody>
      </p:sp>
      <p:sp>
        <p:nvSpPr>
          <p:cNvPr id="2" name="">
            <a:extLst xmlns:a="http://schemas.openxmlformats.org/drawingml/2006/main">
              <a:ext uri="{FF2B5EF4-FFF2-40B4-BE49-F238E27FC236}">
                <a16:creationId xmlns:a16="http://schemas.microsoft.com/office/drawing/2014/main" id="{D8D2D0A7-F27E-4794-842E-372DBFB37C67}"/>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Arquitectura del sistema construido</a:t>
            </a:r>
          </a:p>
        </p:txBody>
      </p:sp>
      <p:sp>
        <p:nvSpPr>
          <p:cNvPr id="3" name="">
            <a:extLst xmlns:a="http://schemas.openxmlformats.org/drawingml/2006/main">
              <a:ext uri="{FF2B5EF4-FFF2-40B4-BE49-F238E27FC236}">
                <a16:creationId xmlns:a16="http://schemas.microsoft.com/office/drawing/2014/main" id="{351FBF9D-B753-4E99-A85E-EB5299818356}"/>
              </a:ext>
            </a:extLst>
          </p:cNvPr>
          <p:cNvSpPr>
            <a:spLocks xmlns:a="http://schemas.openxmlformats.org/drawingml/2006/main" noGrp="1"/>
          </p:cNvSpPr>
          <p:nvPr/>
        </p:nvSpPr>
        <p:spPr>
          <a:xfrm xmlns:a="http://schemas.openxmlformats.org/drawingml/2006/main">
            <a:off x="68580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Navegador</a:t>
            </a:r>
          </a:p>
        </p:txBody>
      </p:sp>
      <p:sp>
        <p:nvSpPr>
          <p:cNvPr id="4" name="">
            <a:extLst xmlns:a="http://schemas.openxmlformats.org/drawingml/2006/main">
              <a:ext uri="{FF2B5EF4-FFF2-40B4-BE49-F238E27FC236}">
                <a16:creationId xmlns:a16="http://schemas.microsoft.com/office/drawing/2014/main" id="{8A91090B-EC89-4918-823A-49C20E0E5164}"/>
              </a:ext>
            </a:extLst>
          </p:cNvPr>
          <p:cNvSpPr>
            <a:spLocks xmlns:a="http://schemas.openxmlformats.org/drawingml/2006/main" noGrp="1"/>
          </p:cNvSpPr>
          <p:nvPr/>
        </p:nvSpPr>
        <p:spPr>
          <a:xfrm xmlns:a="http://schemas.openxmlformats.org/drawingml/2006/main">
            <a:off x="302895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E9F53C39-42E1-4A26-9A55-23369C0F974D}"/>
              </a:ext>
            </a:extLst>
          </p:cNvPr>
          <p:cNvSpPr>
            <a:spLocks xmlns:a="http://schemas.openxmlformats.org/drawingml/2006/main" noGrp="1"/>
          </p:cNvSpPr>
          <p:nvPr/>
        </p:nvSpPr>
        <p:spPr>
          <a:xfrm xmlns:a="http://schemas.openxmlformats.org/drawingml/2006/main">
            <a:off x="340995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Frontend y proxy</a:t>
            </a:r>
          </a:p>
        </p:txBody>
      </p:sp>
      <p:sp>
        <p:nvSpPr>
          <p:cNvPr id="6" name="">
            <a:extLst xmlns:a="http://schemas.openxmlformats.org/drawingml/2006/main">
              <a:ext uri="{FF2B5EF4-FFF2-40B4-BE49-F238E27FC236}">
                <a16:creationId xmlns:a16="http://schemas.microsoft.com/office/drawing/2014/main" id="{FB50BACD-9FAE-4511-876E-47101727E395}"/>
              </a:ext>
            </a:extLst>
          </p:cNvPr>
          <p:cNvSpPr>
            <a:spLocks xmlns:a="http://schemas.openxmlformats.org/drawingml/2006/main" noGrp="1"/>
          </p:cNvSpPr>
          <p:nvPr/>
        </p:nvSpPr>
        <p:spPr>
          <a:xfrm xmlns:a="http://schemas.openxmlformats.org/drawingml/2006/main">
            <a:off x="575310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58798D5A-E701-4D13-A57D-1A9EC66550BE}"/>
              </a:ext>
            </a:extLst>
          </p:cNvPr>
          <p:cNvSpPr>
            <a:spLocks xmlns:a="http://schemas.openxmlformats.org/drawingml/2006/main" noGrp="1"/>
          </p:cNvSpPr>
          <p:nvPr/>
        </p:nvSpPr>
        <p:spPr>
          <a:xfrm xmlns:a="http://schemas.openxmlformats.org/drawingml/2006/main">
            <a:off x="613410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API</a:t>
            </a:r>
          </a:p>
        </p:txBody>
      </p:sp>
      <p:sp>
        <p:nvSpPr>
          <p:cNvPr id="8" name="">
            <a:extLst xmlns:a="http://schemas.openxmlformats.org/drawingml/2006/main">
              <a:ext uri="{FF2B5EF4-FFF2-40B4-BE49-F238E27FC236}">
                <a16:creationId xmlns:a16="http://schemas.microsoft.com/office/drawing/2014/main" id="{18B96BAD-F997-48C8-B8B2-27CE2FD8C688}"/>
              </a:ext>
            </a:extLst>
          </p:cNvPr>
          <p:cNvSpPr>
            <a:spLocks xmlns:a="http://schemas.openxmlformats.org/drawingml/2006/main" noGrp="1"/>
          </p:cNvSpPr>
          <p:nvPr/>
        </p:nvSpPr>
        <p:spPr>
          <a:xfrm xmlns:a="http://schemas.openxmlformats.org/drawingml/2006/main">
            <a:off x="847725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A56B4FBD-E081-40A3-A3AB-0C02B3F15272}"/>
              </a:ext>
            </a:extLst>
          </p:cNvPr>
          <p:cNvSpPr>
            <a:spLocks xmlns:a="http://schemas.openxmlformats.org/drawingml/2006/main" noGrp="1"/>
          </p:cNvSpPr>
          <p:nvPr/>
        </p:nvSpPr>
        <p:spPr>
          <a:xfrm xmlns:a="http://schemas.openxmlformats.org/drawingml/2006/main">
            <a:off x="885825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PostgreSQL</a:t>
            </a:r>
          </a:p>
        </p:txBody>
      </p:sp>
      <p:sp>
        <p:nvSpPr>
          <p:cNvPr id="10" name="">
            <a:extLst xmlns:a="http://schemas.openxmlformats.org/drawingml/2006/main">
              <a:ext uri="{FF2B5EF4-FFF2-40B4-BE49-F238E27FC236}">
                <a16:creationId xmlns:a16="http://schemas.microsoft.com/office/drawing/2014/main" id="{3D3021BD-87EF-440C-ADA3-19ADB8593059}"/>
              </a:ext>
            </a:extLst>
          </p:cNvPr>
          <p:cNvSpPr>
            <a:spLocks xmlns:a="http://schemas.openxmlformats.org/drawingml/2006/main" noGrp="1"/>
          </p:cNvSpPr>
          <p:nvPr/>
        </p:nvSpPr>
        <p:spPr>
          <a:xfrm xmlns:a="http://schemas.openxmlformats.org/drawingml/2006/main">
            <a:off x="685800" y="41719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Inventario reservas y outbox se guardan en PostgreSQL</a:t>
            </a:r>
          </a:p>
        </p:txBody>
      </p:sp>
      <p:sp>
        <p:nvSpPr>
          <p:cNvPr id="11" name="">
            <a:extLst xmlns:a="http://schemas.openxmlformats.org/drawingml/2006/main">
              <a:ext uri="{FF2B5EF4-FFF2-40B4-BE49-F238E27FC236}">
                <a16:creationId xmlns:a16="http://schemas.microsoft.com/office/drawing/2014/main" id="{DEF2EAAB-3F8D-4898-9502-6BAC0C3B21F1}"/>
              </a:ext>
            </a:extLst>
          </p:cNvPr>
          <p:cNvSpPr>
            <a:spLocks xmlns:a="http://schemas.openxmlformats.org/drawingml/2006/main" noGrp="1"/>
          </p:cNvSpPr>
          <p:nvPr/>
        </p:nvSpPr>
        <p:spPr>
          <a:xfrm xmlns:a="http://schemas.openxmlformats.org/drawingml/2006/main">
            <a:off x="685800" y="49149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El worker existe en la aplicación; S19 no lo incluyó</a:t>
            </a:r>
          </a:p>
        </p:txBody>
      </p:sp>
      <p:sp>
        <p:nvSpPr>
          <p:cNvPr id="12" name="">
            <a:extLst xmlns:a="http://schemas.openxmlformats.org/drawingml/2006/main">
              <a:ext uri="{FF2B5EF4-FFF2-40B4-BE49-F238E27FC236}">
                <a16:creationId xmlns:a16="http://schemas.microsoft.com/office/drawing/2014/main" id="{B37D04B3-A2F6-419B-BD33-D5134A5FB715}"/>
              </a:ext>
            </a:extLst>
          </p:cNvPr>
          <p:cNvSpPr>
            <a:spLocks xmlns:a="http://schemas.openxmlformats.org/drawingml/2006/main" noGrp="1"/>
          </p:cNvSpPr>
          <p:nvPr/>
        </p:nvSpPr>
        <p:spPr>
          <a:xfrm xmlns:a="http://schemas.openxmlformats.org/drawingml/2006/main">
            <a:off x="685800" y="61531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Vista de la aplicación local · no es un despliegue OpenShift acreditado</a:t>
            </a:r>
          </a:p>
        </p:txBody>
      </p:sp>
      <p:sp>
        <p:nvSpPr>
          <p:cNvPr id="13" name="">
            <a:extLst xmlns:a="http://schemas.openxmlformats.org/drawingml/2006/main">
              <a:ext uri="{FF2B5EF4-FFF2-40B4-BE49-F238E27FC236}">
                <a16:creationId xmlns:a16="http://schemas.microsoft.com/office/drawing/2014/main" id="{9C84849F-2318-472E-9499-CAFAB1149A6F}"/>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05</a:t>
            </a:r>
          </a:p>
        </p:txBody>
      </p:sp>
    </p:spTree>
    <p:extLst>
      <p:ext uri="{BB962C8B-B14F-4D97-AF65-F5344CB8AC3E}">
        <p14:creationId xmlns:p14="http://schemas.microsoft.com/office/powerpoint/2010/main" val="7053014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33387E-89D1-4E3A-A2D8-D7A4337ACDF3}"/>
              </a:ext>
            </a:extLst>
          </p:cNvPr>
          <p:cNvSpPr>
            <a:spLocks xmlns:a="http://schemas.openxmlformats.org/drawingml/2006/main" noGrp="1"/>
          </p:cNvSpPr>
          <p:nvPr/>
        </p:nvSpPr>
        <p:spPr>
          <a:xfrm xmlns:a="http://schemas.openxmlformats.org/drawingml/2006/main">
            <a:off x="685800" y="3238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555555"/>
                </a:solidFill>
                <a:latin typeface="Arial"/>
                <a:ea typeface="Arial"/>
                <a:cs typeface="Arial"/>
              </a:defRPr>
            </a:defPPr>
            <a:lvl1pPr algn="l">
              <a:defRPr sz="1275" b="1">
                <a:solidFill>
                  <a:srgbClr val="555555"/>
                </a:solidFill>
                <a:latin typeface="Arial"/>
                <a:ea typeface="Arial"/>
                <a:cs typeface="Arial"/>
              </a:defRPr>
            </a:lvl1pPr>
            <a:lvl2pPr algn="l">
              <a:defRPr sz="1275" b="1">
                <a:solidFill>
                  <a:srgbClr val="555555"/>
                </a:solidFill>
                <a:latin typeface="Arial"/>
                <a:ea typeface="Arial"/>
                <a:cs typeface="Arial"/>
              </a:defRPr>
            </a:lvl2pPr>
            <a:lvl3pPr algn="l">
              <a:defRPr sz="1275" b="1">
                <a:solidFill>
                  <a:srgbClr val="555555"/>
                </a:solidFill>
                <a:latin typeface="Arial"/>
                <a:ea typeface="Arial"/>
                <a:cs typeface="Arial"/>
              </a:defRPr>
            </a:lvl3pPr>
            <a:lvl4pPr algn="l">
              <a:defRPr sz="1275" b="1">
                <a:solidFill>
                  <a:srgbClr val="555555"/>
                </a:solidFill>
                <a:latin typeface="Arial"/>
                <a:ea typeface="Arial"/>
                <a:cs typeface="Arial"/>
              </a:defRPr>
            </a:lvl4pPr>
            <a:lvl5pPr algn="l">
              <a:defRPr sz="1275" b="1">
                <a:solidFill>
                  <a:srgbClr val="555555"/>
                </a:solidFill>
                <a:latin typeface="Arial"/>
                <a:ea typeface="Arial"/>
                <a:cs typeface="Arial"/>
              </a:defRPr>
            </a:lvl5pPr>
            <a:lvl6pPr algn="l">
              <a:defRPr sz="1275" b="1">
                <a:solidFill>
                  <a:srgbClr val="555555"/>
                </a:solidFill>
                <a:latin typeface="Arial"/>
                <a:ea typeface="Arial"/>
                <a:cs typeface="Arial"/>
              </a:defRPr>
            </a:lvl6pPr>
            <a:lvl7pPr algn="l">
              <a:defRPr sz="1275" b="1">
                <a:solidFill>
                  <a:srgbClr val="555555"/>
                </a:solidFill>
                <a:latin typeface="Arial"/>
                <a:ea typeface="Arial"/>
                <a:cs typeface="Arial"/>
              </a:defRPr>
            </a:lvl7pPr>
            <a:lvl8pPr algn="l">
              <a:defRPr sz="1275" b="1">
                <a:solidFill>
                  <a:srgbClr val="555555"/>
                </a:solidFill>
                <a:latin typeface="Arial"/>
                <a:ea typeface="Arial"/>
                <a:cs typeface="Arial"/>
              </a:defRPr>
            </a:lvl8pPr>
            <a:lvl9pPr algn="l">
              <a:defRPr sz="1275" b="1">
                <a:solidFill>
                  <a:srgbClr val="555555"/>
                </a:solidFill>
                <a:latin typeface="Arial"/>
                <a:ea typeface="Arial"/>
                <a:cs typeface="Arial"/>
              </a:defRPr>
            </a:lvl9pPr>
          </a:lstStyle>
          <a:p xmlns:a="http://schemas.openxmlformats.org/drawingml/2006/main">
            <a:pPr algn="l">
              <a:defRPr sz="1275" b="1">
                <a:solidFill>
                  <a:srgbClr val="555555"/>
                </a:solidFill>
                <a:latin typeface="Arial"/>
                <a:ea typeface="Arial"/>
                <a:cs typeface="Arial"/>
              </a:defRPr>
            </a:pPr>
            <a:r>
              <a:rPr sz="1275" b="1">
                <a:solidFill>
                  <a:srgbClr val="555555"/>
                </a:solidFill>
                <a:latin typeface="Arial"/>
                <a:ea typeface="Arial"/>
                <a:cs typeface="Arial"/>
              </a:rPr>
              <a:t>G1 · Fundamentos y Arquitectura</a:t>
            </a:r>
          </a:p>
        </p:txBody>
      </p:sp>
      <p:sp>
        <p:nvSpPr>
          <p:cNvPr id="2" name="">
            <a:extLst xmlns:a="http://schemas.openxmlformats.org/drawingml/2006/main">
              <a:ext uri="{FF2B5EF4-FFF2-40B4-BE49-F238E27FC236}">
                <a16:creationId xmlns:a16="http://schemas.microsoft.com/office/drawing/2014/main" id="{94837080-5E94-451E-9C20-0E07A10640F5}"/>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Objetos de Kubernetes aplicados a reservas</a:t>
            </a:r>
          </a:p>
        </p:txBody>
      </p:sp>
      <p:sp>
        <p:nvSpPr>
          <p:cNvPr id="3" name="">
            <a:extLst xmlns:a="http://schemas.openxmlformats.org/drawingml/2006/main">
              <a:ext uri="{FF2B5EF4-FFF2-40B4-BE49-F238E27FC236}">
                <a16:creationId xmlns:a16="http://schemas.microsoft.com/office/drawing/2014/main" id="{4028A1C7-2924-4359-A28E-339ECC9DC28C}"/>
              </a:ext>
            </a:extLst>
          </p:cNvPr>
          <p:cNvSpPr>
            <a:spLocks xmlns:a="http://schemas.openxmlformats.org/drawingml/2006/main" noGrp="1"/>
          </p:cNvSpPr>
          <p:nvPr/>
        </p:nvSpPr>
        <p:spPr>
          <a:xfrm xmlns:a="http://schemas.openxmlformats.org/drawingml/2006/main">
            <a:off x="685800" y="207645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Ejecución y acceso</a:t>
            </a:r>
          </a:p>
        </p:txBody>
      </p:sp>
      <p:sp>
        <p:nvSpPr>
          <p:cNvPr id="4" name="">
            <a:extLst xmlns:a="http://schemas.openxmlformats.org/drawingml/2006/main">
              <a:ext uri="{FF2B5EF4-FFF2-40B4-BE49-F238E27FC236}">
                <a16:creationId xmlns:a16="http://schemas.microsoft.com/office/drawing/2014/main" id="{9B8A156A-96E7-4F3E-A096-A3AC96737160}"/>
              </a:ext>
            </a:extLst>
          </p:cNvPr>
          <p:cNvSpPr>
            <a:spLocks xmlns:a="http://schemas.openxmlformats.org/drawingml/2006/main" noGrp="1"/>
          </p:cNvSpPr>
          <p:nvPr/>
        </p:nvSpPr>
        <p:spPr>
          <a:xfrm xmlns:a="http://schemas.openxmlformats.org/drawingml/2006/main">
            <a:off x="6477000" y="2076450"/>
            <a:ext cx="502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Configuración y estado</a:t>
            </a:r>
          </a:p>
        </p:txBody>
      </p:sp>
      <p:sp>
        <p:nvSpPr>
          <p:cNvPr id="5" name="">
            <a:extLst xmlns:a="http://schemas.openxmlformats.org/drawingml/2006/main">
              <a:ext uri="{FF2B5EF4-FFF2-40B4-BE49-F238E27FC236}">
                <a16:creationId xmlns:a16="http://schemas.microsoft.com/office/drawing/2014/main" id="{D06E1E08-9A28-4DD1-9DE4-ECAA963B341A}"/>
              </a:ext>
            </a:extLst>
          </p:cNvPr>
          <p:cNvSpPr>
            <a:spLocks xmlns:a="http://schemas.openxmlformats.org/drawingml/2006/main" noGrp="1"/>
          </p:cNvSpPr>
          <p:nvPr/>
        </p:nvSpPr>
        <p:spPr>
          <a:xfrm xmlns:a="http://schemas.openxmlformats.org/drawingml/2006/main">
            <a:off x="685800" y="28956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Deployment: réplicas de frontend y API</a:t>
            </a:r>
          </a:p>
        </p:txBody>
      </p:sp>
      <p:sp>
        <p:nvSpPr>
          <p:cNvPr id="6" name="">
            <a:extLst xmlns:a="http://schemas.openxmlformats.org/drawingml/2006/main">
              <a:ext uri="{FF2B5EF4-FFF2-40B4-BE49-F238E27FC236}">
                <a16:creationId xmlns:a16="http://schemas.microsoft.com/office/drawing/2014/main" id="{D732F9F3-27F5-4672-A998-D9B28237425C}"/>
              </a:ext>
            </a:extLst>
          </p:cNvPr>
          <p:cNvSpPr>
            <a:spLocks xmlns:a="http://schemas.openxmlformats.org/drawingml/2006/main" noGrp="1"/>
          </p:cNvSpPr>
          <p:nvPr/>
        </p:nvSpPr>
        <p:spPr>
          <a:xfrm xmlns:a="http://schemas.openxmlformats.org/drawingml/2006/main">
            <a:off x="685800" y="382905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Service: dirección estable</a:t>
            </a:r>
          </a:p>
        </p:txBody>
      </p:sp>
      <p:sp>
        <p:nvSpPr>
          <p:cNvPr id="7" name="">
            <a:extLst xmlns:a="http://schemas.openxmlformats.org/drawingml/2006/main">
              <a:ext uri="{FF2B5EF4-FFF2-40B4-BE49-F238E27FC236}">
                <a16:creationId xmlns:a16="http://schemas.microsoft.com/office/drawing/2014/main" id="{4D9104CB-EAD8-4094-8D07-A1715AA660E7}"/>
              </a:ext>
            </a:extLst>
          </p:cNvPr>
          <p:cNvSpPr>
            <a:spLocks xmlns:a="http://schemas.openxmlformats.org/drawingml/2006/main" noGrp="1"/>
          </p:cNvSpPr>
          <p:nvPr/>
        </p:nvSpPr>
        <p:spPr>
          <a:xfrm xmlns:a="http://schemas.openxmlformats.org/drawingml/2006/main">
            <a:off x="685800" y="47625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Route o Ingress: entrada externa</a:t>
            </a:r>
          </a:p>
        </p:txBody>
      </p:sp>
      <p:sp>
        <p:nvSpPr>
          <p:cNvPr id="8" name="">
            <a:extLst xmlns:a="http://schemas.openxmlformats.org/drawingml/2006/main">
              <a:ext uri="{FF2B5EF4-FFF2-40B4-BE49-F238E27FC236}">
                <a16:creationId xmlns:a16="http://schemas.microsoft.com/office/drawing/2014/main" id="{428F4DFD-1CE0-4FAA-ABF7-EA3A88E9F5A3}"/>
              </a:ext>
            </a:extLst>
          </p:cNvPr>
          <p:cNvSpPr>
            <a:spLocks xmlns:a="http://schemas.openxmlformats.org/drawingml/2006/main" noGrp="1"/>
          </p:cNvSpPr>
          <p:nvPr/>
        </p:nvSpPr>
        <p:spPr>
          <a:xfrm xmlns:a="http://schemas.openxmlformats.org/drawingml/2006/main">
            <a:off x="6477000" y="28956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Secret: configuración sensible</a:t>
            </a:r>
          </a:p>
        </p:txBody>
      </p:sp>
      <p:sp>
        <p:nvSpPr>
          <p:cNvPr id="9" name="">
            <a:extLst xmlns:a="http://schemas.openxmlformats.org/drawingml/2006/main">
              <a:ext uri="{FF2B5EF4-FFF2-40B4-BE49-F238E27FC236}">
                <a16:creationId xmlns:a16="http://schemas.microsoft.com/office/drawing/2014/main" id="{9B50D349-3824-4251-9AED-F7A9D711DF0F}"/>
              </a:ext>
            </a:extLst>
          </p:cNvPr>
          <p:cNvSpPr>
            <a:spLocks xmlns:a="http://schemas.openxmlformats.org/drawingml/2006/main" noGrp="1"/>
          </p:cNvSpPr>
          <p:nvPr/>
        </p:nvSpPr>
        <p:spPr>
          <a:xfrm xmlns:a="http://schemas.openxmlformats.org/drawingml/2006/main">
            <a:off x="6477000" y="382905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PVC: almacenamiento solicitado</a:t>
            </a:r>
          </a:p>
        </p:txBody>
      </p:sp>
      <p:sp>
        <p:nvSpPr>
          <p:cNvPr id="10" name="">
            <a:extLst xmlns:a="http://schemas.openxmlformats.org/drawingml/2006/main">
              <a:ext uri="{FF2B5EF4-FFF2-40B4-BE49-F238E27FC236}">
                <a16:creationId xmlns:a16="http://schemas.microsoft.com/office/drawing/2014/main" id="{FC2B2ED8-3434-4375-B0B3-3F5CE3CACC47}"/>
              </a:ext>
            </a:extLst>
          </p:cNvPr>
          <p:cNvSpPr>
            <a:spLocks xmlns:a="http://schemas.openxmlformats.org/drawingml/2006/main" noGrp="1"/>
          </p:cNvSpPr>
          <p:nvPr/>
        </p:nvSpPr>
        <p:spPr>
          <a:xfrm xmlns:a="http://schemas.openxmlformats.org/drawingml/2006/main">
            <a:off x="6477000" y="47625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StatefulSet no configura HA por sí solo</a:t>
            </a:r>
          </a:p>
        </p:txBody>
      </p:sp>
      <p:sp>
        <p:nvSpPr>
          <p:cNvPr id="11" name="">
            <a:extLst xmlns:a="http://schemas.openxmlformats.org/drawingml/2006/main">
              <a:ext uri="{FF2B5EF4-FFF2-40B4-BE49-F238E27FC236}">
                <a16:creationId xmlns:a16="http://schemas.microsoft.com/office/drawing/2014/main" id="{F793C431-18B3-4D0B-A267-CDFCBDD0FE59}"/>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06</a:t>
            </a:r>
          </a:p>
        </p:txBody>
      </p:sp>
    </p:spTree>
    <p:extLst>
      <p:ext uri="{BB962C8B-B14F-4D97-AF65-F5344CB8AC3E}">
        <p14:creationId xmlns:p14="http://schemas.microsoft.com/office/powerpoint/2010/main" val="18304790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241194F-B573-4A1F-AB6E-5AF4DDC86648}"/>
              </a:ext>
            </a:extLst>
          </p:cNvPr>
          <p:cNvSpPr>
            <a:spLocks xmlns:a="http://schemas.openxmlformats.org/drawingml/2006/main" noGrp="1"/>
          </p:cNvSpPr>
          <p:nvPr/>
        </p:nvSpPr>
        <p:spPr>
          <a:xfrm xmlns:a="http://schemas.openxmlformats.org/drawingml/2006/main">
            <a:off x="685800" y="3238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555555"/>
                </a:solidFill>
                <a:latin typeface="Arial"/>
                <a:ea typeface="Arial"/>
                <a:cs typeface="Arial"/>
              </a:defRPr>
            </a:defPPr>
            <a:lvl1pPr algn="l">
              <a:defRPr sz="1275" b="1">
                <a:solidFill>
                  <a:srgbClr val="555555"/>
                </a:solidFill>
                <a:latin typeface="Arial"/>
                <a:ea typeface="Arial"/>
                <a:cs typeface="Arial"/>
              </a:defRPr>
            </a:lvl1pPr>
            <a:lvl2pPr algn="l">
              <a:defRPr sz="1275" b="1">
                <a:solidFill>
                  <a:srgbClr val="555555"/>
                </a:solidFill>
                <a:latin typeface="Arial"/>
                <a:ea typeface="Arial"/>
                <a:cs typeface="Arial"/>
              </a:defRPr>
            </a:lvl2pPr>
            <a:lvl3pPr algn="l">
              <a:defRPr sz="1275" b="1">
                <a:solidFill>
                  <a:srgbClr val="555555"/>
                </a:solidFill>
                <a:latin typeface="Arial"/>
                <a:ea typeface="Arial"/>
                <a:cs typeface="Arial"/>
              </a:defRPr>
            </a:lvl3pPr>
            <a:lvl4pPr algn="l">
              <a:defRPr sz="1275" b="1">
                <a:solidFill>
                  <a:srgbClr val="555555"/>
                </a:solidFill>
                <a:latin typeface="Arial"/>
                <a:ea typeface="Arial"/>
                <a:cs typeface="Arial"/>
              </a:defRPr>
            </a:lvl4pPr>
            <a:lvl5pPr algn="l">
              <a:defRPr sz="1275" b="1">
                <a:solidFill>
                  <a:srgbClr val="555555"/>
                </a:solidFill>
                <a:latin typeface="Arial"/>
                <a:ea typeface="Arial"/>
                <a:cs typeface="Arial"/>
              </a:defRPr>
            </a:lvl5pPr>
            <a:lvl6pPr algn="l">
              <a:defRPr sz="1275" b="1">
                <a:solidFill>
                  <a:srgbClr val="555555"/>
                </a:solidFill>
                <a:latin typeface="Arial"/>
                <a:ea typeface="Arial"/>
                <a:cs typeface="Arial"/>
              </a:defRPr>
            </a:lvl6pPr>
            <a:lvl7pPr algn="l">
              <a:defRPr sz="1275" b="1">
                <a:solidFill>
                  <a:srgbClr val="555555"/>
                </a:solidFill>
                <a:latin typeface="Arial"/>
                <a:ea typeface="Arial"/>
                <a:cs typeface="Arial"/>
              </a:defRPr>
            </a:lvl7pPr>
            <a:lvl8pPr algn="l">
              <a:defRPr sz="1275" b="1">
                <a:solidFill>
                  <a:srgbClr val="555555"/>
                </a:solidFill>
                <a:latin typeface="Arial"/>
                <a:ea typeface="Arial"/>
                <a:cs typeface="Arial"/>
              </a:defRPr>
            </a:lvl8pPr>
            <a:lvl9pPr algn="l">
              <a:defRPr sz="1275" b="1">
                <a:solidFill>
                  <a:srgbClr val="555555"/>
                </a:solidFill>
                <a:latin typeface="Arial"/>
                <a:ea typeface="Arial"/>
                <a:cs typeface="Arial"/>
              </a:defRPr>
            </a:lvl9pPr>
          </a:lstStyle>
          <a:p xmlns:a="http://schemas.openxmlformats.org/drawingml/2006/main">
            <a:pPr algn="l">
              <a:defRPr sz="1275" b="1">
                <a:solidFill>
                  <a:srgbClr val="555555"/>
                </a:solidFill>
                <a:latin typeface="Arial"/>
                <a:ea typeface="Arial"/>
                <a:cs typeface="Arial"/>
              </a:defRPr>
            </a:pPr>
            <a:r>
              <a:rPr sz="1275" b="1">
                <a:solidFill>
                  <a:srgbClr val="555555"/>
                </a:solidFill>
                <a:latin typeface="Arial"/>
                <a:ea typeface="Arial"/>
                <a:cs typeface="Arial"/>
              </a:rPr>
              <a:t>G1 · Fundamentos y Arquitectura</a:t>
            </a:r>
          </a:p>
        </p:txBody>
      </p:sp>
      <p:sp>
        <p:nvSpPr>
          <p:cNvPr id="2" name="">
            <a:extLst xmlns:a="http://schemas.openxmlformats.org/drawingml/2006/main">
              <a:ext uri="{FF2B5EF4-FFF2-40B4-BE49-F238E27FC236}">
                <a16:creationId xmlns:a16="http://schemas.microsoft.com/office/drawing/2014/main" id="{871E79EA-1671-4B74-9DF7-544B2D1F700E}"/>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Arquitectura actual y arquitectura propuesta</a:t>
            </a:r>
          </a:p>
        </p:txBody>
      </p:sp>
      <p:sp>
        <p:nvSpPr>
          <p:cNvPr id="3" name="">
            <a:extLst xmlns:a="http://schemas.openxmlformats.org/drawingml/2006/main">
              <a:ext uri="{FF2B5EF4-FFF2-40B4-BE49-F238E27FC236}">
                <a16:creationId xmlns:a16="http://schemas.microsoft.com/office/drawing/2014/main" id="{7C68A0A5-07D4-4CE2-96CE-A1ACFF7CD421}"/>
              </a:ext>
            </a:extLst>
          </p:cNvPr>
          <p:cNvSpPr>
            <a:spLocks xmlns:a="http://schemas.openxmlformats.org/drawingml/2006/main" noGrp="1"/>
          </p:cNvSpPr>
          <p:nvPr/>
        </p:nvSpPr>
        <p:spPr>
          <a:xfrm xmlns:a="http://schemas.openxmlformats.org/drawingml/2006/main">
            <a:off x="685800" y="207645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Comprobado localmente</a:t>
            </a:r>
          </a:p>
        </p:txBody>
      </p:sp>
      <p:sp>
        <p:nvSpPr>
          <p:cNvPr id="4" name="">
            <a:extLst xmlns:a="http://schemas.openxmlformats.org/drawingml/2006/main">
              <a:ext uri="{FF2B5EF4-FFF2-40B4-BE49-F238E27FC236}">
                <a16:creationId xmlns:a16="http://schemas.microsoft.com/office/drawing/2014/main" id="{C7A3A1DD-40E2-41DD-84DC-86A5337671A7}"/>
              </a:ext>
            </a:extLst>
          </p:cNvPr>
          <p:cNvSpPr>
            <a:spLocks xmlns:a="http://schemas.openxmlformats.org/drawingml/2006/main" noGrp="1"/>
          </p:cNvSpPr>
          <p:nvPr/>
        </p:nvSpPr>
        <p:spPr>
          <a:xfrm xmlns:a="http://schemas.openxmlformats.org/drawingml/2006/main">
            <a:off x="6477000" y="2076450"/>
            <a:ext cx="502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Trabajo de investigación</a:t>
            </a:r>
          </a:p>
        </p:txBody>
      </p:sp>
      <p:sp>
        <p:nvSpPr>
          <p:cNvPr id="5" name="">
            <a:extLst xmlns:a="http://schemas.openxmlformats.org/drawingml/2006/main">
              <a:ext uri="{FF2B5EF4-FFF2-40B4-BE49-F238E27FC236}">
                <a16:creationId xmlns:a16="http://schemas.microsoft.com/office/drawing/2014/main" id="{08080231-BBF3-4D11-884C-7858C1D5381F}"/>
              </a:ext>
            </a:extLst>
          </p:cNvPr>
          <p:cNvSpPr>
            <a:spLocks xmlns:a="http://schemas.openxmlformats.org/drawingml/2006/main" noGrp="1"/>
          </p:cNvSpPr>
          <p:nvPr/>
        </p:nvSpPr>
        <p:spPr>
          <a:xfrm xmlns:a="http://schemas.openxmlformats.org/drawingml/2006/main">
            <a:off x="685800" y="28956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Imagen frontend sin Node en ejecución</a:t>
            </a:r>
          </a:p>
        </p:txBody>
      </p:sp>
      <p:sp>
        <p:nvSpPr>
          <p:cNvPr id="6" name="">
            <a:extLst xmlns:a="http://schemas.openxmlformats.org/drawingml/2006/main">
              <a:ext uri="{FF2B5EF4-FFF2-40B4-BE49-F238E27FC236}">
                <a16:creationId xmlns:a16="http://schemas.microsoft.com/office/drawing/2014/main" id="{5640BC78-7954-41C6-9F27-914275636942}"/>
              </a:ext>
            </a:extLst>
          </p:cNvPr>
          <p:cNvSpPr>
            <a:spLocks xmlns:a="http://schemas.openxmlformats.org/drawingml/2006/main" noGrp="1"/>
          </p:cNvSpPr>
          <p:nvPr/>
        </p:nvSpPr>
        <p:spPr>
          <a:xfrm xmlns:a="http://schemas.openxmlformats.org/drawingml/2006/main">
            <a:off x="685800" y="382905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API modular y PostgreSQL real</a:t>
            </a:r>
          </a:p>
        </p:txBody>
      </p:sp>
      <p:sp>
        <p:nvSpPr>
          <p:cNvPr id="7" name="">
            <a:extLst xmlns:a="http://schemas.openxmlformats.org/drawingml/2006/main">
              <a:ext uri="{FF2B5EF4-FFF2-40B4-BE49-F238E27FC236}">
                <a16:creationId xmlns:a16="http://schemas.microsoft.com/office/drawing/2014/main" id="{64DD35FE-C963-4DF7-97A8-E5BB8DF4E6BD}"/>
              </a:ext>
            </a:extLst>
          </p:cNvPr>
          <p:cNvSpPr>
            <a:spLocks xmlns:a="http://schemas.openxmlformats.org/drawingml/2006/main" noGrp="1"/>
          </p:cNvSpPr>
          <p:nvPr/>
        </p:nvSpPr>
        <p:spPr>
          <a:xfrm xmlns:a="http://schemas.openxmlformats.org/drawingml/2006/main">
            <a:off x="685800" y="47625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Confirmación transaccional</a:t>
            </a:r>
          </a:p>
        </p:txBody>
      </p:sp>
      <p:sp>
        <p:nvSpPr>
          <p:cNvPr id="8" name="">
            <a:extLst xmlns:a="http://schemas.openxmlformats.org/drawingml/2006/main">
              <a:ext uri="{FF2B5EF4-FFF2-40B4-BE49-F238E27FC236}">
                <a16:creationId xmlns:a16="http://schemas.microsoft.com/office/drawing/2014/main" id="{CA5CBC16-6448-4B03-98EA-2A74C273E7B5}"/>
              </a:ext>
            </a:extLst>
          </p:cNvPr>
          <p:cNvSpPr>
            <a:spLocks xmlns:a="http://schemas.openxmlformats.org/drawingml/2006/main" noGrp="1"/>
          </p:cNvSpPr>
          <p:nvPr/>
        </p:nvSpPr>
        <p:spPr>
          <a:xfrm xmlns:a="http://schemas.openxmlformats.org/drawingml/2006/main">
            <a:off x="6477000" y="28956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Despliegue y réplicas OpenShift</a:t>
            </a:r>
          </a:p>
        </p:txBody>
      </p:sp>
      <p:sp>
        <p:nvSpPr>
          <p:cNvPr id="9" name="">
            <a:extLst xmlns:a="http://schemas.openxmlformats.org/drawingml/2006/main">
              <a:ext uri="{FF2B5EF4-FFF2-40B4-BE49-F238E27FC236}">
                <a16:creationId xmlns:a16="http://schemas.microsoft.com/office/drawing/2014/main" id="{92350753-ED72-41BF-913B-9884902F3362}"/>
              </a:ext>
            </a:extLst>
          </p:cNvPr>
          <p:cNvSpPr>
            <a:spLocks xmlns:a="http://schemas.openxmlformats.org/drawingml/2006/main" noGrp="1"/>
          </p:cNvSpPr>
          <p:nvPr/>
        </p:nvSpPr>
        <p:spPr>
          <a:xfrm xmlns:a="http://schemas.openxmlformats.org/drawingml/2006/main">
            <a:off x="6477000" y="382905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Comparador monolítico equivalente</a:t>
            </a:r>
          </a:p>
        </p:txBody>
      </p:sp>
      <p:sp>
        <p:nvSpPr>
          <p:cNvPr id="10" name="">
            <a:extLst xmlns:a="http://schemas.openxmlformats.org/drawingml/2006/main">
              <a:ext uri="{FF2B5EF4-FFF2-40B4-BE49-F238E27FC236}">
                <a16:creationId xmlns:a16="http://schemas.microsoft.com/office/drawing/2014/main" id="{D247382F-B870-4BC7-9F7A-72DAE1B98365}"/>
              </a:ext>
            </a:extLst>
          </p:cNvPr>
          <p:cNvSpPr>
            <a:spLocks xmlns:a="http://schemas.openxmlformats.org/drawingml/2006/main" noGrp="1"/>
          </p:cNvSpPr>
          <p:nvPr/>
        </p:nvSpPr>
        <p:spPr>
          <a:xfrm xmlns:a="http://schemas.openxmlformats.org/drawingml/2006/main">
            <a:off x="6477000" y="47625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Kafka y consumidores escalables</a:t>
            </a:r>
          </a:p>
        </p:txBody>
      </p:sp>
      <p:sp>
        <p:nvSpPr>
          <p:cNvPr id="11" name="">
            <a:extLst xmlns:a="http://schemas.openxmlformats.org/drawingml/2006/main">
              <a:ext uri="{FF2B5EF4-FFF2-40B4-BE49-F238E27FC236}">
                <a16:creationId xmlns:a16="http://schemas.microsoft.com/office/drawing/2014/main" id="{B50FE838-0163-490A-AF52-9F7FE756281B}"/>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07</a:t>
            </a:r>
          </a:p>
        </p:txBody>
      </p:sp>
    </p:spTree>
    <p:extLst>
      <p:ext uri="{BB962C8B-B14F-4D97-AF65-F5344CB8AC3E}">
        <p14:creationId xmlns:p14="http://schemas.microsoft.com/office/powerpoint/2010/main" val="90298211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E1518FD-A2DC-4459-8C38-1DB6021E5AA6}"/>
              </a:ext>
            </a:extLst>
          </p:cNvPr>
          <p:cNvSpPr>
            <a:spLocks xmlns:a="http://schemas.openxmlformats.org/drawingml/2006/main" noGrp="1"/>
          </p:cNvSpPr>
          <p:nvPr/>
        </p:nvSpPr>
        <p:spPr>
          <a:xfrm xmlns:a="http://schemas.openxmlformats.org/drawingml/2006/main">
            <a:off x="685800" y="3238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555555"/>
                </a:solidFill>
                <a:latin typeface="Arial"/>
                <a:ea typeface="Arial"/>
                <a:cs typeface="Arial"/>
              </a:defRPr>
            </a:defPPr>
            <a:lvl1pPr algn="l">
              <a:defRPr sz="1275" b="1">
                <a:solidFill>
                  <a:srgbClr val="555555"/>
                </a:solidFill>
                <a:latin typeface="Arial"/>
                <a:ea typeface="Arial"/>
                <a:cs typeface="Arial"/>
              </a:defRPr>
            </a:lvl1pPr>
            <a:lvl2pPr algn="l">
              <a:defRPr sz="1275" b="1">
                <a:solidFill>
                  <a:srgbClr val="555555"/>
                </a:solidFill>
                <a:latin typeface="Arial"/>
                <a:ea typeface="Arial"/>
                <a:cs typeface="Arial"/>
              </a:defRPr>
            </a:lvl2pPr>
            <a:lvl3pPr algn="l">
              <a:defRPr sz="1275" b="1">
                <a:solidFill>
                  <a:srgbClr val="555555"/>
                </a:solidFill>
                <a:latin typeface="Arial"/>
                <a:ea typeface="Arial"/>
                <a:cs typeface="Arial"/>
              </a:defRPr>
            </a:lvl3pPr>
            <a:lvl4pPr algn="l">
              <a:defRPr sz="1275" b="1">
                <a:solidFill>
                  <a:srgbClr val="555555"/>
                </a:solidFill>
                <a:latin typeface="Arial"/>
                <a:ea typeface="Arial"/>
                <a:cs typeface="Arial"/>
              </a:defRPr>
            </a:lvl4pPr>
            <a:lvl5pPr algn="l">
              <a:defRPr sz="1275" b="1">
                <a:solidFill>
                  <a:srgbClr val="555555"/>
                </a:solidFill>
                <a:latin typeface="Arial"/>
                <a:ea typeface="Arial"/>
                <a:cs typeface="Arial"/>
              </a:defRPr>
            </a:lvl5pPr>
            <a:lvl6pPr algn="l">
              <a:defRPr sz="1275" b="1">
                <a:solidFill>
                  <a:srgbClr val="555555"/>
                </a:solidFill>
                <a:latin typeface="Arial"/>
                <a:ea typeface="Arial"/>
                <a:cs typeface="Arial"/>
              </a:defRPr>
            </a:lvl6pPr>
            <a:lvl7pPr algn="l">
              <a:defRPr sz="1275" b="1">
                <a:solidFill>
                  <a:srgbClr val="555555"/>
                </a:solidFill>
                <a:latin typeface="Arial"/>
                <a:ea typeface="Arial"/>
                <a:cs typeface="Arial"/>
              </a:defRPr>
            </a:lvl7pPr>
            <a:lvl8pPr algn="l">
              <a:defRPr sz="1275" b="1">
                <a:solidFill>
                  <a:srgbClr val="555555"/>
                </a:solidFill>
                <a:latin typeface="Arial"/>
                <a:ea typeface="Arial"/>
                <a:cs typeface="Arial"/>
              </a:defRPr>
            </a:lvl8pPr>
            <a:lvl9pPr algn="l">
              <a:defRPr sz="1275" b="1">
                <a:solidFill>
                  <a:srgbClr val="555555"/>
                </a:solidFill>
                <a:latin typeface="Arial"/>
                <a:ea typeface="Arial"/>
                <a:cs typeface="Arial"/>
              </a:defRPr>
            </a:lvl9pPr>
          </a:lstStyle>
          <a:p xmlns:a="http://schemas.openxmlformats.org/drawingml/2006/main">
            <a:pPr algn="l">
              <a:defRPr sz="1275" b="1">
                <a:solidFill>
                  <a:srgbClr val="555555"/>
                </a:solidFill>
                <a:latin typeface="Arial"/>
                <a:ea typeface="Arial"/>
                <a:cs typeface="Arial"/>
              </a:defRPr>
            </a:pPr>
            <a:r>
              <a:rPr sz="1275" b="1">
                <a:solidFill>
                  <a:srgbClr val="555555"/>
                </a:solidFill>
                <a:latin typeface="Arial"/>
                <a:ea typeface="Arial"/>
                <a:cs typeface="Arial"/>
              </a:rPr>
              <a:t>G2 · Escalabilidad y Autoescalado</a:t>
            </a:r>
          </a:p>
        </p:txBody>
      </p:sp>
      <p:sp>
        <p:nvSpPr>
          <p:cNvPr id="2" name="">
            <a:extLst xmlns:a="http://schemas.openxmlformats.org/drawingml/2006/main">
              <a:ext uri="{FF2B5EF4-FFF2-40B4-BE49-F238E27FC236}">
                <a16:creationId xmlns:a16="http://schemas.microsoft.com/office/drawing/2014/main" id="{D9A8BE45-FFFB-4FFD-BC4B-3049EC42B212}"/>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Qué se escala en el sistema de reservas</a:t>
            </a:r>
          </a:p>
        </p:txBody>
      </p:sp>
      <p:sp>
        <p:nvSpPr>
          <p:cNvPr id="3" name="">
            <a:extLst xmlns:a="http://schemas.openxmlformats.org/drawingml/2006/main">
              <a:ext uri="{FF2B5EF4-FFF2-40B4-BE49-F238E27FC236}">
                <a16:creationId xmlns:a16="http://schemas.microsoft.com/office/drawing/2014/main" id="{5E726DC3-7B9D-4723-AF2A-90160C64C27A}"/>
              </a:ext>
            </a:extLst>
          </p:cNvPr>
          <p:cNvSpPr>
            <a:spLocks xmlns:a="http://schemas.openxmlformats.org/drawingml/2006/main" noGrp="1"/>
          </p:cNvSpPr>
          <p:nvPr/>
        </p:nvSpPr>
        <p:spPr>
          <a:xfrm xmlns:a="http://schemas.openxmlformats.org/drawingml/2006/main">
            <a:off x="685800" y="207645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Solicitudes del participante</a:t>
            </a:r>
          </a:p>
        </p:txBody>
      </p:sp>
      <p:sp>
        <p:nvSpPr>
          <p:cNvPr id="4" name="">
            <a:extLst xmlns:a="http://schemas.openxmlformats.org/drawingml/2006/main">
              <a:ext uri="{FF2B5EF4-FFF2-40B4-BE49-F238E27FC236}">
                <a16:creationId xmlns:a16="http://schemas.microsoft.com/office/drawing/2014/main" id="{BFEEEAE7-8EF4-4819-B97D-E5D445F62121}"/>
              </a:ext>
            </a:extLst>
          </p:cNvPr>
          <p:cNvSpPr>
            <a:spLocks xmlns:a="http://schemas.openxmlformats.org/drawingml/2006/main" noGrp="1"/>
          </p:cNvSpPr>
          <p:nvPr/>
        </p:nvSpPr>
        <p:spPr>
          <a:xfrm xmlns:a="http://schemas.openxmlformats.org/drawingml/2006/main">
            <a:off x="6477000" y="2076450"/>
            <a:ext cx="502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Trabajo asíncrono</a:t>
            </a:r>
          </a:p>
        </p:txBody>
      </p:sp>
      <p:sp>
        <p:nvSpPr>
          <p:cNvPr id="5" name="">
            <a:extLst xmlns:a="http://schemas.openxmlformats.org/drawingml/2006/main">
              <a:ext uri="{FF2B5EF4-FFF2-40B4-BE49-F238E27FC236}">
                <a16:creationId xmlns:a16="http://schemas.microsoft.com/office/drawing/2014/main" id="{77688D49-D19A-4962-8C28-C24F24627378}"/>
              </a:ext>
            </a:extLst>
          </p:cNvPr>
          <p:cNvSpPr>
            <a:spLocks xmlns:a="http://schemas.openxmlformats.org/drawingml/2006/main" noGrp="1"/>
          </p:cNvSpPr>
          <p:nvPr/>
        </p:nvSpPr>
        <p:spPr>
          <a:xfrm xmlns:a="http://schemas.openxmlformats.org/drawingml/2006/main">
            <a:off x="685800" y="28956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HPA ajustaría réplicas de API</a:t>
            </a:r>
          </a:p>
        </p:txBody>
      </p:sp>
      <p:sp>
        <p:nvSpPr>
          <p:cNvPr id="6" name="">
            <a:extLst xmlns:a="http://schemas.openxmlformats.org/drawingml/2006/main">
              <a:ext uri="{FF2B5EF4-FFF2-40B4-BE49-F238E27FC236}">
                <a16:creationId xmlns:a16="http://schemas.microsoft.com/office/drawing/2014/main" id="{BFA6FB81-C3AD-4D24-AE2D-76292C98044D}"/>
              </a:ext>
            </a:extLst>
          </p:cNvPr>
          <p:cNvSpPr>
            <a:spLocks xmlns:a="http://schemas.openxmlformats.org/drawingml/2006/main" noGrp="1"/>
          </p:cNvSpPr>
          <p:nvPr/>
        </p:nvSpPr>
        <p:spPr>
          <a:xfrm xmlns:a="http://schemas.openxmlformats.org/drawingml/2006/main">
            <a:off x="685800" y="382905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La métrica necesita requests coherentes</a:t>
            </a:r>
          </a:p>
        </p:txBody>
      </p:sp>
      <p:sp>
        <p:nvSpPr>
          <p:cNvPr id="7" name="">
            <a:extLst xmlns:a="http://schemas.openxmlformats.org/drawingml/2006/main">
              <a:ext uri="{FF2B5EF4-FFF2-40B4-BE49-F238E27FC236}">
                <a16:creationId xmlns:a16="http://schemas.microsoft.com/office/drawing/2014/main" id="{C30432D4-67FD-4289-9435-DB58248D424B}"/>
              </a:ext>
            </a:extLst>
          </p:cNvPr>
          <p:cNvSpPr>
            <a:spLocks xmlns:a="http://schemas.openxmlformats.org/drawingml/2006/main" noGrp="1"/>
          </p:cNvSpPr>
          <p:nvPr/>
        </p:nvSpPr>
        <p:spPr>
          <a:xfrm xmlns:a="http://schemas.openxmlformats.org/drawingml/2006/main">
            <a:off x="685800" y="47625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PostgreSQL sigue siendo una dependencia</a:t>
            </a:r>
          </a:p>
        </p:txBody>
      </p:sp>
      <p:sp>
        <p:nvSpPr>
          <p:cNvPr id="8" name="">
            <a:extLst xmlns:a="http://schemas.openxmlformats.org/drawingml/2006/main">
              <a:ext uri="{FF2B5EF4-FFF2-40B4-BE49-F238E27FC236}">
                <a16:creationId xmlns:a16="http://schemas.microsoft.com/office/drawing/2014/main" id="{AB4BCC74-9C41-47E0-AF10-C902BEE55121}"/>
              </a:ext>
            </a:extLst>
          </p:cNvPr>
          <p:cNvSpPr>
            <a:spLocks xmlns:a="http://schemas.openxmlformats.org/drawingml/2006/main" noGrp="1"/>
          </p:cNvSpPr>
          <p:nvPr/>
        </p:nvSpPr>
        <p:spPr>
          <a:xfrm xmlns:a="http://schemas.openxmlformats.org/drawingml/2006/main">
            <a:off x="6477000" y="28956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KEDA escalaría consumidores</a:t>
            </a:r>
          </a:p>
        </p:txBody>
      </p:sp>
      <p:sp>
        <p:nvSpPr>
          <p:cNvPr id="9" name="">
            <a:extLst xmlns:a="http://schemas.openxmlformats.org/drawingml/2006/main">
              <a:ext uri="{FF2B5EF4-FFF2-40B4-BE49-F238E27FC236}">
                <a16:creationId xmlns:a16="http://schemas.microsoft.com/office/drawing/2014/main" id="{0DC2C5AF-43D2-448E-A3AF-554C967B364B}"/>
              </a:ext>
            </a:extLst>
          </p:cNvPr>
          <p:cNvSpPr>
            <a:spLocks xmlns:a="http://schemas.openxmlformats.org/drawingml/2006/main" noGrp="1"/>
          </p:cNvSpPr>
          <p:nvPr/>
        </p:nvSpPr>
        <p:spPr>
          <a:xfrm xmlns:a="http://schemas.openxmlformats.org/drawingml/2006/main">
            <a:off x="6477000" y="382905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Señal: rezago de Kafka</a:t>
            </a:r>
          </a:p>
        </p:txBody>
      </p:sp>
      <p:sp>
        <p:nvSpPr>
          <p:cNvPr id="10" name="">
            <a:extLst xmlns:a="http://schemas.openxmlformats.org/drawingml/2006/main">
              <a:ext uri="{FF2B5EF4-FFF2-40B4-BE49-F238E27FC236}">
                <a16:creationId xmlns:a16="http://schemas.microsoft.com/office/drawing/2014/main" id="{9766CD88-4A90-49D7-A5EF-2B7545792366}"/>
              </a:ext>
            </a:extLst>
          </p:cNvPr>
          <p:cNvSpPr>
            <a:spLocks xmlns:a="http://schemas.openxmlformats.org/drawingml/2006/main" noGrp="1"/>
          </p:cNvSpPr>
          <p:nvPr/>
        </p:nvSpPr>
        <p:spPr>
          <a:xfrm xmlns:a="http://schemas.openxmlformats.org/drawingml/2006/main">
            <a:off x="6477000" y="47625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Particiones y base limitan paralelismo</a:t>
            </a:r>
          </a:p>
        </p:txBody>
      </p:sp>
      <p:sp>
        <p:nvSpPr>
          <p:cNvPr id="11" name="">
            <a:extLst xmlns:a="http://schemas.openxmlformats.org/drawingml/2006/main">
              <a:ext uri="{FF2B5EF4-FFF2-40B4-BE49-F238E27FC236}">
                <a16:creationId xmlns:a16="http://schemas.microsoft.com/office/drawing/2014/main" id="{37A8F54F-5E06-476F-88C2-B4A416D16392}"/>
              </a:ext>
            </a:extLst>
          </p:cNvPr>
          <p:cNvSpPr>
            <a:spLocks xmlns:a="http://schemas.openxmlformats.org/drawingml/2006/main" noGrp="1"/>
          </p:cNvSpPr>
          <p:nvPr/>
        </p:nvSpPr>
        <p:spPr>
          <a:xfrm xmlns:a="http://schemas.openxmlformats.org/drawingml/2006/main">
            <a:off x="685800" y="61531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HPA y KEDA están propuestos; no fueron medidos en S19</a:t>
            </a:r>
          </a:p>
        </p:txBody>
      </p:sp>
      <p:sp>
        <p:nvSpPr>
          <p:cNvPr id="12" name="">
            <a:extLst xmlns:a="http://schemas.openxmlformats.org/drawingml/2006/main">
              <a:ext uri="{FF2B5EF4-FFF2-40B4-BE49-F238E27FC236}">
                <a16:creationId xmlns:a16="http://schemas.microsoft.com/office/drawing/2014/main" id="{570F9C4E-6C00-49C8-AC60-0CF114454ED5}"/>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08</a:t>
            </a:r>
          </a:p>
        </p:txBody>
      </p:sp>
    </p:spTree>
    <p:extLst>
      <p:ext uri="{BB962C8B-B14F-4D97-AF65-F5344CB8AC3E}">
        <p14:creationId xmlns:p14="http://schemas.microsoft.com/office/powerpoint/2010/main" val="29455272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6A5FB32-3DC3-4023-B7B8-2CC232A9751D}"/>
              </a:ext>
            </a:extLst>
          </p:cNvPr>
          <p:cNvSpPr>
            <a:spLocks xmlns:a="http://schemas.openxmlformats.org/drawingml/2006/main" noGrp="1"/>
          </p:cNvSpPr>
          <p:nvPr/>
        </p:nvSpPr>
        <p:spPr>
          <a:xfrm xmlns:a="http://schemas.openxmlformats.org/drawingml/2006/main">
            <a:off x="685800" y="3238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555555"/>
                </a:solidFill>
                <a:latin typeface="Arial"/>
                <a:ea typeface="Arial"/>
                <a:cs typeface="Arial"/>
              </a:defRPr>
            </a:defPPr>
            <a:lvl1pPr algn="l">
              <a:defRPr sz="1275" b="1">
                <a:solidFill>
                  <a:srgbClr val="555555"/>
                </a:solidFill>
                <a:latin typeface="Arial"/>
                <a:ea typeface="Arial"/>
                <a:cs typeface="Arial"/>
              </a:defRPr>
            </a:lvl1pPr>
            <a:lvl2pPr algn="l">
              <a:defRPr sz="1275" b="1">
                <a:solidFill>
                  <a:srgbClr val="555555"/>
                </a:solidFill>
                <a:latin typeface="Arial"/>
                <a:ea typeface="Arial"/>
                <a:cs typeface="Arial"/>
              </a:defRPr>
            </a:lvl2pPr>
            <a:lvl3pPr algn="l">
              <a:defRPr sz="1275" b="1">
                <a:solidFill>
                  <a:srgbClr val="555555"/>
                </a:solidFill>
                <a:latin typeface="Arial"/>
                <a:ea typeface="Arial"/>
                <a:cs typeface="Arial"/>
              </a:defRPr>
            </a:lvl3pPr>
            <a:lvl4pPr algn="l">
              <a:defRPr sz="1275" b="1">
                <a:solidFill>
                  <a:srgbClr val="555555"/>
                </a:solidFill>
                <a:latin typeface="Arial"/>
                <a:ea typeface="Arial"/>
                <a:cs typeface="Arial"/>
              </a:defRPr>
            </a:lvl4pPr>
            <a:lvl5pPr algn="l">
              <a:defRPr sz="1275" b="1">
                <a:solidFill>
                  <a:srgbClr val="555555"/>
                </a:solidFill>
                <a:latin typeface="Arial"/>
                <a:ea typeface="Arial"/>
                <a:cs typeface="Arial"/>
              </a:defRPr>
            </a:lvl5pPr>
            <a:lvl6pPr algn="l">
              <a:defRPr sz="1275" b="1">
                <a:solidFill>
                  <a:srgbClr val="555555"/>
                </a:solidFill>
                <a:latin typeface="Arial"/>
                <a:ea typeface="Arial"/>
                <a:cs typeface="Arial"/>
              </a:defRPr>
            </a:lvl6pPr>
            <a:lvl7pPr algn="l">
              <a:defRPr sz="1275" b="1">
                <a:solidFill>
                  <a:srgbClr val="555555"/>
                </a:solidFill>
                <a:latin typeface="Arial"/>
                <a:ea typeface="Arial"/>
                <a:cs typeface="Arial"/>
              </a:defRPr>
            </a:lvl7pPr>
            <a:lvl8pPr algn="l">
              <a:defRPr sz="1275" b="1">
                <a:solidFill>
                  <a:srgbClr val="555555"/>
                </a:solidFill>
                <a:latin typeface="Arial"/>
                <a:ea typeface="Arial"/>
                <a:cs typeface="Arial"/>
              </a:defRPr>
            </a:lvl8pPr>
            <a:lvl9pPr algn="l">
              <a:defRPr sz="1275" b="1">
                <a:solidFill>
                  <a:srgbClr val="555555"/>
                </a:solidFill>
                <a:latin typeface="Arial"/>
                <a:ea typeface="Arial"/>
                <a:cs typeface="Arial"/>
              </a:defRPr>
            </a:lvl9pPr>
          </a:lstStyle>
          <a:p xmlns:a="http://schemas.openxmlformats.org/drawingml/2006/main">
            <a:pPr algn="l">
              <a:defRPr sz="1275" b="1">
                <a:solidFill>
                  <a:srgbClr val="555555"/>
                </a:solidFill>
                <a:latin typeface="Arial"/>
                <a:ea typeface="Arial"/>
                <a:cs typeface="Arial"/>
              </a:defRPr>
            </a:pPr>
            <a:r>
              <a:rPr sz="1275" b="1">
                <a:solidFill>
                  <a:srgbClr val="555555"/>
                </a:solidFill>
                <a:latin typeface="Arial"/>
                <a:ea typeface="Arial"/>
                <a:cs typeface="Arial"/>
              </a:rPr>
              <a:t>G2 · Escalabilidad y Autoescalado</a:t>
            </a:r>
          </a:p>
        </p:txBody>
      </p:sp>
      <p:sp>
        <p:nvSpPr>
          <p:cNvPr id="2" name="">
            <a:extLst xmlns:a="http://schemas.openxmlformats.org/drawingml/2006/main">
              <a:ext uri="{FF2B5EF4-FFF2-40B4-BE49-F238E27FC236}">
                <a16:creationId xmlns:a16="http://schemas.microsoft.com/office/drawing/2014/main" id="{61E10B3E-66FD-46CC-9DAC-50EA1670A0CF}"/>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Recursos de Pods y capacidad de nodos</a:t>
            </a:r>
          </a:p>
        </p:txBody>
      </p:sp>
      <p:sp>
        <p:nvSpPr>
          <p:cNvPr id="3" name="">
            <a:extLst xmlns:a="http://schemas.openxmlformats.org/drawingml/2006/main">
              <a:ext uri="{FF2B5EF4-FFF2-40B4-BE49-F238E27FC236}">
                <a16:creationId xmlns:a16="http://schemas.microsoft.com/office/drawing/2014/main" id="{D7B979D0-44A8-4256-9129-D3E376FA5EF7}"/>
              </a:ext>
            </a:extLst>
          </p:cNvPr>
          <p:cNvSpPr>
            <a:spLocks xmlns:a="http://schemas.openxmlformats.org/drawingml/2006/main" noGrp="1"/>
          </p:cNvSpPr>
          <p:nvPr/>
        </p:nvSpPr>
        <p:spPr>
          <a:xfrm xmlns:a="http://schemas.openxmlformats.org/drawingml/2006/main">
            <a:off x="685800" y="207645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VPA</a:t>
            </a:r>
          </a:p>
        </p:txBody>
      </p:sp>
      <p:sp>
        <p:nvSpPr>
          <p:cNvPr id="4" name="">
            <a:extLst xmlns:a="http://schemas.openxmlformats.org/drawingml/2006/main">
              <a:ext uri="{FF2B5EF4-FFF2-40B4-BE49-F238E27FC236}">
                <a16:creationId xmlns:a16="http://schemas.microsoft.com/office/drawing/2014/main" id="{039E92BA-4D28-4647-BD3D-4DBE6C6CA18D}"/>
              </a:ext>
            </a:extLst>
          </p:cNvPr>
          <p:cNvSpPr>
            <a:spLocks xmlns:a="http://schemas.openxmlformats.org/drawingml/2006/main" noGrp="1"/>
          </p:cNvSpPr>
          <p:nvPr/>
        </p:nvSpPr>
        <p:spPr>
          <a:xfrm xmlns:a="http://schemas.openxmlformats.org/drawingml/2006/main">
            <a:off x="6477000" y="2076450"/>
            <a:ext cx="502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Cluster Autoscaler</a:t>
            </a:r>
          </a:p>
        </p:txBody>
      </p:sp>
      <p:sp>
        <p:nvSpPr>
          <p:cNvPr id="5" name="">
            <a:extLst xmlns:a="http://schemas.openxmlformats.org/drawingml/2006/main">
              <a:ext uri="{FF2B5EF4-FFF2-40B4-BE49-F238E27FC236}">
                <a16:creationId xmlns:a16="http://schemas.microsoft.com/office/drawing/2014/main" id="{366CB8B7-1D2A-430F-8EF6-2214F22F910C}"/>
              </a:ext>
            </a:extLst>
          </p:cNvPr>
          <p:cNvSpPr>
            <a:spLocks xmlns:a="http://schemas.openxmlformats.org/drawingml/2006/main" noGrp="1"/>
          </p:cNvSpPr>
          <p:nvPr/>
        </p:nvSpPr>
        <p:spPr>
          <a:xfrm xmlns:a="http://schemas.openxmlformats.org/drawingml/2006/main">
            <a:off x="685800" y="28956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Estudia CPU y memoria por Pod</a:t>
            </a:r>
          </a:p>
        </p:txBody>
      </p:sp>
      <p:sp>
        <p:nvSpPr>
          <p:cNvPr id="6" name="">
            <a:extLst xmlns:a="http://schemas.openxmlformats.org/drawingml/2006/main">
              <a:ext uri="{FF2B5EF4-FFF2-40B4-BE49-F238E27FC236}">
                <a16:creationId xmlns:a16="http://schemas.microsoft.com/office/drawing/2014/main" id="{6A6A00EE-73AE-426A-A05E-BC7099206A15}"/>
              </a:ext>
            </a:extLst>
          </p:cNvPr>
          <p:cNvSpPr>
            <a:spLocks xmlns:a="http://schemas.openxmlformats.org/drawingml/2006/main" noGrp="1"/>
          </p:cNvSpPr>
          <p:nvPr/>
        </p:nvSpPr>
        <p:spPr>
          <a:xfrm xmlns:a="http://schemas.openxmlformats.org/drawingml/2006/main">
            <a:off x="685800" y="382905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Primera etapa: recomendación</a:t>
            </a:r>
          </a:p>
        </p:txBody>
      </p:sp>
      <p:sp>
        <p:nvSpPr>
          <p:cNvPr id="7" name="">
            <a:extLst xmlns:a="http://schemas.openxmlformats.org/drawingml/2006/main">
              <a:ext uri="{FF2B5EF4-FFF2-40B4-BE49-F238E27FC236}">
                <a16:creationId xmlns:a16="http://schemas.microsoft.com/office/drawing/2014/main" id="{B013F0EC-6FE6-44F3-B760-A299C004AB11}"/>
              </a:ext>
            </a:extLst>
          </p:cNvPr>
          <p:cNvSpPr>
            <a:spLocks xmlns:a="http://schemas.openxmlformats.org/drawingml/2006/main" noGrp="1"/>
          </p:cNvSpPr>
          <p:nvPr/>
        </p:nvSpPr>
        <p:spPr>
          <a:xfrm xmlns:a="http://schemas.openxmlformats.org/drawingml/2006/main">
            <a:off x="685800" y="47625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Recursos fijos para comparar HPA</a:t>
            </a:r>
          </a:p>
        </p:txBody>
      </p:sp>
      <p:sp>
        <p:nvSpPr>
          <p:cNvPr id="8" name="">
            <a:extLst xmlns:a="http://schemas.openxmlformats.org/drawingml/2006/main">
              <a:ext uri="{FF2B5EF4-FFF2-40B4-BE49-F238E27FC236}">
                <a16:creationId xmlns:a16="http://schemas.microsoft.com/office/drawing/2014/main" id="{B26CD477-BEBA-4D07-B1C7-BDA5B257292E}"/>
              </a:ext>
            </a:extLst>
          </p:cNvPr>
          <p:cNvSpPr>
            <a:spLocks xmlns:a="http://schemas.openxmlformats.org/drawingml/2006/main" noGrp="1"/>
          </p:cNvSpPr>
          <p:nvPr/>
        </p:nvSpPr>
        <p:spPr>
          <a:xfrm xmlns:a="http://schemas.openxmlformats.org/drawingml/2006/main">
            <a:off x="6477000" y="28956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Estudia capacidad de nodos</a:t>
            </a:r>
          </a:p>
        </p:txBody>
      </p:sp>
      <p:sp>
        <p:nvSpPr>
          <p:cNvPr id="9" name="">
            <a:extLst xmlns:a="http://schemas.openxmlformats.org/drawingml/2006/main">
              <a:ext uri="{FF2B5EF4-FFF2-40B4-BE49-F238E27FC236}">
                <a16:creationId xmlns:a16="http://schemas.microsoft.com/office/drawing/2014/main" id="{C8A460CD-A44D-468C-A603-D4EDF9354AFE}"/>
              </a:ext>
            </a:extLst>
          </p:cNvPr>
          <p:cNvSpPr>
            <a:spLocks xmlns:a="http://schemas.openxmlformats.org/drawingml/2006/main" noGrp="1"/>
          </p:cNvSpPr>
          <p:nvPr/>
        </p:nvSpPr>
        <p:spPr>
          <a:xfrm xmlns:a="http://schemas.openxmlformats.org/drawingml/2006/main">
            <a:off x="6477000" y="382905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Depende del proveedor y del clúster</a:t>
            </a:r>
          </a:p>
        </p:txBody>
      </p:sp>
      <p:sp>
        <p:nvSpPr>
          <p:cNvPr id="10" name="">
            <a:extLst xmlns:a="http://schemas.openxmlformats.org/drawingml/2006/main">
              <a:ext uri="{FF2B5EF4-FFF2-40B4-BE49-F238E27FC236}">
                <a16:creationId xmlns:a16="http://schemas.microsoft.com/office/drawing/2014/main" id="{9C973687-51E8-4768-BEC0-BC5FEF0FD0FD}"/>
              </a:ext>
            </a:extLst>
          </p:cNvPr>
          <p:cNvSpPr>
            <a:spLocks xmlns:a="http://schemas.openxmlformats.org/drawingml/2006/main" noGrp="1"/>
          </p:cNvSpPr>
          <p:nvPr/>
        </p:nvSpPr>
        <p:spPr>
          <a:xfrm xmlns:a="http://schemas.openxmlformats.org/drawingml/2006/main">
            <a:off x="6477000" y="47625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Más nodos virtuales no crean hardware</a:t>
            </a:r>
          </a:p>
        </p:txBody>
      </p:sp>
      <p:sp>
        <p:nvSpPr>
          <p:cNvPr id="11" name="">
            <a:extLst xmlns:a="http://schemas.openxmlformats.org/drawingml/2006/main">
              <a:ext uri="{FF2B5EF4-FFF2-40B4-BE49-F238E27FC236}">
                <a16:creationId xmlns:a16="http://schemas.microsoft.com/office/drawing/2014/main" id="{C10B29D5-0776-46FD-9B72-A7B9B7E27808}"/>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09</a:t>
            </a:r>
          </a:p>
        </p:txBody>
      </p:sp>
    </p:spTree>
    <p:extLst>
      <p:ext uri="{BB962C8B-B14F-4D97-AF65-F5344CB8AC3E}">
        <p14:creationId xmlns:p14="http://schemas.microsoft.com/office/powerpoint/2010/main" val="8639508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29D1CA-1BF1-4BFF-ACEB-8A7A376DF662}"/>
              </a:ext>
            </a:extLst>
          </p:cNvPr>
          <p:cNvSpPr>
            <a:spLocks xmlns:a="http://schemas.openxmlformats.org/drawingml/2006/main" noGrp="1"/>
          </p:cNvSpPr>
          <p:nvPr/>
        </p:nvSpPr>
        <p:spPr>
          <a:xfrm xmlns:a="http://schemas.openxmlformats.org/drawingml/2006/main">
            <a:off x="685800" y="3238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555555"/>
                </a:solidFill>
                <a:latin typeface="Arial"/>
                <a:ea typeface="Arial"/>
                <a:cs typeface="Arial"/>
              </a:defRPr>
            </a:defPPr>
            <a:lvl1pPr algn="l">
              <a:defRPr sz="1275" b="1">
                <a:solidFill>
                  <a:srgbClr val="555555"/>
                </a:solidFill>
                <a:latin typeface="Arial"/>
                <a:ea typeface="Arial"/>
                <a:cs typeface="Arial"/>
              </a:defRPr>
            </a:lvl1pPr>
            <a:lvl2pPr algn="l">
              <a:defRPr sz="1275" b="1">
                <a:solidFill>
                  <a:srgbClr val="555555"/>
                </a:solidFill>
                <a:latin typeface="Arial"/>
                <a:ea typeface="Arial"/>
                <a:cs typeface="Arial"/>
              </a:defRPr>
            </a:lvl2pPr>
            <a:lvl3pPr algn="l">
              <a:defRPr sz="1275" b="1">
                <a:solidFill>
                  <a:srgbClr val="555555"/>
                </a:solidFill>
                <a:latin typeface="Arial"/>
                <a:ea typeface="Arial"/>
                <a:cs typeface="Arial"/>
              </a:defRPr>
            </a:lvl3pPr>
            <a:lvl4pPr algn="l">
              <a:defRPr sz="1275" b="1">
                <a:solidFill>
                  <a:srgbClr val="555555"/>
                </a:solidFill>
                <a:latin typeface="Arial"/>
                <a:ea typeface="Arial"/>
                <a:cs typeface="Arial"/>
              </a:defRPr>
            </a:lvl4pPr>
            <a:lvl5pPr algn="l">
              <a:defRPr sz="1275" b="1">
                <a:solidFill>
                  <a:srgbClr val="555555"/>
                </a:solidFill>
                <a:latin typeface="Arial"/>
                <a:ea typeface="Arial"/>
                <a:cs typeface="Arial"/>
              </a:defRPr>
            </a:lvl5pPr>
            <a:lvl6pPr algn="l">
              <a:defRPr sz="1275" b="1">
                <a:solidFill>
                  <a:srgbClr val="555555"/>
                </a:solidFill>
                <a:latin typeface="Arial"/>
                <a:ea typeface="Arial"/>
                <a:cs typeface="Arial"/>
              </a:defRPr>
            </a:lvl6pPr>
            <a:lvl7pPr algn="l">
              <a:defRPr sz="1275" b="1">
                <a:solidFill>
                  <a:srgbClr val="555555"/>
                </a:solidFill>
                <a:latin typeface="Arial"/>
                <a:ea typeface="Arial"/>
                <a:cs typeface="Arial"/>
              </a:defRPr>
            </a:lvl7pPr>
            <a:lvl8pPr algn="l">
              <a:defRPr sz="1275" b="1">
                <a:solidFill>
                  <a:srgbClr val="555555"/>
                </a:solidFill>
                <a:latin typeface="Arial"/>
                <a:ea typeface="Arial"/>
                <a:cs typeface="Arial"/>
              </a:defRPr>
            </a:lvl8pPr>
            <a:lvl9pPr algn="l">
              <a:defRPr sz="1275" b="1">
                <a:solidFill>
                  <a:srgbClr val="555555"/>
                </a:solidFill>
                <a:latin typeface="Arial"/>
                <a:ea typeface="Arial"/>
                <a:cs typeface="Arial"/>
              </a:defRPr>
            </a:lvl9pPr>
          </a:lstStyle>
          <a:p xmlns:a="http://schemas.openxmlformats.org/drawingml/2006/main">
            <a:pPr algn="l">
              <a:defRPr sz="1275" b="1">
                <a:solidFill>
                  <a:srgbClr val="555555"/>
                </a:solidFill>
                <a:latin typeface="Arial"/>
                <a:ea typeface="Arial"/>
                <a:cs typeface="Arial"/>
              </a:defRPr>
            </a:pPr>
            <a:r>
              <a:rPr sz="1275" b="1">
                <a:solidFill>
                  <a:srgbClr val="555555"/>
                </a:solidFill>
                <a:latin typeface="Arial"/>
                <a:ea typeface="Arial"/>
                <a:cs typeface="Arial"/>
              </a:rPr>
              <a:t>G2 · Escalabilidad y Autoescalado</a:t>
            </a:r>
          </a:p>
        </p:txBody>
      </p:sp>
      <p:sp>
        <p:nvSpPr>
          <p:cNvPr id="2" name="">
            <a:extLst xmlns:a="http://schemas.openxmlformats.org/drawingml/2006/main">
              <a:ext uri="{FF2B5EF4-FFF2-40B4-BE49-F238E27FC236}">
                <a16:creationId xmlns:a16="http://schemas.microsoft.com/office/drawing/2014/main" id="{F4B5DE10-6CE3-479E-96E5-BE6ED3BB2B00}"/>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Comparación para evaluar el autoescalado</a:t>
            </a:r>
          </a:p>
        </p:txBody>
      </p:sp>
      <p:sp>
        <p:nvSpPr>
          <p:cNvPr id="3" name="">
            <a:extLst xmlns:a="http://schemas.openxmlformats.org/drawingml/2006/main">
              <a:ext uri="{FF2B5EF4-FFF2-40B4-BE49-F238E27FC236}">
                <a16:creationId xmlns:a16="http://schemas.microsoft.com/office/drawing/2014/main" id="{4923AD1D-16BF-4113-A921-45C9A67E25B9}"/>
              </a:ext>
            </a:extLst>
          </p:cNvPr>
          <p:cNvSpPr>
            <a:spLocks xmlns:a="http://schemas.openxmlformats.org/drawingml/2006/main" noGrp="1"/>
          </p:cNvSpPr>
          <p:nvPr/>
        </p:nvSpPr>
        <p:spPr>
          <a:xfrm xmlns:a="http://schemas.openxmlformats.org/drawingml/2006/main">
            <a:off x="685800" y="2076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111111"/>
                </a:solidFill>
                <a:latin typeface="Arial"/>
                <a:ea typeface="Arial"/>
                <a:cs typeface="Arial"/>
              </a:defRPr>
            </a:defPPr>
            <a:lvl1pPr algn="l">
              <a:defRPr sz="2400" b="1">
                <a:solidFill>
                  <a:srgbClr val="111111"/>
                </a:solidFill>
                <a:latin typeface="Arial"/>
                <a:ea typeface="Arial"/>
                <a:cs typeface="Arial"/>
              </a:defRPr>
            </a:lvl1pPr>
            <a:lvl2pPr algn="l">
              <a:defRPr sz="2400" b="1">
                <a:solidFill>
                  <a:srgbClr val="111111"/>
                </a:solidFill>
                <a:latin typeface="Arial"/>
                <a:ea typeface="Arial"/>
                <a:cs typeface="Arial"/>
              </a:defRPr>
            </a:lvl2pPr>
            <a:lvl3pPr algn="l">
              <a:defRPr sz="2400" b="1">
                <a:solidFill>
                  <a:srgbClr val="111111"/>
                </a:solidFill>
                <a:latin typeface="Arial"/>
                <a:ea typeface="Arial"/>
                <a:cs typeface="Arial"/>
              </a:defRPr>
            </a:lvl3pPr>
            <a:lvl4pPr algn="l">
              <a:defRPr sz="2400" b="1">
                <a:solidFill>
                  <a:srgbClr val="111111"/>
                </a:solidFill>
                <a:latin typeface="Arial"/>
                <a:ea typeface="Arial"/>
                <a:cs typeface="Arial"/>
              </a:defRPr>
            </a:lvl4pPr>
            <a:lvl5pPr algn="l">
              <a:defRPr sz="2400" b="1">
                <a:solidFill>
                  <a:srgbClr val="111111"/>
                </a:solidFill>
                <a:latin typeface="Arial"/>
                <a:ea typeface="Arial"/>
                <a:cs typeface="Arial"/>
              </a:defRPr>
            </a:lvl5pPr>
            <a:lvl6pPr algn="l">
              <a:defRPr sz="2400" b="1">
                <a:solidFill>
                  <a:srgbClr val="111111"/>
                </a:solidFill>
                <a:latin typeface="Arial"/>
                <a:ea typeface="Arial"/>
                <a:cs typeface="Arial"/>
              </a:defRPr>
            </a:lvl6pPr>
            <a:lvl7pPr algn="l">
              <a:defRPr sz="2400" b="1">
                <a:solidFill>
                  <a:srgbClr val="111111"/>
                </a:solidFill>
                <a:latin typeface="Arial"/>
                <a:ea typeface="Arial"/>
                <a:cs typeface="Arial"/>
              </a:defRPr>
            </a:lvl7pPr>
            <a:lvl8pPr algn="l">
              <a:defRPr sz="2400" b="1">
                <a:solidFill>
                  <a:srgbClr val="111111"/>
                </a:solidFill>
                <a:latin typeface="Arial"/>
                <a:ea typeface="Arial"/>
                <a:cs typeface="Arial"/>
              </a:defRPr>
            </a:lvl8pPr>
            <a:lvl9pPr algn="l">
              <a:defRPr sz="2400" b="1">
                <a:solidFill>
                  <a:srgbClr val="111111"/>
                </a:solidFill>
                <a:latin typeface="Arial"/>
                <a:ea typeface="Arial"/>
                <a:cs typeface="Arial"/>
              </a:defRPr>
            </a:lvl9pPr>
          </a:lstStyle>
          <a:p xmlns:a="http://schemas.openxmlformats.org/drawingml/2006/main">
            <a:pPr algn="l">
              <a:defRPr sz="2400" b="1">
                <a:solidFill>
                  <a:srgbClr val="111111"/>
                </a:solidFill>
                <a:latin typeface="Arial"/>
                <a:ea typeface="Arial"/>
                <a:cs typeface="Arial"/>
              </a:defRPr>
            </a:pPr>
            <a:r>
              <a:rPr sz="2400" b="1">
                <a:solidFill>
                  <a:srgbClr val="111111"/>
                </a:solidFill>
                <a:latin typeface="Arial"/>
                <a:ea typeface="Arial"/>
                <a:cs typeface="Arial"/>
              </a:rPr>
              <a:t>Capacidad fija frente a HPA de API</a:t>
            </a:r>
          </a:p>
        </p:txBody>
      </p:sp>
      <p:sp>
        <p:nvSpPr>
          <p:cNvPr id="4" name="">
            <a:extLst xmlns:a="http://schemas.openxmlformats.org/drawingml/2006/main">
              <a:ext uri="{FF2B5EF4-FFF2-40B4-BE49-F238E27FC236}">
                <a16:creationId xmlns:a16="http://schemas.microsoft.com/office/drawing/2014/main" id="{594E3A32-DB37-4B03-B622-C2814895EEF3}"/>
              </a:ext>
            </a:extLst>
          </p:cNvPr>
          <p:cNvSpPr>
            <a:spLocks xmlns:a="http://schemas.openxmlformats.org/drawingml/2006/main" noGrp="1"/>
          </p:cNvSpPr>
          <p:nvPr/>
        </p:nvSpPr>
        <p:spPr>
          <a:xfrm xmlns:a="http://schemas.openxmlformats.org/drawingml/2006/main">
            <a:off x="857250" y="33337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Misma aplicación datos y perfil de carga</a:t>
            </a:r>
          </a:p>
        </p:txBody>
      </p:sp>
      <p:sp>
        <p:nvSpPr>
          <p:cNvPr id="5" name="">
            <a:extLst xmlns:a="http://schemas.openxmlformats.org/drawingml/2006/main">
              <a:ext uri="{FF2B5EF4-FFF2-40B4-BE49-F238E27FC236}">
                <a16:creationId xmlns:a16="http://schemas.microsoft.com/office/drawing/2014/main" id="{0354DE4F-0D8D-4720-89BC-831317B5C997}"/>
              </a:ext>
            </a:extLst>
          </p:cNvPr>
          <p:cNvSpPr>
            <a:spLocks xmlns:a="http://schemas.openxmlformats.org/drawingml/2006/main" noGrp="1"/>
          </p:cNvSpPr>
          <p:nvPr/>
        </p:nvSpPr>
        <p:spPr>
          <a:xfrm xmlns:a="http://schemas.openxmlformats.org/drawingml/2006/main">
            <a:off x="857250" y="41719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Registrar réplicas listas tiempo de reacción y recursos</a:t>
            </a:r>
          </a:p>
        </p:txBody>
      </p:sp>
      <p:sp>
        <p:nvSpPr>
          <p:cNvPr id="6" name="">
            <a:extLst xmlns:a="http://schemas.openxmlformats.org/drawingml/2006/main">
              <a:ext uri="{FF2B5EF4-FFF2-40B4-BE49-F238E27FC236}">
                <a16:creationId xmlns:a16="http://schemas.microsoft.com/office/drawing/2014/main" id="{8B54EFE9-4B66-44D9-886D-C35CD5A151AF}"/>
              </a:ext>
            </a:extLst>
          </p:cNvPr>
          <p:cNvSpPr>
            <a:spLocks xmlns:a="http://schemas.openxmlformats.org/drawingml/2006/main" noGrp="1"/>
          </p:cNvSpPr>
          <p:nvPr/>
        </p:nvSpPr>
        <p:spPr>
          <a:xfrm xmlns:a="http://schemas.openxmlformats.org/drawingml/2006/main">
            <a:off x="857250" y="50101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Agregar Kafka y KEDA en una etapa separada</a:t>
            </a:r>
          </a:p>
        </p:txBody>
      </p:sp>
      <p:sp>
        <p:nvSpPr>
          <p:cNvPr id="7" name="">
            <a:extLst xmlns:a="http://schemas.openxmlformats.org/drawingml/2006/main">
              <a:ext uri="{FF2B5EF4-FFF2-40B4-BE49-F238E27FC236}">
                <a16:creationId xmlns:a16="http://schemas.microsoft.com/office/drawing/2014/main" id="{D9C0FBBD-3009-4201-8389-8EB75AD09F1A}"/>
              </a:ext>
            </a:extLst>
          </p:cNvPr>
          <p:cNvSpPr>
            <a:spLocks xmlns:a="http://schemas.openxmlformats.org/drawingml/2006/main" noGrp="1"/>
          </p:cNvSpPr>
          <p:nvPr/>
        </p:nvSpPr>
        <p:spPr>
          <a:xfrm xmlns:a="http://schemas.openxmlformats.org/drawingml/2006/main">
            <a:off x="685800" y="61531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G2 entrega políticas y configuración; G6 coordina las corridas</a:t>
            </a:r>
          </a:p>
        </p:txBody>
      </p:sp>
      <p:sp>
        <p:nvSpPr>
          <p:cNvPr id="8" name="">
            <a:extLst xmlns:a="http://schemas.openxmlformats.org/drawingml/2006/main">
              <a:ext uri="{FF2B5EF4-FFF2-40B4-BE49-F238E27FC236}">
                <a16:creationId xmlns:a16="http://schemas.microsoft.com/office/drawing/2014/main" id="{E6B53637-E44B-4C76-A73B-6D18B100D0F7}"/>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10</a:t>
            </a:r>
          </a:p>
        </p:txBody>
      </p:sp>
    </p:spTree>
    <p:extLst>
      <p:ext uri="{BB962C8B-B14F-4D97-AF65-F5344CB8AC3E}">
        <p14:creationId xmlns:p14="http://schemas.microsoft.com/office/powerpoint/2010/main" val="23660296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173F3C7-D021-427E-8013-4132B8AFEAAD}"/>
              </a:ext>
            </a:extLst>
          </p:cNvPr>
          <p:cNvSpPr>
            <a:spLocks xmlns:a="http://schemas.openxmlformats.org/drawingml/2006/main" noGrp="1"/>
          </p:cNvSpPr>
          <p:nvPr/>
        </p:nvSpPr>
        <p:spPr>
          <a:xfrm xmlns:a="http://schemas.openxmlformats.org/drawingml/2006/main">
            <a:off x="685800" y="3238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555555"/>
                </a:solidFill>
                <a:latin typeface="Arial"/>
                <a:ea typeface="Arial"/>
                <a:cs typeface="Arial"/>
              </a:defRPr>
            </a:defPPr>
            <a:lvl1pPr algn="l">
              <a:defRPr sz="1275" b="1">
                <a:solidFill>
                  <a:srgbClr val="555555"/>
                </a:solidFill>
                <a:latin typeface="Arial"/>
                <a:ea typeface="Arial"/>
                <a:cs typeface="Arial"/>
              </a:defRPr>
            </a:lvl1pPr>
            <a:lvl2pPr algn="l">
              <a:defRPr sz="1275" b="1">
                <a:solidFill>
                  <a:srgbClr val="555555"/>
                </a:solidFill>
                <a:latin typeface="Arial"/>
                <a:ea typeface="Arial"/>
                <a:cs typeface="Arial"/>
              </a:defRPr>
            </a:lvl2pPr>
            <a:lvl3pPr algn="l">
              <a:defRPr sz="1275" b="1">
                <a:solidFill>
                  <a:srgbClr val="555555"/>
                </a:solidFill>
                <a:latin typeface="Arial"/>
                <a:ea typeface="Arial"/>
                <a:cs typeface="Arial"/>
              </a:defRPr>
            </a:lvl3pPr>
            <a:lvl4pPr algn="l">
              <a:defRPr sz="1275" b="1">
                <a:solidFill>
                  <a:srgbClr val="555555"/>
                </a:solidFill>
                <a:latin typeface="Arial"/>
                <a:ea typeface="Arial"/>
                <a:cs typeface="Arial"/>
              </a:defRPr>
            </a:lvl4pPr>
            <a:lvl5pPr algn="l">
              <a:defRPr sz="1275" b="1">
                <a:solidFill>
                  <a:srgbClr val="555555"/>
                </a:solidFill>
                <a:latin typeface="Arial"/>
                <a:ea typeface="Arial"/>
                <a:cs typeface="Arial"/>
              </a:defRPr>
            </a:lvl5pPr>
            <a:lvl6pPr algn="l">
              <a:defRPr sz="1275" b="1">
                <a:solidFill>
                  <a:srgbClr val="555555"/>
                </a:solidFill>
                <a:latin typeface="Arial"/>
                <a:ea typeface="Arial"/>
                <a:cs typeface="Arial"/>
              </a:defRPr>
            </a:lvl6pPr>
            <a:lvl7pPr algn="l">
              <a:defRPr sz="1275" b="1">
                <a:solidFill>
                  <a:srgbClr val="555555"/>
                </a:solidFill>
                <a:latin typeface="Arial"/>
                <a:ea typeface="Arial"/>
                <a:cs typeface="Arial"/>
              </a:defRPr>
            </a:lvl7pPr>
            <a:lvl8pPr algn="l">
              <a:defRPr sz="1275" b="1">
                <a:solidFill>
                  <a:srgbClr val="555555"/>
                </a:solidFill>
                <a:latin typeface="Arial"/>
                <a:ea typeface="Arial"/>
                <a:cs typeface="Arial"/>
              </a:defRPr>
            </a:lvl8pPr>
            <a:lvl9pPr algn="l">
              <a:defRPr sz="1275" b="1">
                <a:solidFill>
                  <a:srgbClr val="555555"/>
                </a:solidFill>
                <a:latin typeface="Arial"/>
                <a:ea typeface="Arial"/>
                <a:cs typeface="Arial"/>
              </a:defRPr>
            </a:lvl9pPr>
          </a:lstStyle>
          <a:p xmlns:a="http://schemas.openxmlformats.org/drawingml/2006/main">
            <a:pPr algn="l">
              <a:defRPr sz="1275" b="1">
                <a:solidFill>
                  <a:srgbClr val="555555"/>
                </a:solidFill>
                <a:latin typeface="Arial"/>
                <a:ea typeface="Arial"/>
                <a:cs typeface="Arial"/>
              </a:defRPr>
            </a:pPr>
            <a:r>
              <a:rPr sz="1275" b="1">
                <a:solidFill>
                  <a:srgbClr val="555555"/>
                </a:solidFill>
                <a:latin typeface="Arial"/>
                <a:ea typeface="Arial"/>
                <a:cs typeface="Arial"/>
              </a:rPr>
              <a:t>G3 · Resiliencia Disponibilidad y Seguridad</a:t>
            </a:r>
          </a:p>
        </p:txBody>
      </p:sp>
      <p:sp>
        <p:nvSpPr>
          <p:cNvPr id="2" name="">
            <a:extLst xmlns:a="http://schemas.openxmlformats.org/drawingml/2006/main">
              <a:ext uri="{FF2B5EF4-FFF2-40B4-BE49-F238E27FC236}">
                <a16:creationId xmlns:a16="http://schemas.microsoft.com/office/drawing/2014/main" id="{6453516C-5335-40DB-9ECD-D0C0AF0850CB}"/>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Resiliencia de una operación de reserva</a:t>
            </a:r>
          </a:p>
        </p:txBody>
      </p:sp>
      <p:sp>
        <p:nvSpPr>
          <p:cNvPr id="3" name="">
            <a:extLst xmlns:a="http://schemas.openxmlformats.org/drawingml/2006/main">
              <a:ext uri="{FF2B5EF4-FFF2-40B4-BE49-F238E27FC236}">
                <a16:creationId xmlns:a16="http://schemas.microsoft.com/office/drawing/2014/main" id="{0B67904A-2090-4779-BDFE-41DA79628189}"/>
              </a:ext>
            </a:extLst>
          </p:cNvPr>
          <p:cNvSpPr>
            <a:spLocks xmlns:a="http://schemas.openxmlformats.org/drawingml/2006/main" noGrp="1"/>
          </p:cNvSpPr>
          <p:nvPr/>
        </p:nvSpPr>
        <p:spPr>
          <a:xfrm xmlns:a="http://schemas.openxmlformats.org/drawingml/2006/main">
            <a:off x="685800" y="207645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Fallos del servicio</a:t>
            </a:r>
          </a:p>
        </p:txBody>
      </p:sp>
      <p:sp>
        <p:nvSpPr>
          <p:cNvPr id="4" name="">
            <a:extLst xmlns:a="http://schemas.openxmlformats.org/drawingml/2006/main">
              <a:ext uri="{FF2B5EF4-FFF2-40B4-BE49-F238E27FC236}">
                <a16:creationId xmlns:a16="http://schemas.microsoft.com/office/drawing/2014/main" id="{1BC4D3B7-C767-4B5F-9D61-1CD675DACB59}"/>
              </a:ext>
            </a:extLst>
          </p:cNvPr>
          <p:cNvSpPr>
            <a:spLocks xmlns:a="http://schemas.openxmlformats.org/drawingml/2006/main" noGrp="1"/>
          </p:cNvSpPr>
          <p:nvPr/>
        </p:nvSpPr>
        <p:spPr>
          <a:xfrm xmlns:a="http://schemas.openxmlformats.org/drawingml/2006/main">
            <a:off x="6477000" y="2076450"/>
            <a:ext cx="502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Garantías del negocio</a:t>
            </a:r>
          </a:p>
        </p:txBody>
      </p:sp>
      <p:sp>
        <p:nvSpPr>
          <p:cNvPr id="5" name="">
            <a:extLst xmlns:a="http://schemas.openxmlformats.org/drawingml/2006/main">
              <a:ext uri="{FF2B5EF4-FFF2-40B4-BE49-F238E27FC236}">
                <a16:creationId xmlns:a16="http://schemas.microsoft.com/office/drawing/2014/main" id="{0254C3FB-5473-4EF9-BFCF-9827D550125C}"/>
              </a:ext>
            </a:extLst>
          </p:cNvPr>
          <p:cNvSpPr>
            <a:spLocks xmlns:a="http://schemas.openxmlformats.org/drawingml/2006/main" noGrp="1"/>
          </p:cNvSpPr>
          <p:nvPr/>
        </p:nvSpPr>
        <p:spPr>
          <a:xfrm xmlns:a="http://schemas.openxmlformats.org/drawingml/2006/main">
            <a:off x="685800" y="28956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Frontend API base worker y red</a:t>
            </a:r>
          </a:p>
        </p:txBody>
      </p:sp>
      <p:sp>
        <p:nvSpPr>
          <p:cNvPr id="6" name="">
            <a:extLst xmlns:a="http://schemas.openxmlformats.org/drawingml/2006/main">
              <a:ext uri="{FF2B5EF4-FFF2-40B4-BE49-F238E27FC236}">
                <a16:creationId xmlns:a16="http://schemas.microsoft.com/office/drawing/2014/main" id="{8A49EDF5-2149-4728-B568-F6BD2706462D}"/>
              </a:ext>
            </a:extLst>
          </p:cNvPr>
          <p:cNvSpPr>
            <a:spLocks xmlns:a="http://schemas.openxmlformats.org/drawingml/2006/main" noGrp="1"/>
          </p:cNvSpPr>
          <p:nvPr/>
        </p:nvSpPr>
        <p:spPr>
          <a:xfrm xmlns:a="http://schemas.openxmlformats.org/drawingml/2006/main">
            <a:off x="685800" y="382905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Startup readiness y liveness</a:t>
            </a:r>
          </a:p>
        </p:txBody>
      </p:sp>
      <p:sp>
        <p:nvSpPr>
          <p:cNvPr id="7" name="">
            <a:extLst xmlns:a="http://schemas.openxmlformats.org/drawingml/2006/main">
              <a:ext uri="{FF2B5EF4-FFF2-40B4-BE49-F238E27FC236}">
                <a16:creationId xmlns:a16="http://schemas.microsoft.com/office/drawing/2014/main" id="{50FAE821-771C-4159-A2D7-75A797DAEDFB}"/>
              </a:ext>
            </a:extLst>
          </p:cNvPr>
          <p:cNvSpPr>
            <a:spLocks xmlns:a="http://schemas.openxmlformats.org/drawingml/2006/main" noGrp="1"/>
          </p:cNvSpPr>
          <p:nvPr/>
        </p:nvSpPr>
        <p:spPr>
          <a:xfrm xmlns:a="http://schemas.openxmlformats.org/drawingml/2006/main">
            <a:off x="685800" y="47625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PDB para ciertas interrupciones voluntarias</a:t>
            </a:r>
          </a:p>
        </p:txBody>
      </p:sp>
      <p:sp>
        <p:nvSpPr>
          <p:cNvPr id="8" name="">
            <a:extLst xmlns:a="http://schemas.openxmlformats.org/drawingml/2006/main">
              <a:ext uri="{FF2B5EF4-FFF2-40B4-BE49-F238E27FC236}">
                <a16:creationId xmlns:a16="http://schemas.microsoft.com/office/drawing/2014/main" id="{90DDEDE8-F2EB-4E5E-9151-DEC31BFA4950}"/>
              </a:ext>
            </a:extLst>
          </p:cNvPr>
          <p:cNvSpPr>
            <a:spLocks xmlns:a="http://schemas.openxmlformats.org/drawingml/2006/main" noGrp="1"/>
          </p:cNvSpPr>
          <p:nvPr/>
        </p:nvSpPr>
        <p:spPr>
          <a:xfrm xmlns:a="http://schemas.openxmlformats.org/drawingml/2006/main">
            <a:off x="6477000" y="28956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No confirmar inventario inexistente</a:t>
            </a:r>
          </a:p>
        </p:txBody>
      </p:sp>
      <p:sp>
        <p:nvSpPr>
          <p:cNvPr id="9" name="">
            <a:extLst xmlns:a="http://schemas.openxmlformats.org/drawingml/2006/main">
              <a:ext uri="{FF2B5EF4-FFF2-40B4-BE49-F238E27FC236}">
                <a16:creationId xmlns:a16="http://schemas.microsoft.com/office/drawing/2014/main" id="{A06E6B86-8A86-47C8-AF07-E86FDE14E55C}"/>
              </a:ext>
            </a:extLst>
          </p:cNvPr>
          <p:cNvSpPr>
            <a:spLocks xmlns:a="http://schemas.openxmlformats.org/drawingml/2006/main" noGrp="1"/>
          </p:cNvSpPr>
          <p:nvPr/>
        </p:nvSpPr>
        <p:spPr>
          <a:xfrm xmlns:a="http://schemas.openxmlformats.org/drawingml/2006/main">
            <a:off x="6477000" y="382905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Conservar intención incierta</a:t>
            </a:r>
          </a:p>
        </p:txBody>
      </p:sp>
      <p:sp>
        <p:nvSpPr>
          <p:cNvPr id="10" name="">
            <a:extLst xmlns:a="http://schemas.openxmlformats.org/drawingml/2006/main">
              <a:ext uri="{FF2B5EF4-FFF2-40B4-BE49-F238E27FC236}">
                <a16:creationId xmlns:a16="http://schemas.microsoft.com/office/drawing/2014/main" id="{2E4E3AA4-EF84-4FC3-A40F-D34C90B4EE4A}"/>
              </a:ext>
            </a:extLst>
          </p:cNvPr>
          <p:cNvSpPr>
            <a:spLocks xmlns:a="http://schemas.openxmlformats.org/drawingml/2006/main" noGrp="1"/>
          </p:cNvSpPr>
          <p:nvPr/>
        </p:nvSpPr>
        <p:spPr>
          <a:xfrm xmlns:a="http://schemas.openxmlformats.org/drawingml/2006/main">
            <a:off x="6477000" y="47625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Reenviar sin duplicar el descuento</a:t>
            </a:r>
          </a:p>
        </p:txBody>
      </p:sp>
      <p:sp>
        <p:nvSpPr>
          <p:cNvPr id="11" name="">
            <a:extLst xmlns:a="http://schemas.openxmlformats.org/drawingml/2006/main">
              <a:ext uri="{FF2B5EF4-FFF2-40B4-BE49-F238E27FC236}">
                <a16:creationId xmlns:a16="http://schemas.microsoft.com/office/drawing/2014/main" id="{A1E2007C-ABDD-4DB5-B425-C3218C2DBF3E}"/>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11</a:t>
            </a:r>
          </a:p>
        </p:txBody>
      </p:sp>
    </p:spTree>
    <p:extLst>
      <p:ext uri="{BB962C8B-B14F-4D97-AF65-F5344CB8AC3E}">
        <p14:creationId xmlns:p14="http://schemas.microsoft.com/office/powerpoint/2010/main" val="615769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ABA0798-72DB-4295-AB50-3F8B96872118}"/>
              </a:ext>
            </a:extLst>
          </p:cNvPr>
          <p:cNvSpPr>
            <a:spLocks xmlns:a="http://schemas.openxmlformats.org/drawingml/2006/main" noGrp="1"/>
          </p:cNvSpPr>
          <p:nvPr/>
        </p:nvSpPr>
        <p:spPr>
          <a:xfrm xmlns:a="http://schemas.openxmlformats.org/drawingml/2006/main">
            <a:off x="685800" y="3238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555555"/>
                </a:solidFill>
                <a:latin typeface="Arial"/>
                <a:ea typeface="Arial"/>
                <a:cs typeface="Arial"/>
              </a:defRPr>
            </a:defPPr>
            <a:lvl1pPr algn="l">
              <a:defRPr sz="1275" b="1">
                <a:solidFill>
                  <a:srgbClr val="555555"/>
                </a:solidFill>
                <a:latin typeface="Arial"/>
                <a:ea typeface="Arial"/>
                <a:cs typeface="Arial"/>
              </a:defRPr>
            </a:lvl1pPr>
            <a:lvl2pPr algn="l">
              <a:defRPr sz="1275" b="1">
                <a:solidFill>
                  <a:srgbClr val="555555"/>
                </a:solidFill>
                <a:latin typeface="Arial"/>
                <a:ea typeface="Arial"/>
                <a:cs typeface="Arial"/>
              </a:defRPr>
            </a:lvl2pPr>
            <a:lvl3pPr algn="l">
              <a:defRPr sz="1275" b="1">
                <a:solidFill>
                  <a:srgbClr val="555555"/>
                </a:solidFill>
                <a:latin typeface="Arial"/>
                <a:ea typeface="Arial"/>
                <a:cs typeface="Arial"/>
              </a:defRPr>
            </a:lvl3pPr>
            <a:lvl4pPr algn="l">
              <a:defRPr sz="1275" b="1">
                <a:solidFill>
                  <a:srgbClr val="555555"/>
                </a:solidFill>
                <a:latin typeface="Arial"/>
                <a:ea typeface="Arial"/>
                <a:cs typeface="Arial"/>
              </a:defRPr>
            </a:lvl4pPr>
            <a:lvl5pPr algn="l">
              <a:defRPr sz="1275" b="1">
                <a:solidFill>
                  <a:srgbClr val="555555"/>
                </a:solidFill>
                <a:latin typeface="Arial"/>
                <a:ea typeface="Arial"/>
                <a:cs typeface="Arial"/>
              </a:defRPr>
            </a:lvl5pPr>
            <a:lvl6pPr algn="l">
              <a:defRPr sz="1275" b="1">
                <a:solidFill>
                  <a:srgbClr val="555555"/>
                </a:solidFill>
                <a:latin typeface="Arial"/>
                <a:ea typeface="Arial"/>
                <a:cs typeface="Arial"/>
              </a:defRPr>
            </a:lvl6pPr>
            <a:lvl7pPr algn="l">
              <a:defRPr sz="1275" b="1">
                <a:solidFill>
                  <a:srgbClr val="555555"/>
                </a:solidFill>
                <a:latin typeface="Arial"/>
                <a:ea typeface="Arial"/>
                <a:cs typeface="Arial"/>
              </a:defRPr>
            </a:lvl7pPr>
            <a:lvl8pPr algn="l">
              <a:defRPr sz="1275" b="1">
                <a:solidFill>
                  <a:srgbClr val="555555"/>
                </a:solidFill>
                <a:latin typeface="Arial"/>
                <a:ea typeface="Arial"/>
                <a:cs typeface="Arial"/>
              </a:defRPr>
            </a:lvl8pPr>
            <a:lvl9pPr algn="l">
              <a:defRPr sz="1275" b="1">
                <a:solidFill>
                  <a:srgbClr val="555555"/>
                </a:solidFill>
                <a:latin typeface="Arial"/>
                <a:ea typeface="Arial"/>
                <a:cs typeface="Arial"/>
              </a:defRPr>
            </a:lvl9pPr>
          </a:lstStyle>
          <a:p xmlns:a="http://schemas.openxmlformats.org/drawingml/2006/main">
            <a:pPr algn="l">
              <a:defRPr sz="1275" b="1">
                <a:solidFill>
                  <a:srgbClr val="555555"/>
                </a:solidFill>
                <a:latin typeface="Arial"/>
                <a:ea typeface="Arial"/>
                <a:cs typeface="Arial"/>
              </a:defRPr>
            </a:pPr>
            <a:r>
              <a:rPr sz="1275" b="1">
                <a:solidFill>
                  <a:srgbClr val="555555"/>
                </a:solidFill>
                <a:latin typeface="Arial"/>
                <a:ea typeface="Arial"/>
                <a:cs typeface="Arial"/>
              </a:rPr>
              <a:t>G3 · Resiliencia Disponibilidad y Seguridad</a:t>
            </a:r>
          </a:p>
        </p:txBody>
      </p:sp>
      <p:sp>
        <p:nvSpPr>
          <p:cNvPr id="2" name="">
            <a:extLst xmlns:a="http://schemas.openxmlformats.org/drawingml/2006/main">
              <a:ext uri="{FF2B5EF4-FFF2-40B4-BE49-F238E27FC236}">
                <a16:creationId xmlns:a16="http://schemas.microsoft.com/office/drawing/2014/main" id="{C8EDA842-BFB9-4BD5-A3A3-2BBA777B6E01}"/>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Seguridad y Service Mesh</a:t>
            </a:r>
          </a:p>
        </p:txBody>
      </p:sp>
      <p:sp>
        <p:nvSpPr>
          <p:cNvPr id="3" name="">
            <a:extLst xmlns:a="http://schemas.openxmlformats.org/drawingml/2006/main">
              <a:ext uri="{FF2B5EF4-FFF2-40B4-BE49-F238E27FC236}">
                <a16:creationId xmlns:a16="http://schemas.microsoft.com/office/drawing/2014/main" id="{F9E32F75-6091-4085-B450-C9CEBD34D680}"/>
              </a:ext>
            </a:extLst>
          </p:cNvPr>
          <p:cNvSpPr>
            <a:spLocks xmlns:a="http://schemas.openxmlformats.org/drawingml/2006/main" noGrp="1"/>
          </p:cNvSpPr>
          <p:nvPr/>
        </p:nvSpPr>
        <p:spPr>
          <a:xfrm xmlns:a="http://schemas.openxmlformats.org/drawingml/2006/main">
            <a:off x="685800" y="207645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Controles del caso</a:t>
            </a:r>
          </a:p>
        </p:txBody>
      </p:sp>
      <p:sp>
        <p:nvSpPr>
          <p:cNvPr id="4" name="">
            <a:extLst xmlns:a="http://schemas.openxmlformats.org/drawingml/2006/main">
              <a:ext uri="{FF2B5EF4-FFF2-40B4-BE49-F238E27FC236}">
                <a16:creationId xmlns:a16="http://schemas.microsoft.com/office/drawing/2014/main" id="{AA473888-CE8D-4181-AD1E-444EB86E6819}"/>
              </a:ext>
            </a:extLst>
          </p:cNvPr>
          <p:cNvSpPr>
            <a:spLocks xmlns:a="http://schemas.openxmlformats.org/drawingml/2006/main" noGrp="1"/>
          </p:cNvSpPr>
          <p:nvPr/>
        </p:nvSpPr>
        <p:spPr>
          <a:xfrm xmlns:a="http://schemas.openxmlformats.org/drawingml/2006/main">
            <a:off x="6477000" y="2076450"/>
            <a:ext cx="502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Validación de plataforma</a:t>
            </a:r>
          </a:p>
        </p:txBody>
      </p:sp>
      <p:sp>
        <p:nvSpPr>
          <p:cNvPr id="5" name="">
            <a:extLst xmlns:a="http://schemas.openxmlformats.org/drawingml/2006/main">
              <a:ext uri="{FF2B5EF4-FFF2-40B4-BE49-F238E27FC236}">
                <a16:creationId xmlns:a16="http://schemas.microsoft.com/office/drawing/2014/main" id="{6A2EC832-1728-49C6-8A09-432DE9D2BDC9}"/>
              </a:ext>
            </a:extLst>
          </p:cNvPr>
          <p:cNvSpPr>
            <a:spLocks xmlns:a="http://schemas.openxmlformats.org/drawingml/2006/main" noGrp="1"/>
          </p:cNvSpPr>
          <p:nvPr/>
        </p:nvSpPr>
        <p:spPr>
          <a:xfrm xmlns:a="http://schemas.openxmlformats.org/drawingml/2006/main">
            <a:off x="685800" y="28956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Clave temporal solo en memoria</a:t>
            </a:r>
          </a:p>
        </p:txBody>
      </p:sp>
      <p:sp>
        <p:nvSpPr>
          <p:cNvPr id="6" name="">
            <a:extLst xmlns:a="http://schemas.openxmlformats.org/drawingml/2006/main">
              <a:ext uri="{FF2B5EF4-FFF2-40B4-BE49-F238E27FC236}">
                <a16:creationId xmlns:a16="http://schemas.microsoft.com/office/drawing/2014/main" id="{F0343B82-BC29-4D19-A7E6-E24E8C114FB5}"/>
              </a:ext>
            </a:extLst>
          </p:cNvPr>
          <p:cNvSpPr>
            <a:spLocks xmlns:a="http://schemas.openxmlformats.org/drawingml/2006/main" noGrp="1"/>
          </p:cNvSpPr>
          <p:nvPr/>
        </p:nvSpPr>
        <p:spPr>
          <a:xfrm xmlns:a="http://schemas.openxmlformats.org/drawingml/2006/main">
            <a:off x="685800" y="382905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Consulta autorizada por propietario</a:t>
            </a:r>
          </a:p>
        </p:txBody>
      </p:sp>
      <p:sp>
        <p:nvSpPr>
          <p:cNvPr id="7" name="">
            <a:extLst xmlns:a="http://schemas.openxmlformats.org/drawingml/2006/main">
              <a:ext uri="{FF2B5EF4-FFF2-40B4-BE49-F238E27FC236}">
                <a16:creationId xmlns:a16="http://schemas.microsoft.com/office/drawing/2014/main" id="{53B52780-0612-4335-93BA-12A7F721E110}"/>
              </a:ext>
            </a:extLst>
          </p:cNvPr>
          <p:cNvSpPr>
            <a:spLocks xmlns:a="http://schemas.openxmlformats.org/drawingml/2006/main" noGrp="1"/>
          </p:cNvSpPr>
          <p:nvPr/>
        </p:nvSpPr>
        <p:spPr>
          <a:xfrm xmlns:a="http://schemas.openxmlformats.org/drawingml/2006/main">
            <a:off x="685800" y="47625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Imagen sin privilegios y temporales acotados</a:t>
            </a:r>
          </a:p>
        </p:txBody>
      </p:sp>
      <p:sp>
        <p:nvSpPr>
          <p:cNvPr id="8" name="">
            <a:extLst xmlns:a="http://schemas.openxmlformats.org/drawingml/2006/main">
              <a:ext uri="{FF2B5EF4-FFF2-40B4-BE49-F238E27FC236}">
                <a16:creationId xmlns:a16="http://schemas.microsoft.com/office/drawing/2014/main" id="{0DA493F6-6B66-45F4-9138-C8A9B083BE73}"/>
              </a:ext>
            </a:extLst>
          </p:cNvPr>
          <p:cNvSpPr>
            <a:spLocks xmlns:a="http://schemas.openxmlformats.org/drawingml/2006/main" noGrp="1"/>
          </p:cNvSpPr>
          <p:nvPr/>
        </p:nvSpPr>
        <p:spPr>
          <a:xfrm xmlns:a="http://schemas.openxmlformats.org/drawingml/2006/main">
            <a:off x="6477000" y="28956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SCC y UID real en OpenShift</a:t>
            </a:r>
          </a:p>
        </p:txBody>
      </p:sp>
      <p:sp>
        <p:nvSpPr>
          <p:cNvPr id="9" name="">
            <a:extLst xmlns:a="http://schemas.openxmlformats.org/drawingml/2006/main">
              <a:ext uri="{FF2B5EF4-FFF2-40B4-BE49-F238E27FC236}">
                <a16:creationId xmlns:a16="http://schemas.microsoft.com/office/drawing/2014/main" id="{36C7A053-E62A-4FE3-AE27-7C6972AE4034}"/>
              </a:ext>
            </a:extLst>
          </p:cNvPr>
          <p:cNvSpPr>
            <a:spLocks xmlns:a="http://schemas.openxmlformats.org/drawingml/2006/main" noGrp="1"/>
          </p:cNvSpPr>
          <p:nvPr/>
        </p:nvSpPr>
        <p:spPr>
          <a:xfrm xmlns:a="http://schemas.openxmlformats.org/drawingml/2006/main">
            <a:off x="6477000" y="382905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RBAC red certificados y secretos</a:t>
            </a:r>
          </a:p>
        </p:txBody>
      </p:sp>
      <p:sp>
        <p:nvSpPr>
          <p:cNvPr id="10" name="">
            <a:extLst xmlns:a="http://schemas.openxmlformats.org/drawingml/2006/main">
              <a:ext uri="{FF2B5EF4-FFF2-40B4-BE49-F238E27FC236}">
                <a16:creationId xmlns:a16="http://schemas.microsoft.com/office/drawing/2014/main" id="{5FD47B37-6640-4E6D-B1C1-FC76558193C6}"/>
              </a:ext>
            </a:extLst>
          </p:cNvPr>
          <p:cNvSpPr>
            <a:spLocks xmlns:a="http://schemas.openxmlformats.org/drawingml/2006/main" noGrp="1"/>
          </p:cNvSpPr>
          <p:nvPr/>
        </p:nvSpPr>
        <p:spPr>
          <a:xfrm xmlns:a="http://schemas.openxmlformats.org/drawingml/2006/main">
            <a:off x="6477000" y="47625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Malla con reintentos compatibles con idempotencia</a:t>
            </a:r>
          </a:p>
        </p:txBody>
      </p:sp>
      <p:sp>
        <p:nvSpPr>
          <p:cNvPr id="11" name="">
            <a:extLst xmlns:a="http://schemas.openxmlformats.org/drawingml/2006/main">
              <a:ext uri="{FF2B5EF4-FFF2-40B4-BE49-F238E27FC236}">
                <a16:creationId xmlns:a16="http://schemas.microsoft.com/office/drawing/2014/main" id="{85214CAA-640A-4CB0-BAB8-5DBDFD1037FA}"/>
              </a:ext>
            </a:extLst>
          </p:cNvPr>
          <p:cNvSpPr>
            <a:spLocks xmlns:a="http://schemas.openxmlformats.org/drawingml/2006/main" noGrp="1"/>
          </p:cNvSpPr>
          <p:nvPr/>
        </p:nvSpPr>
        <p:spPr>
          <a:xfrm xmlns:a="http://schemas.openxmlformats.org/drawingml/2006/main">
            <a:off x="685800" y="61531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UID arbitrario en Docker no acredita admisión SCC</a:t>
            </a:r>
          </a:p>
        </p:txBody>
      </p:sp>
      <p:sp>
        <p:nvSpPr>
          <p:cNvPr id="12" name="">
            <a:extLst xmlns:a="http://schemas.openxmlformats.org/drawingml/2006/main">
              <a:ext uri="{FF2B5EF4-FFF2-40B4-BE49-F238E27FC236}">
                <a16:creationId xmlns:a16="http://schemas.microsoft.com/office/drawing/2014/main" id="{F825744F-72E0-4DCC-99EA-F44F0CAF0B3C}"/>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12</a:t>
            </a:r>
          </a:p>
        </p:txBody>
      </p:sp>
    </p:spTree>
    <p:extLst>
      <p:ext uri="{BB962C8B-B14F-4D97-AF65-F5344CB8AC3E}">
        <p14:creationId xmlns:p14="http://schemas.microsoft.com/office/powerpoint/2010/main" val="11118808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57864D-84CC-4438-B400-64039FB8F497}"/>
              </a:ext>
            </a:extLst>
          </p:cNvPr>
          <p:cNvSpPr>
            <a:spLocks xmlns:a="http://schemas.openxmlformats.org/drawingml/2006/main" noGrp="1"/>
          </p:cNvSpPr>
          <p:nvPr/>
        </p:nvSpPr>
        <p:spPr>
          <a:xfrm xmlns:a="http://schemas.openxmlformats.org/drawingml/2006/main">
            <a:off x="685800" y="3238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555555"/>
                </a:solidFill>
                <a:latin typeface="Arial"/>
                <a:ea typeface="Arial"/>
                <a:cs typeface="Arial"/>
              </a:defRPr>
            </a:defPPr>
            <a:lvl1pPr algn="l">
              <a:defRPr sz="1275" b="1">
                <a:solidFill>
                  <a:srgbClr val="555555"/>
                </a:solidFill>
                <a:latin typeface="Arial"/>
                <a:ea typeface="Arial"/>
                <a:cs typeface="Arial"/>
              </a:defRPr>
            </a:lvl1pPr>
            <a:lvl2pPr algn="l">
              <a:defRPr sz="1275" b="1">
                <a:solidFill>
                  <a:srgbClr val="555555"/>
                </a:solidFill>
                <a:latin typeface="Arial"/>
                <a:ea typeface="Arial"/>
                <a:cs typeface="Arial"/>
              </a:defRPr>
            </a:lvl2pPr>
            <a:lvl3pPr algn="l">
              <a:defRPr sz="1275" b="1">
                <a:solidFill>
                  <a:srgbClr val="555555"/>
                </a:solidFill>
                <a:latin typeface="Arial"/>
                <a:ea typeface="Arial"/>
                <a:cs typeface="Arial"/>
              </a:defRPr>
            </a:lvl3pPr>
            <a:lvl4pPr algn="l">
              <a:defRPr sz="1275" b="1">
                <a:solidFill>
                  <a:srgbClr val="555555"/>
                </a:solidFill>
                <a:latin typeface="Arial"/>
                <a:ea typeface="Arial"/>
                <a:cs typeface="Arial"/>
              </a:defRPr>
            </a:lvl4pPr>
            <a:lvl5pPr algn="l">
              <a:defRPr sz="1275" b="1">
                <a:solidFill>
                  <a:srgbClr val="555555"/>
                </a:solidFill>
                <a:latin typeface="Arial"/>
                <a:ea typeface="Arial"/>
                <a:cs typeface="Arial"/>
              </a:defRPr>
            </a:lvl5pPr>
            <a:lvl6pPr algn="l">
              <a:defRPr sz="1275" b="1">
                <a:solidFill>
                  <a:srgbClr val="555555"/>
                </a:solidFill>
                <a:latin typeface="Arial"/>
                <a:ea typeface="Arial"/>
                <a:cs typeface="Arial"/>
              </a:defRPr>
            </a:lvl6pPr>
            <a:lvl7pPr algn="l">
              <a:defRPr sz="1275" b="1">
                <a:solidFill>
                  <a:srgbClr val="555555"/>
                </a:solidFill>
                <a:latin typeface="Arial"/>
                <a:ea typeface="Arial"/>
                <a:cs typeface="Arial"/>
              </a:defRPr>
            </a:lvl7pPr>
            <a:lvl8pPr algn="l">
              <a:defRPr sz="1275" b="1">
                <a:solidFill>
                  <a:srgbClr val="555555"/>
                </a:solidFill>
                <a:latin typeface="Arial"/>
                <a:ea typeface="Arial"/>
                <a:cs typeface="Arial"/>
              </a:defRPr>
            </a:lvl8pPr>
            <a:lvl9pPr algn="l">
              <a:defRPr sz="1275" b="1">
                <a:solidFill>
                  <a:srgbClr val="555555"/>
                </a:solidFill>
                <a:latin typeface="Arial"/>
                <a:ea typeface="Arial"/>
                <a:cs typeface="Arial"/>
              </a:defRPr>
            </a:lvl9pPr>
          </a:lstStyle>
          <a:p xmlns:a="http://schemas.openxmlformats.org/drawingml/2006/main">
            <a:pPr algn="l">
              <a:defRPr sz="1275" b="1">
                <a:solidFill>
                  <a:srgbClr val="555555"/>
                </a:solidFill>
                <a:latin typeface="Arial"/>
                <a:ea typeface="Arial"/>
                <a:cs typeface="Arial"/>
              </a:defRPr>
            </a:pPr>
            <a:r>
              <a:rPr sz="1275" b="1">
                <a:solidFill>
                  <a:srgbClr val="555555"/>
                </a:solidFill>
                <a:latin typeface="Arial"/>
                <a:ea typeface="Arial"/>
                <a:cs typeface="Arial"/>
              </a:rPr>
              <a:t>G3 · Resiliencia Disponibilidad y Seguridad</a:t>
            </a:r>
          </a:p>
        </p:txBody>
      </p:sp>
      <p:sp>
        <p:nvSpPr>
          <p:cNvPr id="2" name="">
            <a:extLst xmlns:a="http://schemas.openxmlformats.org/drawingml/2006/main">
              <a:ext uri="{FF2B5EF4-FFF2-40B4-BE49-F238E27FC236}">
                <a16:creationId xmlns:a16="http://schemas.microsoft.com/office/drawing/2014/main" id="{F154A216-077A-4AE8-82C6-3FE2B2DAAFBB}"/>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Disponibilidad con una definición medible</a:t>
            </a:r>
          </a:p>
        </p:txBody>
      </p:sp>
      <p:sp>
        <p:nvSpPr>
          <p:cNvPr id="3" name="">
            <a:extLst xmlns:a="http://schemas.openxmlformats.org/drawingml/2006/main">
              <a:ext uri="{FF2B5EF4-FFF2-40B4-BE49-F238E27FC236}">
                <a16:creationId xmlns:a16="http://schemas.microsoft.com/office/drawing/2014/main" id="{A6E1795E-AFE8-4B06-9053-86814A11CCDB}"/>
              </a:ext>
            </a:extLst>
          </p:cNvPr>
          <p:cNvSpPr>
            <a:spLocks xmlns:a="http://schemas.openxmlformats.org/drawingml/2006/main" noGrp="1"/>
          </p:cNvSpPr>
          <p:nvPr/>
        </p:nvSpPr>
        <p:spPr>
          <a:xfrm xmlns:a="http://schemas.openxmlformats.org/drawingml/2006/main">
            <a:off x="685800" y="2076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111111"/>
                </a:solidFill>
                <a:latin typeface="Arial"/>
                <a:ea typeface="Arial"/>
                <a:cs typeface="Arial"/>
              </a:defRPr>
            </a:defPPr>
            <a:lvl1pPr algn="l">
              <a:defRPr sz="2400" b="1">
                <a:solidFill>
                  <a:srgbClr val="111111"/>
                </a:solidFill>
                <a:latin typeface="Arial"/>
                <a:ea typeface="Arial"/>
                <a:cs typeface="Arial"/>
              </a:defRPr>
            </a:lvl1pPr>
            <a:lvl2pPr algn="l">
              <a:defRPr sz="2400" b="1">
                <a:solidFill>
                  <a:srgbClr val="111111"/>
                </a:solidFill>
                <a:latin typeface="Arial"/>
                <a:ea typeface="Arial"/>
                <a:cs typeface="Arial"/>
              </a:defRPr>
            </a:lvl2pPr>
            <a:lvl3pPr algn="l">
              <a:defRPr sz="2400" b="1">
                <a:solidFill>
                  <a:srgbClr val="111111"/>
                </a:solidFill>
                <a:latin typeface="Arial"/>
                <a:ea typeface="Arial"/>
                <a:cs typeface="Arial"/>
              </a:defRPr>
            </a:lvl3pPr>
            <a:lvl4pPr algn="l">
              <a:defRPr sz="2400" b="1">
                <a:solidFill>
                  <a:srgbClr val="111111"/>
                </a:solidFill>
                <a:latin typeface="Arial"/>
                <a:ea typeface="Arial"/>
                <a:cs typeface="Arial"/>
              </a:defRPr>
            </a:lvl4pPr>
            <a:lvl5pPr algn="l">
              <a:defRPr sz="2400" b="1">
                <a:solidFill>
                  <a:srgbClr val="111111"/>
                </a:solidFill>
                <a:latin typeface="Arial"/>
                <a:ea typeface="Arial"/>
                <a:cs typeface="Arial"/>
              </a:defRPr>
            </a:lvl5pPr>
            <a:lvl6pPr algn="l">
              <a:defRPr sz="2400" b="1">
                <a:solidFill>
                  <a:srgbClr val="111111"/>
                </a:solidFill>
                <a:latin typeface="Arial"/>
                <a:ea typeface="Arial"/>
                <a:cs typeface="Arial"/>
              </a:defRPr>
            </a:lvl6pPr>
            <a:lvl7pPr algn="l">
              <a:defRPr sz="2400" b="1">
                <a:solidFill>
                  <a:srgbClr val="111111"/>
                </a:solidFill>
                <a:latin typeface="Arial"/>
                <a:ea typeface="Arial"/>
                <a:cs typeface="Arial"/>
              </a:defRPr>
            </a:lvl7pPr>
            <a:lvl8pPr algn="l">
              <a:defRPr sz="2400" b="1">
                <a:solidFill>
                  <a:srgbClr val="111111"/>
                </a:solidFill>
                <a:latin typeface="Arial"/>
                <a:ea typeface="Arial"/>
                <a:cs typeface="Arial"/>
              </a:defRPr>
            </a:lvl8pPr>
            <a:lvl9pPr algn="l">
              <a:defRPr sz="2400" b="1">
                <a:solidFill>
                  <a:srgbClr val="111111"/>
                </a:solidFill>
                <a:latin typeface="Arial"/>
                <a:ea typeface="Arial"/>
                <a:cs typeface="Arial"/>
              </a:defRPr>
            </a:lvl9pPr>
          </a:lstStyle>
          <a:p xmlns:a="http://schemas.openxmlformats.org/drawingml/2006/main">
            <a:pPr algn="l">
              <a:defRPr sz="2400" b="1">
                <a:solidFill>
                  <a:srgbClr val="111111"/>
                </a:solidFill>
                <a:latin typeface="Arial"/>
                <a:ea typeface="Arial"/>
                <a:cs typeface="Arial"/>
              </a:defRPr>
            </a:pPr>
            <a:r>
              <a:rPr sz="2400" b="1">
                <a:solidFill>
                  <a:srgbClr val="111111"/>
                </a:solidFill>
                <a:latin typeface="Arial"/>
                <a:ea typeface="Arial"/>
                <a:cs typeface="Arial"/>
              </a:rPr>
              <a:t>99.9 % es una meta de investigación</a:t>
            </a:r>
          </a:p>
        </p:txBody>
      </p:sp>
      <p:sp>
        <p:nvSpPr>
          <p:cNvPr id="4" name="">
            <a:extLst xmlns:a="http://schemas.openxmlformats.org/drawingml/2006/main">
              <a:ext uri="{FF2B5EF4-FFF2-40B4-BE49-F238E27FC236}">
                <a16:creationId xmlns:a16="http://schemas.microsoft.com/office/drawing/2014/main" id="{33E3FCFD-608C-4CC4-A773-63DF35F1463B}"/>
              </a:ext>
            </a:extLst>
          </p:cNvPr>
          <p:cNvSpPr>
            <a:spLocks xmlns:a="http://schemas.openxmlformats.org/drawingml/2006/main" noGrp="1"/>
          </p:cNvSpPr>
          <p:nvPr/>
        </p:nvSpPr>
        <p:spPr>
          <a:xfrm xmlns:a="http://schemas.openxmlformats.org/drawingml/2006/main">
            <a:off x="857250" y="33337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Definir ventana denominador y solicitudes elegibles</a:t>
            </a:r>
          </a:p>
        </p:txBody>
      </p:sp>
      <p:sp>
        <p:nvSpPr>
          <p:cNvPr id="5" name="">
            <a:extLst xmlns:a="http://schemas.openxmlformats.org/drawingml/2006/main">
              <a:ext uri="{FF2B5EF4-FFF2-40B4-BE49-F238E27FC236}">
                <a16:creationId xmlns:a16="http://schemas.microsoft.com/office/drawing/2014/main" id="{4F391526-B412-4E12-80B7-CDF60C80D4F5}"/>
              </a:ext>
            </a:extLst>
          </p:cNvPr>
          <p:cNvSpPr>
            <a:spLocks xmlns:a="http://schemas.openxmlformats.org/drawingml/2006/main" noGrp="1"/>
          </p:cNvSpPr>
          <p:nvPr/>
        </p:nvSpPr>
        <p:spPr>
          <a:xfrm xmlns:a="http://schemas.openxmlformats.org/drawingml/2006/main">
            <a:off x="857250" y="41719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Separar error técnico de rechazo de negocio</a:t>
            </a:r>
          </a:p>
        </p:txBody>
      </p:sp>
      <p:sp>
        <p:nvSpPr>
          <p:cNvPr id="6" name="">
            <a:extLst xmlns:a="http://schemas.openxmlformats.org/drawingml/2006/main">
              <a:ext uri="{FF2B5EF4-FFF2-40B4-BE49-F238E27FC236}">
                <a16:creationId xmlns:a16="http://schemas.microsoft.com/office/drawing/2014/main" id="{1B102D18-3E5B-4065-A811-254661DB96AB}"/>
              </a:ext>
            </a:extLst>
          </p:cNvPr>
          <p:cNvSpPr>
            <a:spLocks xmlns:a="http://schemas.openxmlformats.org/drawingml/2006/main" noGrp="1"/>
          </p:cNvSpPr>
          <p:nvPr/>
        </p:nvSpPr>
        <p:spPr>
          <a:xfrm xmlns:a="http://schemas.openxmlformats.org/drawingml/2006/main">
            <a:off x="857250" y="50101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Registrar recuperación e integridad tras cada fallo</a:t>
            </a:r>
          </a:p>
        </p:txBody>
      </p:sp>
      <p:sp>
        <p:nvSpPr>
          <p:cNvPr id="7" name="">
            <a:extLst xmlns:a="http://schemas.openxmlformats.org/drawingml/2006/main">
              <a:ext uri="{FF2B5EF4-FFF2-40B4-BE49-F238E27FC236}">
                <a16:creationId xmlns:a16="http://schemas.microsoft.com/office/drawing/2014/main" id="{1112A117-3D5D-4424-8217-585A02B7393D}"/>
              </a:ext>
            </a:extLst>
          </p:cNvPr>
          <p:cNvSpPr>
            <a:spLocks xmlns:a="http://schemas.openxmlformats.org/drawingml/2006/main" noGrp="1"/>
          </p:cNvSpPr>
          <p:nvPr/>
        </p:nvSpPr>
        <p:spPr>
          <a:xfrm xmlns:a="http://schemas.openxmlformats.org/drawingml/2006/main">
            <a:off x="685800" y="61531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Una demostración breve sin errores no prueba disponibilidad mensual</a:t>
            </a:r>
          </a:p>
        </p:txBody>
      </p:sp>
      <p:sp>
        <p:nvSpPr>
          <p:cNvPr id="8" name="">
            <a:extLst xmlns:a="http://schemas.openxmlformats.org/drawingml/2006/main">
              <a:ext uri="{FF2B5EF4-FFF2-40B4-BE49-F238E27FC236}">
                <a16:creationId xmlns:a16="http://schemas.microsoft.com/office/drawing/2014/main" id="{1A2BE64A-C7A0-4F28-B82C-545B91961901}"/>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13</a:t>
            </a:r>
          </a:p>
        </p:txBody>
      </p:sp>
    </p:spTree>
    <p:extLst>
      <p:ext uri="{BB962C8B-B14F-4D97-AF65-F5344CB8AC3E}">
        <p14:creationId xmlns:p14="http://schemas.microsoft.com/office/powerpoint/2010/main" val="94237208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302B15F-0551-4654-AE95-CDF0A426DD70}"/>
              </a:ext>
            </a:extLst>
          </p:cNvPr>
          <p:cNvSpPr>
            <a:spLocks xmlns:a="http://schemas.openxmlformats.org/drawingml/2006/main" noGrp="1"/>
          </p:cNvSpPr>
          <p:nvPr/>
        </p:nvSpPr>
        <p:spPr>
          <a:xfrm xmlns:a="http://schemas.openxmlformats.org/drawingml/2006/main">
            <a:off x="685800" y="3238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555555"/>
                </a:solidFill>
                <a:latin typeface="Arial"/>
                <a:ea typeface="Arial"/>
                <a:cs typeface="Arial"/>
              </a:defRPr>
            </a:defPPr>
            <a:lvl1pPr algn="l">
              <a:defRPr sz="1275" b="1">
                <a:solidFill>
                  <a:srgbClr val="555555"/>
                </a:solidFill>
                <a:latin typeface="Arial"/>
                <a:ea typeface="Arial"/>
                <a:cs typeface="Arial"/>
              </a:defRPr>
            </a:lvl1pPr>
            <a:lvl2pPr algn="l">
              <a:defRPr sz="1275" b="1">
                <a:solidFill>
                  <a:srgbClr val="555555"/>
                </a:solidFill>
                <a:latin typeface="Arial"/>
                <a:ea typeface="Arial"/>
                <a:cs typeface="Arial"/>
              </a:defRPr>
            </a:lvl2pPr>
            <a:lvl3pPr algn="l">
              <a:defRPr sz="1275" b="1">
                <a:solidFill>
                  <a:srgbClr val="555555"/>
                </a:solidFill>
                <a:latin typeface="Arial"/>
                <a:ea typeface="Arial"/>
                <a:cs typeface="Arial"/>
              </a:defRPr>
            </a:lvl3pPr>
            <a:lvl4pPr algn="l">
              <a:defRPr sz="1275" b="1">
                <a:solidFill>
                  <a:srgbClr val="555555"/>
                </a:solidFill>
                <a:latin typeface="Arial"/>
                <a:ea typeface="Arial"/>
                <a:cs typeface="Arial"/>
              </a:defRPr>
            </a:lvl4pPr>
            <a:lvl5pPr algn="l">
              <a:defRPr sz="1275" b="1">
                <a:solidFill>
                  <a:srgbClr val="555555"/>
                </a:solidFill>
                <a:latin typeface="Arial"/>
                <a:ea typeface="Arial"/>
                <a:cs typeface="Arial"/>
              </a:defRPr>
            </a:lvl5pPr>
            <a:lvl6pPr algn="l">
              <a:defRPr sz="1275" b="1">
                <a:solidFill>
                  <a:srgbClr val="555555"/>
                </a:solidFill>
                <a:latin typeface="Arial"/>
                <a:ea typeface="Arial"/>
                <a:cs typeface="Arial"/>
              </a:defRPr>
            </a:lvl6pPr>
            <a:lvl7pPr algn="l">
              <a:defRPr sz="1275" b="1">
                <a:solidFill>
                  <a:srgbClr val="555555"/>
                </a:solidFill>
                <a:latin typeface="Arial"/>
                <a:ea typeface="Arial"/>
                <a:cs typeface="Arial"/>
              </a:defRPr>
            </a:lvl7pPr>
            <a:lvl8pPr algn="l">
              <a:defRPr sz="1275" b="1">
                <a:solidFill>
                  <a:srgbClr val="555555"/>
                </a:solidFill>
                <a:latin typeface="Arial"/>
                <a:ea typeface="Arial"/>
                <a:cs typeface="Arial"/>
              </a:defRPr>
            </a:lvl8pPr>
            <a:lvl9pPr algn="l">
              <a:defRPr sz="1275" b="1">
                <a:solidFill>
                  <a:srgbClr val="555555"/>
                </a:solidFill>
                <a:latin typeface="Arial"/>
                <a:ea typeface="Arial"/>
                <a:cs typeface="Arial"/>
              </a:defRPr>
            </a:lvl9pPr>
          </a:lstStyle>
          <a:p xmlns:a="http://schemas.openxmlformats.org/drawingml/2006/main">
            <a:pPr algn="l">
              <a:defRPr sz="1275" b="1">
                <a:solidFill>
                  <a:srgbClr val="555555"/>
                </a:solidFill>
                <a:latin typeface="Arial"/>
                <a:ea typeface="Arial"/>
                <a:cs typeface="Arial"/>
              </a:defRPr>
            </a:pPr>
            <a:r>
              <a:rPr sz="1275" b="1">
                <a:solidFill>
                  <a:srgbClr val="555555"/>
                </a:solidFill>
                <a:latin typeface="Arial"/>
                <a:ea typeface="Arial"/>
                <a:cs typeface="Arial"/>
              </a:rPr>
              <a:t>G4 · Persistencia Consistencia y Mensajería</a:t>
            </a:r>
          </a:p>
        </p:txBody>
      </p:sp>
      <p:sp>
        <p:nvSpPr>
          <p:cNvPr id="2" name="">
            <a:extLst xmlns:a="http://schemas.openxmlformats.org/drawingml/2006/main">
              <a:ext uri="{FF2B5EF4-FFF2-40B4-BE49-F238E27FC236}">
                <a16:creationId xmlns:a16="http://schemas.microsoft.com/office/drawing/2014/main" id="{60B69255-8D96-4E28-8E6A-B033ADD0CB2D}"/>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Una confirmación conserva tres registros coherentes</a:t>
            </a:r>
          </a:p>
        </p:txBody>
      </p:sp>
      <p:sp>
        <p:nvSpPr>
          <p:cNvPr id="3" name="">
            <a:extLst xmlns:a="http://schemas.openxmlformats.org/drawingml/2006/main">
              <a:ext uri="{FF2B5EF4-FFF2-40B4-BE49-F238E27FC236}">
                <a16:creationId xmlns:a16="http://schemas.microsoft.com/office/drawing/2014/main" id="{D3B81405-BB9D-4100-B1A5-B92C57FDAC8E}"/>
              </a:ext>
            </a:extLst>
          </p:cNvPr>
          <p:cNvSpPr>
            <a:spLocks xmlns:a="http://schemas.openxmlformats.org/drawingml/2006/main" noGrp="1"/>
          </p:cNvSpPr>
          <p:nvPr/>
        </p:nvSpPr>
        <p:spPr>
          <a:xfrm xmlns:a="http://schemas.openxmlformats.org/drawingml/2006/main">
            <a:off x="68580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Validar cupo</a:t>
            </a:r>
          </a:p>
        </p:txBody>
      </p:sp>
      <p:sp>
        <p:nvSpPr>
          <p:cNvPr id="4" name="">
            <a:extLst xmlns:a="http://schemas.openxmlformats.org/drawingml/2006/main">
              <a:ext uri="{FF2B5EF4-FFF2-40B4-BE49-F238E27FC236}">
                <a16:creationId xmlns:a16="http://schemas.microsoft.com/office/drawing/2014/main" id="{25F32592-2155-4269-A0C3-5B30635E056A}"/>
              </a:ext>
            </a:extLst>
          </p:cNvPr>
          <p:cNvSpPr>
            <a:spLocks xmlns:a="http://schemas.openxmlformats.org/drawingml/2006/main" noGrp="1"/>
          </p:cNvSpPr>
          <p:nvPr/>
        </p:nvSpPr>
        <p:spPr>
          <a:xfrm xmlns:a="http://schemas.openxmlformats.org/drawingml/2006/main">
            <a:off x="302895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4ADC188F-6273-4052-A4DE-7BF2771BBCFE}"/>
              </a:ext>
            </a:extLst>
          </p:cNvPr>
          <p:cNvSpPr>
            <a:spLocks xmlns:a="http://schemas.openxmlformats.org/drawingml/2006/main" noGrp="1"/>
          </p:cNvSpPr>
          <p:nvPr/>
        </p:nvSpPr>
        <p:spPr>
          <a:xfrm xmlns:a="http://schemas.openxmlformats.org/drawingml/2006/main">
            <a:off x="340995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Descontar</a:t>
            </a:r>
          </a:p>
        </p:txBody>
      </p:sp>
      <p:sp>
        <p:nvSpPr>
          <p:cNvPr id="6" name="">
            <a:extLst xmlns:a="http://schemas.openxmlformats.org/drawingml/2006/main">
              <a:ext uri="{FF2B5EF4-FFF2-40B4-BE49-F238E27FC236}">
                <a16:creationId xmlns:a16="http://schemas.microsoft.com/office/drawing/2014/main" id="{83367D93-901C-4B42-A196-F120AB60D078}"/>
              </a:ext>
            </a:extLst>
          </p:cNvPr>
          <p:cNvSpPr>
            <a:spLocks xmlns:a="http://schemas.openxmlformats.org/drawingml/2006/main" noGrp="1"/>
          </p:cNvSpPr>
          <p:nvPr/>
        </p:nvSpPr>
        <p:spPr>
          <a:xfrm xmlns:a="http://schemas.openxmlformats.org/drawingml/2006/main">
            <a:off x="575310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493A662E-1134-4D7C-9188-88D6EFFCE117}"/>
              </a:ext>
            </a:extLst>
          </p:cNvPr>
          <p:cNvSpPr>
            <a:spLocks xmlns:a="http://schemas.openxmlformats.org/drawingml/2006/main" noGrp="1"/>
          </p:cNvSpPr>
          <p:nvPr/>
        </p:nvSpPr>
        <p:spPr>
          <a:xfrm xmlns:a="http://schemas.openxmlformats.org/drawingml/2006/main">
            <a:off x="613410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Reservar</a:t>
            </a:r>
          </a:p>
        </p:txBody>
      </p:sp>
      <p:sp>
        <p:nvSpPr>
          <p:cNvPr id="8" name="">
            <a:extLst xmlns:a="http://schemas.openxmlformats.org/drawingml/2006/main">
              <a:ext uri="{FF2B5EF4-FFF2-40B4-BE49-F238E27FC236}">
                <a16:creationId xmlns:a16="http://schemas.microsoft.com/office/drawing/2014/main" id="{9AEDB776-AC1B-453B-8FA8-2307FA9BA62C}"/>
              </a:ext>
            </a:extLst>
          </p:cNvPr>
          <p:cNvSpPr>
            <a:spLocks xmlns:a="http://schemas.openxmlformats.org/drawingml/2006/main" noGrp="1"/>
          </p:cNvSpPr>
          <p:nvPr/>
        </p:nvSpPr>
        <p:spPr>
          <a:xfrm xmlns:a="http://schemas.openxmlformats.org/drawingml/2006/main">
            <a:off x="847725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A9C86C06-EF57-433E-9C2B-57EB99AE2963}"/>
              </a:ext>
            </a:extLst>
          </p:cNvPr>
          <p:cNvSpPr>
            <a:spLocks xmlns:a="http://schemas.openxmlformats.org/drawingml/2006/main" noGrp="1"/>
          </p:cNvSpPr>
          <p:nvPr/>
        </p:nvSpPr>
        <p:spPr>
          <a:xfrm xmlns:a="http://schemas.openxmlformats.org/drawingml/2006/main">
            <a:off x="885825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Insertar outbox</a:t>
            </a:r>
          </a:p>
        </p:txBody>
      </p:sp>
      <p:sp>
        <p:nvSpPr>
          <p:cNvPr id="10" name="">
            <a:extLst xmlns:a="http://schemas.openxmlformats.org/drawingml/2006/main">
              <a:ext uri="{FF2B5EF4-FFF2-40B4-BE49-F238E27FC236}">
                <a16:creationId xmlns:a16="http://schemas.microsoft.com/office/drawing/2014/main" id="{905BA310-FC01-417C-B4AE-0B660F340BA1}"/>
              </a:ext>
            </a:extLst>
          </p:cNvPr>
          <p:cNvSpPr>
            <a:spLocks xmlns:a="http://schemas.openxmlformats.org/drawingml/2006/main" noGrp="1"/>
          </p:cNvSpPr>
          <p:nvPr/>
        </p:nvSpPr>
        <p:spPr>
          <a:xfrm xmlns:a="http://schemas.openxmlformats.org/drawingml/2006/main">
            <a:off x="685800" y="41719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Una sola transacción en PostgreSQL</a:t>
            </a:r>
          </a:p>
        </p:txBody>
      </p:sp>
      <p:sp>
        <p:nvSpPr>
          <p:cNvPr id="11" name="">
            <a:extLst xmlns:a="http://schemas.openxmlformats.org/drawingml/2006/main">
              <a:ext uri="{FF2B5EF4-FFF2-40B4-BE49-F238E27FC236}">
                <a16:creationId xmlns:a16="http://schemas.microsoft.com/office/drawing/2014/main" id="{77903601-22BA-41DB-81C0-FE47798D6894}"/>
              </a:ext>
            </a:extLst>
          </p:cNvPr>
          <p:cNvSpPr>
            <a:spLocks xmlns:a="http://schemas.openxmlformats.org/drawingml/2006/main" noGrp="1"/>
          </p:cNvSpPr>
          <p:nvPr/>
        </p:nvSpPr>
        <p:spPr>
          <a:xfrm xmlns:a="http://schemas.openxmlformats.org/drawingml/2006/main">
            <a:off x="685800" y="49149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Un fallo revierte la unidad sin descuento parcial</a:t>
            </a:r>
          </a:p>
        </p:txBody>
      </p:sp>
      <p:sp>
        <p:nvSpPr>
          <p:cNvPr id="12" name="">
            <a:extLst xmlns:a="http://schemas.openxmlformats.org/drawingml/2006/main">
              <a:ext uri="{FF2B5EF4-FFF2-40B4-BE49-F238E27FC236}">
                <a16:creationId xmlns:a16="http://schemas.microsoft.com/office/drawing/2014/main" id="{6A47028D-CDFC-4AA0-9965-6DAEDFAC372B}"/>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14</a:t>
            </a:r>
          </a:p>
        </p:txBody>
      </p:sp>
    </p:spTree>
    <p:extLst>
      <p:ext uri="{BB962C8B-B14F-4D97-AF65-F5344CB8AC3E}">
        <p14:creationId xmlns:p14="http://schemas.microsoft.com/office/powerpoint/2010/main" val="187952795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02C77B8-8587-426B-B658-A0374F857753}"/>
              </a:ext>
            </a:extLst>
          </p:cNvPr>
          <p:cNvSpPr>
            <a:spLocks xmlns:a="http://schemas.openxmlformats.org/drawingml/2006/main" noGrp="1"/>
          </p:cNvSpPr>
          <p:nvPr/>
        </p:nvSpPr>
        <p:spPr>
          <a:xfrm xmlns:a="http://schemas.openxmlformats.org/drawingml/2006/main">
            <a:off x="685800" y="3238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555555"/>
                </a:solidFill>
                <a:latin typeface="Arial"/>
                <a:ea typeface="Arial"/>
                <a:cs typeface="Arial"/>
              </a:defRPr>
            </a:defPPr>
            <a:lvl1pPr algn="l">
              <a:defRPr sz="1275" b="1">
                <a:solidFill>
                  <a:srgbClr val="555555"/>
                </a:solidFill>
                <a:latin typeface="Arial"/>
                <a:ea typeface="Arial"/>
                <a:cs typeface="Arial"/>
              </a:defRPr>
            </a:lvl1pPr>
            <a:lvl2pPr algn="l">
              <a:defRPr sz="1275" b="1">
                <a:solidFill>
                  <a:srgbClr val="555555"/>
                </a:solidFill>
                <a:latin typeface="Arial"/>
                <a:ea typeface="Arial"/>
                <a:cs typeface="Arial"/>
              </a:defRPr>
            </a:lvl2pPr>
            <a:lvl3pPr algn="l">
              <a:defRPr sz="1275" b="1">
                <a:solidFill>
                  <a:srgbClr val="555555"/>
                </a:solidFill>
                <a:latin typeface="Arial"/>
                <a:ea typeface="Arial"/>
                <a:cs typeface="Arial"/>
              </a:defRPr>
            </a:lvl3pPr>
            <a:lvl4pPr algn="l">
              <a:defRPr sz="1275" b="1">
                <a:solidFill>
                  <a:srgbClr val="555555"/>
                </a:solidFill>
                <a:latin typeface="Arial"/>
                <a:ea typeface="Arial"/>
                <a:cs typeface="Arial"/>
              </a:defRPr>
            </a:lvl4pPr>
            <a:lvl5pPr algn="l">
              <a:defRPr sz="1275" b="1">
                <a:solidFill>
                  <a:srgbClr val="555555"/>
                </a:solidFill>
                <a:latin typeface="Arial"/>
                <a:ea typeface="Arial"/>
                <a:cs typeface="Arial"/>
              </a:defRPr>
            </a:lvl5pPr>
            <a:lvl6pPr algn="l">
              <a:defRPr sz="1275" b="1">
                <a:solidFill>
                  <a:srgbClr val="555555"/>
                </a:solidFill>
                <a:latin typeface="Arial"/>
                <a:ea typeface="Arial"/>
                <a:cs typeface="Arial"/>
              </a:defRPr>
            </a:lvl6pPr>
            <a:lvl7pPr algn="l">
              <a:defRPr sz="1275" b="1">
                <a:solidFill>
                  <a:srgbClr val="555555"/>
                </a:solidFill>
                <a:latin typeface="Arial"/>
                <a:ea typeface="Arial"/>
                <a:cs typeface="Arial"/>
              </a:defRPr>
            </a:lvl7pPr>
            <a:lvl8pPr algn="l">
              <a:defRPr sz="1275" b="1">
                <a:solidFill>
                  <a:srgbClr val="555555"/>
                </a:solidFill>
                <a:latin typeface="Arial"/>
                <a:ea typeface="Arial"/>
                <a:cs typeface="Arial"/>
              </a:defRPr>
            </a:lvl8pPr>
            <a:lvl9pPr algn="l">
              <a:defRPr sz="1275" b="1">
                <a:solidFill>
                  <a:srgbClr val="555555"/>
                </a:solidFill>
                <a:latin typeface="Arial"/>
                <a:ea typeface="Arial"/>
                <a:cs typeface="Arial"/>
              </a:defRPr>
            </a:lvl9pPr>
          </a:lstStyle>
          <a:p xmlns:a="http://schemas.openxmlformats.org/drawingml/2006/main">
            <a:pPr algn="l">
              <a:defRPr sz="1275" b="1">
                <a:solidFill>
                  <a:srgbClr val="555555"/>
                </a:solidFill>
                <a:latin typeface="Arial"/>
                <a:ea typeface="Arial"/>
                <a:cs typeface="Arial"/>
              </a:defRPr>
            </a:pPr>
            <a:r>
              <a:rPr sz="1275" b="1">
                <a:solidFill>
                  <a:srgbClr val="555555"/>
                </a:solidFill>
                <a:latin typeface="Arial"/>
                <a:ea typeface="Arial"/>
                <a:cs typeface="Arial"/>
              </a:rPr>
              <a:t>G4 · Persistencia Consistencia y Mensajería</a:t>
            </a:r>
          </a:p>
        </p:txBody>
      </p:sp>
      <p:sp>
        <p:nvSpPr>
          <p:cNvPr id="2" name="">
            <a:extLst xmlns:a="http://schemas.openxmlformats.org/drawingml/2006/main">
              <a:ext uri="{FF2B5EF4-FFF2-40B4-BE49-F238E27FC236}">
                <a16:creationId xmlns:a16="http://schemas.microsoft.com/office/drawing/2014/main" id="{879C84FA-F3AB-41F4-AFE7-63BF667F764B}"/>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Idempotencia y consistencia</a:t>
            </a:r>
          </a:p>
        </p:txBody>
      </p:sp>
      <p:sp>
        <p:nvSpPr>
          <p:cNvPr id="3" name="">
            <a:extLst xmlns:a="http://schemas.openxmlformats.org/drawingml/2006/main">
              <a:ext uri="{FF2B5EF4-FFF2-40B4-BE49-F238E27FC236}">
                <a16:creationId xmlns:a16="http://schemas.microsoft.com/office/drawing/2014/main" id="{02FAF637-3EE7-492B-8860-BCADA08EB27C}"/>
              </a:ext>
            </a:extLst>
          </p:cNvPr>
          <p:cNvSpPr>
            <a:spLocks xmlns:a="http://schemas.openxmlformats.org/drawingml/2006/main" noGrp="1"/>
          </p:cNvSpPr>
          <p:nvPr/>
        </p:nvSpPr>
        <p:spPr>
          <a:xfrm xmlns:a="http://schemas.openxmlformats.org/drawingml/2006/main">
            <a:off x="685800" y="207645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Misma intención</a:t>
            </a:r>
          </a:p>
        </p:txBody>
      </p:sp>
      <p:sp>
        <p:nvSpPr>
          <p:cNvPr id="4" name="">
            <a:extLst xmlns:a="http://schemas.openxmlformats.org/drawingml/2006/main">
              <a:ext uri="{FF2B5EF4-FFF2-40B4-BE49-F238E27FC236}">
                <a16:creationId xmlns:a16="http://schemas.microsoft.com/office/drawing/2014/main" id="{0B3638CB-A5AA-4A64-A0AA-9E8D7F87D99F}"/>
              </a:ext>
            </a:extLst>
          </p:cNvPr>
          <p:cNvSpPr>
            <a:spLocks xmlns:a="http://schemas.openxmlformats.org/drawingml/2006/main" noGrp="1"/>
          </p:cNvSpPr>
          <p:nvPr/>
        </p:nvSpPr>
        <p:spPr>
          <a:xfrm xmlns:a="http://schemas.openxmlformats.org/drawingml/2006/main">
            <a:off x="6477000" y="2076450"/>
            <a:ext cx="502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Garantías distintas</a:t>
            </a:r>
          </a:p>
        </p:txBody>
      </p:sp>
      <p:sp>
        <p:nvSpPr>
          <p:cNvPr id="5" name="">
            <a:extLst xmlns:a="http://schemas.openxmlformats.org/drawingml/2006/main">
              <a:ext uri="{FF2B5EF4-FFF2-40B4-BE49-F238E27FC236}">
                <a16:creationId xmlns:a16="http://schemas.microsoft.com/office/drawing/2014/main" id="{C2CF88BE-2705-4413-8162-3D207600BD0E}"/>
              </a:ext>
            </a:extLst>
          </p:cNvPr>
          <p:cNvSpPr>
            <a:spLocks xmlns:a="http://schemas.openxmlformats.org/drawingml/2006/main" noGrp="1"/>
          </p:cNvSpPr>
          <p:nvPr/>
        </p:nvSpPr>
        <p:spPr>
          <a:xfrm xmlns:a="http://schemas.openxmlformats.org/drawingml/2006/main">
            <a:off x="685800" y="28956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Propietario clave y contenido iguales</a:t>
            </a:r>
          </a:p>
        </p:txBody>
      </p:sp>
      <p:sp>
        <p:nvSpPr>
          <p:cNvPr id="6" name="">
            <a:extLst xmlns:a="http://schemas.openxmlformats.org/drawingml/2006/main">
              <a:ext uri="{FF2B5EF4-FFF2-40B4-BE49-F238E27FC236}">
                <a16:creationId xmlns:a16="http://schemas.microsoft.com/office/drawing/2014/main" id="{175CFA93-B87A-4D93-8D12-A6F3B657F8A0}"/>
              </a:ext>
            </a:extLst>
          </p:cNvPr>
          <p:cNvSpPr>
            <a:spLocks xmlns:a="http://schemas.openxmlformats.org/drawingml/2006/main" noGrp="1"/>
          </p:cNvSpPr>
          <p:nvPr/>
        </p:nvSpPr>
        <p:spPr>
          <a:xfrm xmlns:a="http://schemas.openxmlformats.org/drawingml/2006/main">
            <a:off x="685800" y="382905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201 crea; 200 devuelve la original</a:t>
            </a:r>
          </a:p>
        </p:txBody>
      </p:sp>
      <p:sp>
        <p:nvSpPr>
          <p:cNvPr id="7" name="">
            <a:extLst xmlns:a="http://schemas.openxmlformats.org/drawingml/2006/main">
              <a:ext uri="{FF2B5EF4-FFF2-40B4-BE49-F238E27FC236}">
                <a16:creationId xmlns:a16="http://schemas.microsoft.com/office/drawing/2014/main" id="{57E38944-33FB-4F2C-A8F4-F1B29F50D671}"/>
              </a:ext>
            </a:extLst>
          </p:cNvPr>
          <p:cNvSpPr>
            <a:spLocks xmlns:a="http://schemas.openxmlformats.org/drawingml/2006/main" noGrp="1"/>
          </p:cNvSpPr>
          <p:nvPr/>
        </p:nvSpPr>
        <p:spPr>
          <a:xfrm xmlns:a="http://schemas.openxmlformats.org/drawingml/2006/main">
            <a:off x="685800" y="47625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Un solo descuento de inventario</a:t>
            </a:r>
          </a:p>
        </p:txBody>
      </p:sp>
      <p:sp>
        <p:nvSpPr>
          <p:cNvPr id="8" name="">
            <a:extLst xmlns:a="http://schemas.openxmlformats.org/drawingml/2006/main">
              <a:ext uri="{FF2B5EF4-FFF2-40B4-BE49-F238E27FC236}">
                <a16:creationId xmlns:a16="http://schemas.microsoft.com/office/drawing/2014/main" id="{864D62F7-BCA4-46F5-9ED7-3E3CBE0525BC}"/>
              </a:ext>
            </a:extLst>
          </p:cNvPr>
          <p:cNvSpPr>
            <a:spLocks xmlns:a="http://schemas.openxmlformats.org/drawingml/2006/main" noGrp="1"/>
          </p:cNvSpPr>
          <p:nvPr/>
        </p:nvSpPr>
        <p:spPr>
          <a:xfrm xmlns:a="http://schemas.openxmlformats.org/drawingml/2006/main">
            <a:off x="6477000" y="28956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Contenido distinto debe producir conflicto</a:t>
            </a:r>
          </a:p>
        </p:txBody>
      </p:sp>
      <p:sp>
        <p:nvSpPr>
          <p:cNvPr id="9" name="">
            <a:extLst xmlns:a="http://schemas.openxmlformats.org/drawingml/2006/main">
              <a:ext uri="{FF2B5EF4-FFF2-40B4-BE49-F238E27FC236}">
                <a16:creationId xmlns:a16="http://schemas.microsoft.com/office/drawing/2014/main" id="{9EC8C96A-5A37-470A-A513-AA3E264F042A}"/>
              </a:ext>
            </a:extLst>
          </p:cNvPr>
          <p:cNvSpPr>
            <a:spLocks xmlns:a="http://schemas.openxmlformats.org/drawingml/2006/main" noGrp="1"/>
          </p:cNvSpPr>
          <p:nvPr/>
        </p:nvSpPr>
        <p:spPr>
          <a:xfrm xmlns:a="http://schemas.openxmlformats.org/drawingml/2006/main">
            <a:off x="6477000" y="382905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ACID protege la transacción</a:t>
            </a:r>
          </a:p>
        </p:txBody>
      </p:sp>
      <p:sp>
        <p:nvSpPr>
          <p:cNvPr id="10" name="">
            <a:extLst xmlns:a="http://schemas.openxmlformats.org/drawingml/2006/main">
              <a:ext uri="{FF2B5EF4-FFF2-40B4-BE49-F238E27FC236}">
                <a16:creationId xmlns:a16="http://schemas.microsoft.com/office/drawing/2014/main" id="{F2F383FE-2BBB-44F4-8BBE-3718C992E054}"/>
              </a:ext>
            </a:extLst>
          </p:cNvPr>
          <p:cNvSpPr>
            <a:spLocks xmlns:a="http://schemas.openxmlformats.org/drawingml/2006/main" noGrp="1"/>
          </p:cNvSpPr>
          <p:nvPr/>
        </p:nvSpPr>
        <p:spPr>
          <a:xfrm xmlns:a="http://schemas.openxmlformats.org/drawingml/2006/main">
            <a:off x="6477000" y="47625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CAP no obliga a abandonar ACID por replicar</a:t>
            </a:r>
          </a:p>
        </p:txBody>
      </p:sp>
      <p:sp>
        <p:nvSpPr>
          <p:cNvPr id="11" name="">
            <a:extLst xmlns:a="http://schemas.openxmlformats.org/drawingml/2006/main">
              <a:ext uri="{FF2B5EF4-FFF2-40B4-BE49-F238E27FC236}">
                <a16:creationId xmlns:a16="http://schemas.microsoft.com/office/drawing/2014/main" id="{86E70FA6-4989-46BD-9D1B-E3F24EB56569}"/>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15</a:t>
            </a:r>
          </a:p>
        </p:txBody>
      </p:sp>
    </p:spTree>
    <p:extLst>
      <p:ext uri="{BB962C8B-B14F-4D97-AF65-F5344CB8AC3E}">
        <p14:creationId xmlns:p14="http://schemas.microsoft.com/office/powerpoint/2010/main" val="186613998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1366C22-3282-4687-9DAB-B2357479526F}"/>
              </a:ext>
            </a:extLst>
          </p:cNvPr>
          <p:cNvSpPr>
            <a:spLocks xmlns:a="http://schemas.openxmlformats.org/drawingml/2006/main" noGrp="1"/>
          </p:cNvSpPr>
          <p:nvPr/>
        </p:nvSpPr>
        <p:spPr>
          <a:xfrm xmlns:a="http://schemas.openxmlformats.org/drawingml/2006/main">
            <a:off x="685800" y="3238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555555"/>
                </a:solidFill>
                <a:latin typeface="Arial"/>
                <a:ea typeface="Arial"/>
                <a:cs typeface="Arial"/>
              </a:defRPr>
            </a:defPPr>
            <a:lvl1pPr algn="l">
              <a:defRPr sz="1275" b="1">
                <a:solidFill>
                  <a:srgbClr val="555555"/>
                </a:solidFill>
                <a:latin typeface="Arial"/>
                <a:ea typeface="Arial"/>
                <a:cs typeface="Arial"/>
              </a:defRPr>
            </a:lvl1pPr>
            <a:lvl2pPr algn="l">
              <a:defRPr sz="1275" b="1">
                <a:solidFill>
                  <a:srgbClr val="555555"/>
                </a:solidFill>
                <a:latin typeface="Arial"/>
                <a:ea typeface="Arial"/>
                <a:cs typeface="Arial"/>
              </a:defRPr>
            </a:lvl2pPr>
            <a:lvl3pPr algn="l">
              <a:defRPr sz="1275" b="1">
                <a:solidFill>
                  <a:srgbClr val="555555"/>
                </a:solidFill>
                <a:latin typeface="Arial"/>
                <a:ea typeface="Arial"/>
                <a:cs typeface="Arial"/>
              </a:defRPr>
            </a:lvl3pPr>
            <a:lvl4pPr algn="l">
              <a:defRPr sz="1275" b="1">
                <a:solidFill>
                  <a:srgbClr val="555555"/>
                </a:solidFill>
                <a:latin typeface="Arial"/>
                <a:ea typeface="Arial"/>
                <a:cs typeface="Arial"/>
              </a:defRPr>
            </a:lvl4pPr>
            <a:lvl5pPr algn="l">
              <a:defRPr sz="1275" b="1">
                <a:solidFill>
                  <a:srgbClr val="555555"/>
                </a:solidFill>
                <a:latin typeface="Arial"/>
                <a:ea typeface="Arial"/>
                <a:cs typeface="Arial"/>
              </a:defRPr>
            </a:lvl5pPr>
            <a:lvl6pPr algn="l">
              <a:defRPr sz="1275" b="1">
                <a:solidFill>
                  <a:srgbClr val="555555"/>
                </a:solidFill>
                <a:latin typeface="Arial"/>
                <a:ea typeface="Arial"/>
                <a:cs typeface="Arial"/>
              </a:defRPr>
            </a:lvl6pPr>
            <a:lvl7pPr algn="l">
              <a:defRPr sz="1275" b="1">
                <a:solidFill>
                  <a:srgbClr val="555555"/>
                </a:solidFill>
                <a:latin typeface="Arial"/>
                <a:ea typeface="Arial"/>
                <a:cs typeface="Arial"/>
              </a:defRPr>
            </a:lvl7pPr>
            <a:lvl8pPr algn="l">
              <a:defRPr sz="1275" b="1">
                <a:solidFill>
                  <a:srgbClr val="555555"/>
                </a:solidFill>
                <a:latin typeface="Arial"/>
                <a:ea typeface="Arial"/>
                <a:cs typeface="Arial"/>
              </a:defRPr>
            </a:lvl8pPr>
            <a:lvl9pPr algn="l">
              <a:defRPr sz="1275" b="1">
                <a:solidFill>
                  <a:srgbClr val="555555"/>
                </a:solidFill>
                <a:latin typeface="Arial"/>
                <a:ea typeface="Arial"/>
                <a:cs typeface="Arial"/>
              </a:defRPr>
            </a:lvl9pPr>
          </a:lstStyle>
          <a:p xmlns:a="http://schemas.openxmlformats.org/drawingml/2006/main">
            <a:pPr algn="l">
              <a:defRPr sz="1275" b="1">
                <a:solidFill>
                  <a:srgbClr val="555555"/>
                </a:solidFill>
                <a:latin typeface="Arial"/>
                <a:ea typeface="Arial"/>
                <a:cs typeface="Arial"/>
              </a:defRPr>
            </a:pPr>
            <a:r>
              <a:rPr sz="1275" b="1">
                <a:solidFill>
                  <a:srgbClr val="555555"/>
                </a:solidFill>
                <a:latin typeface="Arial"/>
                <a:ea typeface="Arial"/>
                <a:cs typeface="Arial"/>
              </a:rPr>
              <a:t>G4 · Persistencia Consistencia y Mensajería</a:t>
            </a:r>
          </a:p>
        </p:txBody>
      </p:sp>
      <p:sp>
        <p:nvSpPr>
          <p:cNvPr id="2" name="">
            <a:extLst xmlns:a="http://schemas.openxmlformats.org/drawingml/2006/main">
              <a:ext uri="{FF2B5EF4-FFF2-40B4-BE49-F238E27FC236}">
                <a16:creationId xmlns:a16="http://schemas.microsoft.com/office/drawing/2014/main" id="{5ABB9006-D92E-49BB-8724-AD6185F6212D}"/>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Kafka como ampliación del sistema de reservas</a:t>
            </a:r>
          </a:p>
        </p:txBody>
      </p:sp>
      <p:sp>
        <p:nvSpPr>
          <p:cNvPr id="3" name="">
            <a:extLst xmlns:a="http://schemas.openxmlformats.org/drawingml/2006/main">
              <a:ext uri="{FF2B5EF4-FFF2-40B4-BE49-F238E27FC236}">
                <a16:creationId xmlns:a16="http://schemas.microsoft.com/office/drawing/2014/main" id="{36B882C8-B793-4D45-93C0-D2EB93AFB0A3}"/>
              </a:ext>
            </a:extLst>
          </p:cNvPr>
          <p:cNvSpPr>
            <a:spLocks xmlns:a="http://schemas.openxmlformats.org/drawingml/2006/main" noGrp="1"/>
          </p:cNvSpPr>
          <p:nvPr/>
        </p:nvSpPr>
        <p:spPr>
          <a:xfrm xmlns:a="http://schemas.openxmlformats.org/drawingml/2006/main">
            <a:off x="68580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Commit de reserva</a:t>
            </a:r>
          </a:p>
        </p:txBody>
      </p:sp>
      <p:sp>
        <p:nvSpPr>
          <p:cNvPr id="4" name="">
            <a:extLst xmlns:a="http://schemas.openxmlformats.org/drawingml/2006/main">
              <a:ext uri="{FF2B5EF4-FFF2-40B4-BE49-F238E27FC236}">
                <a16:creationId xmlns:a16="http://schemas.microsoft.com/office/drawing/2014/main" id="{A9DB37CC-0688-4380-9C5F-5D640945117A}"/>
              </a:ext>
            </a:extLst>
          </p:cNvPr>
          <p:cNvSpPr>
            <a:spLocks xmlns:a="http://schemas.openxmlformats.org/drawingml/2006/main" noGrp="1"/>
          </p:cNvSpPr>
          <p:nvPr/>
        </p:nvSpPr>
        <p:spPr>
          <a:xfrm xmlns:a="http://schemas.openxmlformats.org/drawingml/2006/main">
            <a:off x="302895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45BBA145-E1D0-49B3-AC22-66A71D41C3E7}"/>
              </a:ext>
            </a:extLst>
          </p:cNvPr>
          <p:cNvSpPr>
            <a:spLocks xmlns:a="http://schemas.openxmlformats.org/drawingml/2006/main" noGrp="1"/>
          </p:cNvSpPr>
          <p:nvPr/>
        </p:nvSpPr>
        <p:spPr>
          <a:xfrm xmlns:a="http://schemas.openxmlformats.org/drawingml/2006/main">
            <a:off x="340995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Outbox</a:t>
            </a:r>
          </a:p>
        </p:txBody>
      </p:sp>
      <p:sp>
        <p:nvSpPr>
          <p:cNvPr id="6" name="">
            <a:extLst xmlns:a="http://schemas.openxmlformats.org/drawingml/2006/main">
              <a:ext uri="{FF2B5EF4-FFF2-40B4-BE49-F238E27FC236}">
                <a16:creationId xmlns:a16="http://schemas.microsoft.com/office/drawing/2014/main" id="{29AE7FE5-255D-4441-B445-0B951A3A6384}"/>
              </a:ext>
            </a:extLst>
          </p:cNvPr>
          <p:cNvSpPr>
            <a:spLocks xmlns:a="http://schemas.openxmlformats.org/drawingml/2006/main" noGrp="1"/>
          </p:cNvSpPr>
          <p:nvPr/>
        </p:nvSpPr>
        <p:spPr>
          <a:xfrm xmlns:a="http://schemas.openxmlformats.org/drawingml/2006/main">
            <a:off x="575310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5F503DD6-60AD-4ACA-B0F0-49AADE1B8390}"/>
              </a:ext>
            </a:extLst>
          </p:cNvPr>
          <p:cNvSpPr>
            <a:spLocks xmlns:a="http://schemas.openxmlformats.org/drawingml/2006/main" noGrp="1"/>
          </p:cNvSpPr>
          <p:nvPr/>
        </p:nvSpPr>
        <p:spPr>
          <a:xfrm xmlns:a="http://schemas.openxmlformats.org/drawingml/2006/main">
            <a:off x="613410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Publicador Kafka</a:t>
            </a:r>
          </a:p>
        </p:txBody>
      </p:sp>
      <p:sp>
        <p:nvSpPr>
          <p:cNvPr id="8" name="">
            <a:extLst xmlns:a="http://schemas.openxmlformats.org/drawingml/2006/main">
              <a:ext uri="{FF2B5EF4-FFF2-40B4-BE49-F238E27FC236}">
                <a16:creationId xmlns:a16="http://schemas.microsoft.com/office/drawing/2014/main" id="{BE9EFCF5-49C1-4335-A9A2-798E1367F23C}"/>
              </a:ext>
            </a:extLst>
          </p:cNvPr>
          <p:cNvSpPr>
            <a:spLocks xmlns:a="http://schemas.openxmlformats.org/drawingml/2006/main" noGrp="1"/>
          </p:cNvSpPr>
          <p:nvPr/>
        </p:nvSpPr>
        <p:spPr>
          <a:xfrm xmlns:a="http://schemas.openxmlformats.org/drawingml/2006/main">
            <a:off x="847725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64A3B809-862E-4C49-86DC-299174C84A98}"/>
              </a:ext>
            </a:extLst>
          </p:cNvPr>
          <p:cNvSpPr>
            <a:spLocks xmlns:a="http://schemas.openxmlformats.org/drawingml/2006/main" noGrp="1"/>
          </p:cNvSpPr>
          <p:nvPr/>
        </p:nvSpPr>
        <p:spPr>
          <a:xfrm xmlns:a="http://schemas.openxmlformats.org/drawingml/2006/main">
            <a:off x="885825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Consumidor</a:t>
            </a:r>
          </a:p>
        </p:txBody>
      </p:sp>
      <p:sp>
        <p:nvSpPr>
          <p:cNvPr id="10" name="">
            <a:extLst xmlns:a="http://schemas.openxmlformats.org/drawingml/2006/main">
              <a:ext uri="{FF2B5EF4-FFF2-40B4-BE49-F238E27FC236}">
                <a16:creationId xmlns:a16="http://schemas.microsoft.com/office/drawing/2014/main" id="{B3F2F357-2106-43C8-8F92-535752911EDC}"/>
              </a:ext>
            </a:extLst>
          </p:cNvPr>
          <p:cNvSpPr>
            <a:spLocks xmlns:a="http://schemas.openxmlformats.org/drawingml/2006/main" noGrp="1"/>
          </p:cNvSpPr>
          <p:nvPr/>
        </p:nvSpPr>
        <p:spPr>
          <a:xfrm xmlns:a="http://schemas.openxmlformats.org/drawingml/2006/main">
            <a:off x="685800" y="41719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Evento de reserva confirmada y consumidor idempotente</a:t>
            </a:r>
          </a:p>
        </p:txBody>
      </p:sp>
      <p:sp>
        <p:nvSpPr>
          <p:cNvPr id="11" name="">
            <a:extLst xmlns:a="http://schemas.openxmlformats.org/drawingml/2006/main">
              <a:ext uri="{FF2B5EF4-FFF2-40B4-BE49-F238E27FC236}">
                <a16:creationId xmlns:a16="http://schemas.microsoft.com/office/drawing/2014/main" id="{0C30E61E-FE6E-4851-9622-675E3D7966FE}"/>
              </a:ext>
            </a:extLst>
          </p:cNvPr>
          <p:cNvSpPr>
            <a:spLocks xmlns:a="http://schemas.openxmlformats.org/drawingml/2006/main" noGrp="1"/>
          </p:cNvSpPr>
          <p:nvPr/>
        </p:nvSpPr>
        <p:spPr>
          <a:xfrm xmlns:a="http://schemas.openxmlformats.org/drawingml/2006/main">
            <a:off x="685800" y="49149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Partición según orden requerido y distribución de carga</a:t>
            </a:r>
          </a:p>
        </p:txBody>
      </p:sp>
      <p:sp>
        <p:nvSpPr>
          <p:cNvPr id="12" name="">
            <a:extLst xmlns:a="http://schemas.openxmlformats.org/drawingml/2006/main">
              <a:ext uri="{FF2B5EF4-FFF2-40B4-BE49-F238E27FC236}">
                <a16:creationId xmlns:a16="http://schemas.microsoft.com/office/drawing/2014/main" id="{5F900173-A25D-4A16-A08B-54609D2D32D7}"/>
              </a:ext>
            </a:extLst>
          </p:cNvPr>
          <p:cNvSpPr>
            <a:spLocks xmlns:a="http://schemas.openxmlformats.org/drawingml/2006/main" noGrp="1"/>
          </p:cNvSpPr>
          <p:nvPr/>
        </p:nvSpPr>
        <p:spPr>
          <a:xfrm xmlns:a="http://schemas.openxmlformats.org/drawingml/2006/main">
            <a:off x="685800" y="61531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Propuesta · no modifica el significado del comprobante actual</a:t>
            </a:r>
          </a:p>
        </p:txBody>
      </p:sp>
      <p:sp>
        <p:nvSpPr>
          <p:cNvPr id="13" name="">
            <a:extLst xmlns:a="http://schemas.openxmlformats.org/drawingml/2006/main">
              <a:ext uri="{FF2B5EF4-FFF2-40B4-BE49-F238E27FC236}">
                <a16:creationId xmlns:a16="http://schemas.microsoft.com/office/drawing/2014/main" id="{30A55FF5-4393-4626-8704-C06B834BA75C}"/>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16</a:t>
            </a:r>
          </a:p>
        </p:txBody>
      </p:sp>
    </p:spTree>
    <p:extLst>
      <p:ext uri="{BB962C8B-B14F-4D97-AF65-F5344CB8AC3E}">
        <p14:creationId xmlns:p14="http://schemas.microsoft.com/office/powerpoint/2010/main" val="184499986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DA5586A-4731-4E4E-9904-5EEC31E2F70B}"/>
              </a:ext>
            </a:extLst>
          </p:cNvPr>
          <p:cNvSpPr>
            <a:spLocks xmlns:a="http://schemas.openxmlformats.org/drawingml/2006/main" noGrp="1"/>
          </p:cNvSpPr>
          <p:nvPr/>
        </p:nvSpPr>
        <p:spPr>
          <a:xfrm xmlns:a="http://schemas.openxmlformats.org/drawingml/2006/main">
            <a:off x="685800" y="3238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555555"/>
                </a:solidFill>
                <a:latin typeface="Arial"/>
                <a:ea typeface="Arial"/>
                <a:cs typeface="Arial"/>
              </a:defRPr>
            </a:defPPr>
            <a:lvl1pPr algn="l">
              <a:defRPr sz="1275" b="1">
                <a:solidFill>
                  <a:srgbClr val="555555"/>
                </a:solidFill>
                <a:latin typeface="Arial"/>
                <a:ea typeface="Arial"/>
                <a:cs typeface="Arial"/>
              </a:defRPr>
            </a:lvl1pPr>
            <a:lvl2pPr algn="l">
              <a:defRPr sz="1275" b="1">
                <a:solidFill>
                  <a:srgbClr val="555555"/>
                </a:solidFill>
                <a:latin typeface="Arial"/>
                <a:ea typeface="Arial"/>
                <a:cs typeface="Arial"/>
              </a:defRPr>
            </a:lvl2pPr>
            <a:lvl3pPr algn="l">
              <a:defRPr sz="1275" b="1">
                <a:solidFill>
                  <a:srgbClr val="555555"/>
                </a:solidFill>
                <a:latin typeface="Arial"/>
                <a:ea typeface="Arial"/>
                <a:cs typeface="Arial"/>
              </a:defRPr>
            </a:lvl3pPr>
            <a:lvl4pPr algn="l">
              <a:defRPr sz="1275" b="1">
                <a:solidFill>
                  <a:srgbClr val="555555"/>
                </a:solidFill>
                <a:latin typeface="Arial"/>
                <a:ea typeface="Arial"/>
                <a:cs typeface="Arial"/>
              </a:defRPr>
            </a:lvl4pPr>
            <a:lvl5pPr algn="l">
              <a:defRPr sz="1275" b="1">
                <a:solidFill>
                  <a:srgbClr val="555555"/>
                </a:solidFill>
                <a:latin typeface="Arial"/>
                <a:ea typeface="Arial"/>
                <a:cs typeface="Arial"/>
              </a:defRPr>
            </a:lvl5pPr>
            <a:lvl6pPr algn="l">
              <a:defRPr sz="1275" b="1">
                <a:solidFill>
                  <a:srgbClr val="555555"/>
                </a:solidFill>
                <a:latin typeface="Arial"/>
                <a:ea typeface="Arial"/>
                <a:cs typeface="Arial"/>
              </a:defRPr>
            </a:lvl6pPr>
            <a:lvl7pPr algn="l">
              <a:defRPr sz="1275" b="1">
                <a:solidFill>
                  <a:srgbClr val="555555"/>
                </a:solidFill>
                <a:latin typeface="Arial"/>
                <a:ea typeface="Arial"/>
                <a:cs typeface="Arial"/>
              </a:defRPr>
            </a:lvl7pPr>
            <a:lvl8pPr algn="l">
              <a:defRPr sz="1275" b="1">
                <a:solidFill>
                  <a:srgbClr val="555555"/>
                </a:solidFill>
                <a:latin typeface="Arial"/>
                <a:ea typeface="Arial"/>
                <a:cs typeface="Arial"/>
              </a:defRPr>
            </a:lvl8pPr>
            <a:lvl9pPr algn="l">
              <a:defRPr sz="1275" b="1">
                <a:solidFill>
                  <a:srgbClr val="555555"/>
                </a:solidFill>
                <a:latin typeface="Arial"/>
                <a:ea typeface="Arial"/>
                <a:cs typeface="Arial"/>
              </a:defRPr>
            </a:lvl9pPr>
          </a:lstStyle>
          <a:p xmlns:a="http://schemas.openxmlformats.org/drawingml/2006/main">
            <a:pPr algn="l">
              <a:defRPr sz="1275" b="1">
                <a:solidFill>
                  <a:srgbClr val="555555"/>
                </a:solidFill>
                <a:latin typeface="Arial"/>
                <a:ea typeface="Arial"/>
                <a:cs typeface="Arial"/>
              </a:defRPr>
            </a:pPr>
            <a:r>
              <a:rPr sz="1275" b="1">
                <a:solidFill>
                  <a:srgbClr val="555555"/>
                </a:solidFill>
                <a:latin typeface="Arial"/>
                <a:ea typeface="Arial"/>
                <a:cs typeface="Arial"/>
              </a:rPr>
              <a:t>G5 · Observabilidad y Métricas</a:t>
            </a:r>
          </a:p>
        </p:txBody>
      </p:sp>
      <p:sp>
        <p:nvSpPr>
          <p:cNvPr id="2" name="">
            <a:extLst xmlns:a="http://schemas.openxmlformats.org/drawingml/2006/main">
              <a:ext uri="{FF2B5EF4-FFF2-40B4-BE49-F238E27FC236}">
                <a16:creationId xmlns:a16="http://schemas.microsoft.com/office/drawing/2014/main" id="{306744D2-6616-4955-9ABC-037C32C08F41}"/>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Métricas de plataforma y de negocio</a:t>
            </a:r>
          </a:p>
        </p:txBody>
      </p:sp>
      <p:sp>
        <p:nvSpPr>
          <p:cNvPr id="3" name="">
            <a:extLst xmlns:a="http://schemas.openxmlformats.org/drawingml/2006/main">
              <a:ext uri="{FF2B5EF4-FFF2-40B4-BE49-F238E27FC236}">
                <a16:creationId xmlns:a16="http://schemas.microsoft.com/office/drawing/2014/main" id="{987A15AF-CDCD-47BF-9EB4-55C46A152DD6}"/>
              </a:ext>
            </a:extLst>
          </p:cNvPr>
          <p:cNvSpPr>
            <a:spLocks xmlns:a="http://schemas.openxmlformats.org/drawingml/2006/main" noGrp="1"/>
          </p:cNvSpPr>
          <p:nvPr/>
        </p:nvSpPr>
        <p:spPr>
          <a:xfrm xmlns:a="http://schemas.openxmlformats.org/drawingml/2006/main">
            <a:off x="685800" y="207645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Servicio e infraestructura</a:t>
            </a:r>
          </a:p>
        </p:txBody>
      </p:sp>
      <p:sp>
        <p:nvSpPr>
          <p:cNvPr id="4" name="">
            <a:extLst xmlns:a="http://schemas.openxmlformats.org/drawingml/2006/main">
              <a:ext uri="{FF2B5EF4-FFF2-40B4-BE49-F238E27FC236}">
                <a16:creationId xmlns:a16="http://schemas.microsoft.com/office/drawing/2014/main" id="{F0749648-7F01-437F-8367-3632D2540E11}"/>
              </a:ext>
            </a:extLst>
          </p:cNvPr>
          <p:cNvSpPr>
            <a:spLocks xmlns:a="http://schemas.openxmlformats.org/drawingml/2006/main" noGrp="1"/>
          </p:cNvSpPr>
          <p:nvPr/>
        </p:nvSpPr>
        <p:spPr>
          <a:xfrm xmlns:a="http://schemas.openxmlformats.org/drawingml/2006/main">
            <a:off x="6477000" y="2076450"/>
            <a:ext cx="502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Reservas</a:t>
            </a:r>
          </a:p>
        </p:txBody>
      </p:sp>
      <p:sp>
        <p:nvSpPr>
          <p:cNvPr id="5" name="">
            <a:extLst xmlns:a="http://schemas.openxmlformats.org/drawingml/2006/main">
              <a:ext uri="{FF2B5EF4-FFF2-40B4-BE49-F238E27FC236}">
                <a16:creationId xmlns:a16="http://schemas.microsoft.com/office/drawing/2014/main" id="{2FA62D4B-358B-4BEE-9F74-E88D790E6F07}"/>
              </a:ext>
            </a:extLst>
          </p:cNvPr>
          <p:cNvSpPr>
            <a:spLocks xmlns:a="http://schemas.openxmlformats.org/drawingml/2006/main" noGrp="1"/>
          </p:cNvSpPr>
          <p:nvPr/>
        </p:nvSpPr>
        <p:spPr>
          <a:xfrm xmlns:a="http://schemas.openxmlformats.org/drawingml/2006/main">
            <a:off x="685800" y="28956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p95 p99 tasa y errores por operación</a:t>
            </a:r>
          </a:p>
        </p:txBody>
      </p:sp>
      <p:sp>
        <p:nvSpPr>
          <p:cNvPr id="6" name="">
            <a:extLst xmlns:a="http://schemas.openxmlformats.org/drawingml/2006/main">
              <a:ext uri="{FF2B5EF4-FFF2-40B4-BE49-F238E27FC236}">
                <a16:creationId xmlns:a16="http://schemas.microsoft.com/office/drawing/2014/main" id="{5DE1B8BD-09F9-4AE9-B5B5-3B78FE5D4CB7}"/>
              </a:ext>
            </a:extLst>
          </p:cNvPr>
          <p:cNvSpPr>
            <a:spLocks xmlns:a="http://schemas.openxmlformats.org/drawingml/2006/main" noGrp="1"/>
          </p:cNvSpPr>
          <p:nvPr/>
        </p:nvSpPr>
        <p:spPr>
          <a:xfrm xmlns:a="http://schemas.openxmlformats.org/drawingml/2006/main">
            <a:off x="685800" y="382905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CPU memoria réplicas y cuotas</a:t>
            </a:r>
          </a:p>
        </p:txBody>
      </p:sp>
      <p:sp>
        <p:nvSpPr>
          <p:cNvPr id="7" name="">
            <a:extLst xmlns:a="http://schemas.openxmlformats.org/drawingml/2006/main">
              <a:ext uri="{FF2B5EF4-FFF2-40B4-BE49-F238E27FC236}">
                <a16:creationId xmlns:a16="http://schemas.microsoft.com/office/drawing/2014/main" id="{FE6752AE-41EF-4009-BE35-B0FFDAF2A2BE}"/>
              </a:ext>
            </a:extLst>
          </p:cNvPr>
          <p:cNvSpPr>
            <a:spLocks xmlns:a="http://schemas.openxmlformats.org/drawingml/2006/main" noGrp="1"/>
          </p:cNvSpPr>
          <p:nvPr/>
        </p:nvSpPr>
        <p:spPr>
          <a:xfrm xmlns:a="http://schemas.openxmlformats.org/drawingml/2006/main">
            <a:off x="685800" y="47625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Rezago y tiempo de recuperación</a:t>
            </a:r>
          </a:p>
        </p:txBody>
      </p:sp>
      <p:sp>
        <p:nvSpPr>
          <p:cNvPr id="8" name="">
            <a:extLst xmlns:a="http://schemas.openxmlformats.org/drawingml/2006/main">
              <a:ext uri="{FF2B5EF4-FFF2-40B4-BE49-F238E27FC236}">
                <a16:creationId xmlns:a16="http://schemas.microsoft.com/office/drawing/2014/main" id="{624B4C4C-6016-4079-879D-B058E9A7E382}"/>
              </a:ext>
            </a:extLst>
          </p:cNvPr>
          <p:cNvSpPr>
            <a:spLocks xmlns:a="http://schemas.openxmlformats.org/drawingml/2006/main" noGrp="1"/>
          </p:cNvSpPr>
          <p:nvPr/>
        </p:nvSpPr>
        <p:spPr>
          <a:xfrm xmlns:a="http://schemas.openxmlformats.org/drawingml/2006/main">
            <a:off x="6477000" y="28956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Confirmaciones únicas por segundo</a:t>
            </a:r>
          </a:p>
        </p:txBody>
      </p:sp>
      <p:sp>
        <p:nvSpPr>
          <p:cNvPr id="9" name="">
            <a:extLst xmlns:a="http://schemas.openxmlformats.org/drawingml/2006/main">
              <a:ext uri="{FF2B5EF4-FFF2-40B4-BE49-F238E27FC236}">
                <a16:creationId xmlns:a16="http://schemas.microsoft.com/office/drawing/2014/main" id="{409EFB09-1BC0-4B74-B9FF-A27868A12499}"/>
              </a:ext>
            </a:extLst>
          </p:cNvPr>
          <p:cNvSpPr>
            <a:spLocks xmlns:a="http://schemas.openxmlformats.org/drawingml/2006/main" noGrp="1"/>
          </p:cNvSpPr>
          <p:nvPr/>
        </p:nvSpPr>
        <p:spPr>
          <a:xfrm xmlns:a="http://schemas.openxmlformats.org/drawingml/2006/main">
            <a:off x="6477000" y="382905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Cupos restantes y sobreventa</a:t>
            </a:r>
          </a:p>
        </p:txBody>
      </p:sp>
      <p:sp>
        <p:nvSpPr>
          <p:cNvPr id="10" name="">
            <a:extLst xmlns:a="http://schemas.openxmlformats.org/drawingml/2006/main">
              <a:ext uri="{FF2B5EF4-FFF2-40B4-BE49-F238E27FC236}">
                <a16:creationId xmlns:a16="http://schemas.microsoft.com/office/drawing/2014/main" id="{D89787B9-4164-4A7D-ABA9-B901796B91D9}"/>
              </a:ext>
            </a:extLst>
          </p:cNvPr>
          <p:cNvSpPr>
            <a:spLocks xmlns:a="http://schemas.openxmlformats.org/drawingml/2006/main" noGrp="1"/>
          </p:cNvSpPr>
          <p:nvPr/>
        </p:nvSpPr>
        <p:spPr>
          <a:xfrm xmlns:a="http://schemas.openxmlformats.org/drawingml/2006/main">
            <a:off x="6477000" y="47625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Reenvíos conflictos y outbox</a:t>
            </a:r>
          </a:p>
        </p:txBody>
      </p:sp>
      <p:sp>
        <p:nvSpPr>
          <p:cNvPr id="11" name="">
            <a:extLst xmlns:a="http://schemas.openxmlformats.org/drawingml/2006/main">
              <a:ext uri="{FF2B5EF4-FFF2-40B4-BE49-F238E27FC236}">
                <a16:creationId xmlns:a16="http://schemas.microsoft.com/office/drawing/2014/main" id="{E8E13E76-46D1-490B-A6AC-9EE3ADF74C23}"/>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17</a:t>
            </a:r>
          </a:p>
        </p:txBody>
      </p:sp>
    </p:spTree>
    <p:extLst>
      <p:ext uri="{BB962C8B-B14F-4D97-AF65-F5344CB8AC3E}">
        <p14:creationId xmlns:p14="http://schemas.microsoft.com/office/powerpoint/2010/main" val="18380149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81B84B2-FF3D-414A-90E2-C4E60614EB91}"/>
              </a:ext>
            </a:extLst>
          </p:cNvPr>
          <p:cNvSpPr>
            <a:spLocks xmlns:a="http://schemas.openxmlformats.org/drawingml/2006/main" noGrp="1"/>
          </p:cNvSpPr>
          <p:nvPr/>
        </p:nvSpPr>
        <p:spPr>
          <a:xfrm xmlns:a="http://schemas.openxmlformats.org/drawingml/2006/main">
            <a:off x="685800" y="3238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555555"/>
                </a:solidFill>
                <a:latin typeface="Arial"/>
                <a:ea typeface="Arial"/>
                <a:cs typeface="Arial"/>
              </a:defRPr>
            </a:defPPr>
            <a:lvl1pPr algn="l">
              <a:defRPr sz="1275" b="1">
                <a:solidFill>
                  <a:srgbClr val="555555"/>
                </a:solidFill>
                <a:latin typeface="Arial"/>
                <a:ea typeface="Arial"/>
                <a:cs typeface="Arial"/>
              </a:defRPr>
            </a:lvl1pPr>
            <a:lvl2pPr algn="l">
              <a:defRPr sz="1275" b="1">
                <a:solidFill>
                  <a:srgbClr val="555555"/>
                </a:solidFill>
                <a:latin typeface="Arial"/>
                <a:ea typeface="Arial"/>
                <a:cs typeface="Arial"/>
              </a:defRPr>
            </a:lvl2pPr>
            <a:lvl3pPr algn="l">
              <a:defRPr sz="1275" b="1">
                <a:solidFill>
                  <a:srgbClr val="555555"/>
                </a:solidFill>
                <a:latin typeface="Arial"/>
                <a:ea typeface="Arial"/>
                <a:cs typeface="Arial"/>
              </a:defRPr>
            </a:lvl3pPr>
            <a:lvl4pPr algn="l">
              <a:defRPr sz="1275" b="1">
                <a:solidFill>
                  <a:srgbClr val="555555"/>
                </a:solidFill>
                <a:latin typeface="Arial"/>
                <a:ea typeface="Arial"/>
                <a:cs typeface="Arial"/>
              </a:defRPr>
            </a:lvl4pPr>
            <a:lvl5pPr algn="l">
              <a:defRPr sz="1275" b="1">
                <a:solidFill>
                  <a:srgbClr val="555555"/>
                </a:solidFill>
                <a:latin typeface="Arial"/>
                <a:ea typeface="Arial"/>
                <a:cs typeface="Arial"/>
              </a:defRPr>
            </a:lvl5pPr>
            <a:lvl6pPr algn="l">
              <a:defRPr sz="1275" b="1">
                <a:solidFill>
                  <a:srgbClr val="555555"/>
                </a:solidFill>
                <a:latin typeface="Arial"/>
                <a:ea typeface="Arial"/>
                <a:cs typeface="Arial"/>
              </a:defRPr>
            </a:lvl6pPr>
            <a:lvl7pPr algn="l">
              <a:defRPr sz="1275" b="1">
                <a:solidFill>
                  <a:srgbClr val="555555"/>
                </a:solidFill>
                <a:latin typeface="Arial"/>
                <a:ea typeface="Arial"/>
                <a:cs typeface="Arial"/>
              </a:defRPr>
            </a:lvl7pPr>
            <a:lvl8pPr algn="l">
              <a:defRPr sz="1275" b="1">
                <a:solidFill>
                  <a:srgbClr val="555555"/>
                </a:solidFill>
                <a:latin typeface="Arial"/>
                <a:ea typeface="Arial"/>
                <a:cs typeface="Arial"/>
              </a:defRPr>
            </a:lvl8pPr>
            <a:lvl9pPr algn="l">
              <a:defRPr sz="1275" b="1">
                <a:solidFill>
                  <a:srgbClr val="555555"/>
                </a:solidFill>
                <a:latin typeface="Arial"/>
                <a:ea typeface="Arial"/>
                <a:cs typeface="Arial"/>
              </a:defRPr>
            </a:lvl9pPr>
          </a:lstStyle>
          <a:p xmlns:a="http://schemas.openxmlformats.org/drawingml/2006/main">
            <a:pPr algn="l">
              <a:defRPr sz="1275" b="1">
                <a:solidFill>
                  <a:srgbClr val="555555"/>
                </a:solidFill>
                <a:latin typeface="Arial"/>
                <a:ea typeface="Arial"/>
                <a:cs typeface="Arial"/>
              </a:defRPr>
            </a:pPr>
            <a:r>
              <a:rPr sz="1275" b="1">
                <a:solidFill>
                  <a:srgbClr val="555555"/>
                </a:solidFill>
                <a:latin typeface="Arial"/>
                <a:ea typeface="Arial"/>
                <a:cs typeface="Arial"/>
              </a:rPr>
              <a:t>G5 · Observabilidad y Métricas</a:t>
            </a:r>
          </a:p>
        </p:txBody>
      </p:sp>
      <p:sp>
        <p:nvSpPr>
          <p:cNvPr id="2" name="">
            <a:extLst xmlns:a="http://schemas.openxmlformats.org/drawingml/2006/main">
              <a:ext uri="{FF2B5EF4-FFF2-40B4-BE49-F238E27FC236}">
                <a16:creationId xmlns:a16="http://schemas.microsoft.com/office/drawing/2014/main" id="{F915F450-C6CE-44A0-9F86-CBF0E3BB3972}"/>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Instrumentación actual y tablero propuesto</a:t>
            </a:r>
          </a:p>
        </p:txBody>
      </p:sp>
      <p:sp>
        <p:nvSpPr>
          <p:cNvPr id="3" name="">
            <a:extLst xmlns:a="http://schemas.openxmlformats.org/drawingml/2006/main">
              <a:ext uri="{FF2B5EF4-FFF2-40B4-BE49-F238E27FC236}">
                <a16:creationId xmlns:a16="http://schemas.microsoft.com/office/drawing/2014/main" id="{50D57142-2F54-465A-956E-CD8B1E5F4218}"/>
              </a:ext>
            </a:extLst>
          </p:cNvPr>
          <p:cNvSpPr>
            <a:spLocks xmlns:a="http://schemas.openxmlformats.org/drawingml/2006/main" noGrp="1"/>
          </p:cNvSpPr>
          <p:nvPr/>
        </p:nvSpPr>
        <p:spPr>
          <a:xfrm xmlns:a="http://schemas.openxmlformats.org/drawingml/2006/main">
            <a:off x="685800" y="207645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Disponible</a:t>
            </a:r>
          </a:p>
        </p:txBody>
      </p:sp>
      <p:sp>
        <p:nvSpPr>
          <p:cNvPr id="4" name="">
            <a:extLst xmlns:a="http://schemas.openxmlformats.org/drawingml/2006/main">
              <a:ext uri="{FF2B5EF4-FFF2-40B4-BE49-F238E27FC236}">
                <a16:creationId xmlns:a16="http://schemas.microsoft.com/office/drawing/2014/main" id="{F9BD04DC-985D-49F3-A2C0-5773B9F33B08}"/>
              </a:ext>
            </a:extLst>
          </p:cNvPr>
          <p:cNvSpPr>
            <a:spLocks xmlns:a="http://schemas.openxmlformats.org/drawingml/2006/main" noGrp="1"/>
          </p:cNvSpPr>
          <p:nvPr/>
        </p:nvSpPr>
        <p:spPr>
          <a:xfrm xmlns:a="http://schemas.openxmlformats.org/drawingml/2006/main">
            <a:off x="6477000" y="2076450"/>
            <a:ext cx="502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Por integrar</a:t>
            </a:r>
          </a:p>
        </p:txBody>
      </p:sp>
      <p:sp>
        <p:nvSpPr>
          <p:cNvPr id="5" name="">
            <a:extLst xmlns:a="http://schemas.openxmlformats.org/drawingml/2006/main">
              <a:ext uri="{FF2B5EF4-FFF2-40B4-BE49-F238E27FC236}">
                <a16:creationId xmlns:a16="http://schemas.microsoft.com/office/drawing/2014/main" id="{85AA8E9B-5479-4FC0-BD92-7BB3539254AB}"/>
              </a:ext>
            </a:extLst>
          </p:cNvPr>
          <p:cNvSpPr>
            <a:spLocks xmlns:a="http://schemas.openxmlformats.org/drawingml/2006/main" noGrp="1"/>
          </p:cNvSpPr>
          <p:nvPr/>
        </p:nvSpPr>
        <p:spPr>
          <a:xfrm xmlns:a="http://schemas.openxmlformats.org/drawingml/2006/main">
            <a:off x="685800" y="28956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Contadores y suma y conteo de duración</a:t>
            </a:r>
          </a:p>
        </p:txBody>
      </p:sp>
      <p:sp>
        <p:nvSpPr>
          <p:cNvPr id="6" name="">
            <a:extLst xmlns:a="http://schemas.openxmlformats.org/drawingml/2006/main">
              <a:ext uri="{FF2B5EF4-FFF2-40B4-BE49-F238E27FC236}">
                <a16:creationId xmlns:a16="http://schemas.microsoft.com/office/drawing/2014/main" id="{47FFC24D-F0E7-4BF3-9FD2-6E892CF238CC}"/>
              </a:ext>
            </a:extLst>
          </p:cNvPr>
          <p:cNvSpPr>
            <a:spLocks xmlns:a="http://schemas.openxmlformats.org/drawingml/2006/main" noGrp="1"/>
          </p:cNvSpPr>
          <p:nvPr/>
        </p:nvSpPr>
        <p:spPr>
          <a:xfrm xmlns:a="http://schemas.openxmlformats.org/drawingml/2006/main">
            <a:off x="685800" y="382905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Latencias crudas del generador</a:t>
            </a:r>
          </a:p>
        </p:txBody>
      </p:sp>
      <p:sp>
        <p:nvSpPr>
          <p:cNvPr id="7" name="">
            <a:extLst xmlns:a="http://schemas.openxmlformats.org/drawingml/2006/main">
              <a:ext uri="{FF2B5EF4-FFF2-40B4-BE49-F238E27FC236}">
                <a16:creationId xmlns:a16="http://schemas.microsoft.com/office/drawing/2014/main" id="{D28918EB-A6A3-44C5-B069-3983E8C172BD}"/>
              </a:ext>
            </a:extLst>
          </p:cNvPr>
          <p:cNvSpPr>
            <a:spLocks xmlns:a="http://schemas.openxmlformats.org/drawingml/2006/main" noGrp="1"/>
          </p:cNvSpPr>
          <p:nvPr/>
        </p:nvSpPr>
        <p:spPr>
          <a:xfrm xmlns:a="http://schemas.openxmlformats.org/drawingml/2006/main">
            <a:off x="685800" y="47625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Docker stats y cgroup v2 en S19</a:t>
            </a:r>
          </a:p>
        </p:txBody>
      </p:sp>
      <p:sp>
        <p:nvSpPr>
          <p:cNvPr id="8" name="">
            <a:extLst xmlns:a="http://schemas.openxmlformats.org/drawingml/2006/main">
              <a:ext uri="{FF2B5EF4-FFF2-40B4-BE49-F238E27FC236}">
                <a16:creationId xmlns:a16="http://schemas.microsoft.com/office/drawing/2014/main" id="{924CB910-5508-4E2E-AFA4-6FFE153FDFE0}"/>
              </a:ext>
            </a:extLst>
          </p:cNvPr>
          <p:cNvSpPr>
            <a:spLocks xmlns:a="http://schemas.openxmlformats.org/drawingml/2006/main" noGrp="1"/>
          </p:cNvSpPr>
          <p:nvPr/>
        </p:nvSpPr>
        <p:spPr>
          <a:xfrm xmlns:a="http://schemas.openxmlformats.org/drawingml/2006/main">
            <a:off x="6477000" y="28956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Histogramas Prometheus y Grafana</a:t>
            </a:r>
          </a:p>
        </p:txBody>
      </p:sp>
      <p:sp>
        <p:nvSpPr>
          <p:cNvPr id="9" name="">
            <a:extLst xmlns:a="http://schemas.openxmlformats.org/drawingml/2006/main">
              <a:ext uri="{FF2B5EF4-FFF2-40B4-BE49-F238E27FC236}">
                <a16:creationId xmlns:a16="http://schemas.microsoft.com/office/drawing/2014/main" id="{BDA56CD4-5EBC-4987-98A2-CCAEAB025846}"/>
              </a:ext>
            </a:extLst>
          </p:cNvPr>
          <p:cNvSpPr>
            <a:spLocks xmlns:a="http://schemas.openxmlformats.org/drawingml/2006/main" noGrp="1"/>
          </p:cNvSpPr>
          <p:nvPr/>
        </p:nvSpPr>
        <p:spPr>
          <a:xfrm xmlns:a="http://schemas.openxmlformats.org/drawingml/2006/main">
            <a:off x="6477000" y="382905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Trazas OpenTelemetry y Jaeger</a:t>
            </a:r>
          </a:p>
        </p:txBody>
      </p:sp>
      <p:sp>
        <p:nvSpPr>
          <p:cNvPr id="10" name="">
            <a:extLst xmlns:a="http://schemas.openxmlformats.org/drawingml/2006/main">
              <a:ext uri="{FF2B5EF4-FFF2-40B4-BE49-F238E27FC236}">
                <a16:creationId xmlns:a16="http://schemas.microsoft.com/office/drawing/2014/main" id="{DA30FD8F-BA0F-42F2-B8CD-E532671318F8}"/>
              </a:ext>
            </a:extLst>
          </p:cNvPr>
          <p:cNvSpPr>
            <a:spLocks xmlns:a="http://schemas.openxmlformats.org/drawingml/2006/main" noGrp="1"/>
          </p:cNvSpPr>
          <p:nvPr/>
        </p:nvSpPr>
        <p:spPr>
          <a:xfrm xmlns:a="http://schemas.openxmlformats.org/drawingml/2006/main">
            <a:off x="6477000" y="47625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Adapter de métricas para escalado</a:t>
            </a:r>
          </a:p>
        </p:txBody>
      </p:sp>
      <p:sp>
        <p:nvSpPr>
          <p:cNvPr id="11" name="">
            <a:extLst xmlns:a="http://schemas.openxmlformats.org/drawingml/2006/main">
              <a:ext uri="{FF2B5EF4-FFF2-40B4-BE49-F238E27FC236}">
                <a16:creationId xmlns:a16="http://schemas.microsoft.com/office/drawing/2014/main" id="{4F05975C-7793-4891-8B14-A5190F77E856}"/>
              </a:ext>
            </a:extLst>
          </p:cNvPr>
          <p:cNvSpPr>
            <a:spLocks xmlns:a="http://schemas.openxmlformats.org/drawingml/2006/main" noGrp="1"/>
          </p:cNvSpPr>
          <p:nvPr/>
        </p:nvSpPr>
        <p:spPr>
          <a:xfrm xmlns:a="http://schemas.openxmlformats.org/drawingml/2006/main">
            <a:off x="685800" y="61531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Suma y conteo permiten una media; no reconstruyen p95</a:t>
            </a:r>
          </a:p>
        </p:txBody>
      </p:sp>
      <p:sp>
        <p:nvSpPr>
          <p:cNvPr id="12" name="">
            <a:extLst xmlns:a="http://schemas.openxmlformats.org/drawingml/2006/main">
              <a:ext uri="{FF2B5EF4-FFF2-40B4-BE49-F238E27FC236}">
                <a16:creationId xmlns:a16="http://schemas.microsoft.com/office/drawing/2014/main" id="{B07232FD-059D-4FA8-8B66-FE1BE763B726}"/>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18</a:t>
            </a:r>
          </a:p>
        </p:txBody>
      </p:sp>
    </p:spTree>
    <p:extLst>
      <p:ext uri="{BB962C8B-B14F-4D97-AF65-F5344CB8AC3E}">
        <p14:creationId xmlns:p14="http://schemas.microsoft.com/office/powerpoint/2010/main" val="51654713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300AEB-695F-4EA1-9F13-768372BB99FA}"/>
              </a:ext>
            </a:extLst>
          </p:cNvPr>
          <p:cNvSpPr>
            <a:spLocks xmlns:a="http://schemas.openxmlformats.org/drawingml/2006/main" noGrp="1"/>
          </p:cNvSpPr>
          <p:nvPr/>
        </p:nvSpPr>
        <p:spPr>
          <a:xfrm xmlns:a="http://schemas.openxmlformats.org/drawingml/2006/main">
            <a:off x="685800" y="3238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555555"/>
                </a:solidFill>
                <a:latin typeface="Arial"/>
                <a:ea typeface="Arial"/>
                <a:cs typeface="Arial"/>
              </a:defRPr>
            </a:defPPr>
            <a:lvl1pPr algn="l">
              <a:defRPr sz="1275" b="1">
                <a:solidFill>
                  <a:srgbClr val="555555"/>
                </a:solidFill>
                <a:latin typeface="Arial"/>
                <a:ea typeface="Arial"/>
                <a:cs typeface="Arial"/>
              </a:defRPr>
            </a:lvl1pPr>
            <a:lvl2pPr algn="l">
              <a:defRPr sz="1275" b="1">
                <a:solidFill>
                  <a:srgbClr val="555555"/>
                </a:solidFill>
                <a:latin typeface="Arial"/>
                <a:ea typeface="Arial"/>
                <a:cs typeface="Arial"/>
              </a:defRPr>
            </a:lvl2pPr>
            <a:lvl3pPr algn="l">
              <a:defRPr sz="1275" b="1">
                <a:solidFill>
                  <a:srgbClr val="555555"/>
                </a:solidFill>
                <a:latin typeface="Arial"/>
                <a:ea typeface="Arial"/>
                <a:cs typeface="Arial"/>
              </a:defRPr>
            </a:lvl3pPr>
            <a:lvl4pPr algn="l">
              <a:defRPr sz="1275" b="1">
                <a:solidFill>
                  <a:srgbClr val="555555"/>
                </a:solidFill>
                <a:latin typeface="Arial"/>
                <a:ea typeface="Arial"/>
                <a:cs typeface="Arial"/>
              </a:defRPr>
            </a:lvl4pPr>
            <a:lvl5pPr algn="l">
              <a:defRPr sz="1275" b="1">
                <a:solidFill>
                  <a:srgbClr val="555555"/>
                </a:solidFill>
                <a:latin typeface="Arial"/>
                <a:ea typeface="Arial"/>
                <a:cs typeface="Arial"/>
              </a:defRPr>
            </a:lvl5pPr>
            <a:lvl6pPr algn="l">
              <a:defRPr sz="1275" b="1">
                <a:solidFill>
                  <a:srgbClr val="555555"/>
                </a:solidFill>
                <a:latin typeface="Arial"/>
                <a:ea typeface="Arial"/>
                <a:cs typeface="Arial"/>
              </a:defRPr>
            </a:lvl6pPr>
            <a:lvl7pPr algn="l">
              <a:defRPr sz="1275" b="1">
                <a:solidFill>
                  <a:srgbClr val="555555"/>
                </a:solidFill>
                <a:latin typeface="Arial"/>
                <a:ea typeface="Arial"/>
                <a:cs typeface="Arial"/>
              </a:defRPr>
            </a:lvl7pPr>
            <a:lvl8pPr algn="l">
              <a:defRPr sz="1275" b="1">
                <a:solidFill>
                  <a:srgbClr val="555555"/>
                </a:solidFill>
                <a:latin typeface="Arial"/>
                <a:ea typeface="Arial"/>
                <a:cs typeface="Arial"/>
              </a:defRPr>
            </a:lvl8pPr>
            <a:lvl9pPr algn="l">
              <a:defRPr sz="1275" b="1">
                <a:solidFill>
                  <a:srgbClr val="555555"/>
                </a:solidFill>
                <a:latin typeface="Arial"/>
                <a:ea typeface="Arial"/>
                <a:cs typeface="Arial"/>
              </a:defRPr>
            </a:lvl9pPr>
          </a:lstStyle>
          <a:p xmlns:a="http://schemas.openxmlformats.org/drawingml/2006/main">
            <a:pPr algn="l">
              <a:defRPr sz="1275" b="1">
                <a:solidFill>
                  <a:srgbClr val="555555"/>
                </a:solidFill>
                <a:latin typeface="Arial"/>
                <a:ea typeface="Arial"/>
                <a:cs typeface="Arial"/>
              </a:defRPr>
            </a:pPr>
            <a:r>
              <a:rPr sz="1275" b="1">
                <a:solidFill>
                  <a:srgbClr val="555555"/>
                </a:solidFill>
                <a:latin typeface="Arial"/>
                <a:ea typeface="Arial"/>
                <a:cs typeface="Arial"/>
              </a:rPr>
              <a:t>G5 · Observabilidad y Métricas</a:t>
            </a:r>
          </a:p>
        </p:txBody>
      </p:sp>
      <p:sp>
        <p:nvSpPr>
          <p:cNvPr id="2" name="">
            <a:extLst xmlns:a="http://schemas.openxmlformats.org/drawingml/2006/main">
              <a:ext uri="{FF2B5EF4-FFF2-40B4-BE49-F238E27FC236}">
                <a16:creationId xmlns:a16="http://schemas.microsoft.com/office/drawing/2014/main" id="{0235EB59-6B20-484E-B352-C50401382473}"/>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Lo que S19 midió en nuestro sistema</a:t>
            </a:r>
          </a:p>
        </p:txBody>
      </p:sp>
      <p:graphicFrame>
        <p:nvGraphicFramePr>
          <p:cNvPr id="3" name="Chart">
            <a:extLst xmlns:a="http://schemas.openxmlformats.org/drawingml/2006/main">
              <a:ext uri="{FF2B5EF4-FFF2-40B4-BE49-F238E27FC236}">
                <a16:creationId xmlns:a16="http://schemas.microsoft.com/office/drawing/2014/main" id="{5B9B71BE-B7D9-4FFF-9B91-28B145C61501}"/>
              </a:ext>
            </a:extLst>
          </p:cNvPr>
          <p:cNvGraphicFramePr/>
          <p:nvPr/>
        </p:nvGraphicFramePr>
        <p:xfrm>
          <a:off xmlns:a="http://schemas.openxmlformats.org/drawingml/2006/main" x="952500" y="1905000"/>
          <a:ext xmlns:a="http://schemas.openxmlformats.org/drawingml/2006/main" cx="10287000" cy="3190875"/>
        </p:xfrm>
        <a:graphic xmlns:a="http://schemas.openxmlformats.org/drawingml/2006/main">
          <a:graphicData uri="http://schemas.openxmlformats.org/drawingml/2006/chart">
            <c:chart xmlns:r="http://schemas.openxmlformats.org/officeDocument/2006/relationships" xmlns:c="http://schemas.openxmlformats.org/drawingml/2006/chart" r:id="R5683d5ecef744429"/>
          </a:graphicData>
        </a:graphic>
      </p:graphicFrame>
      <p:sp>
        <p:nvSpPr>
          <p:cNvPr id="4" name="">
            <a:extLst xmlns:a="http://schemas.openxmlformats.org/drawingml/2006/main">
              <a:ext uri="{FF2B5EF4-FFF2-40B4-BE49-F238E27FC236}">
                <a16:creationId xmlns:a16="http://schemas.microsoft.com/office/drawing/2014/main" id="{C9D936F3-0CCE-4439-AAF6-99A643755D5B}"/>
              </a:ext>
            </a:extLst>
          </p:cNvPr>
          <p:cNvSpPr>
            <a:spLocks xmlns:a="http://schemas.openxmlformats.org/drawingml/2006/main" noGrp="1"/>
          </p:cNvSpPr>
          <p:nvPr/>
        </p:nvSpPr>
        <p:spPr>
          <a:xfrm xmlns:a="http://schemas.openxmlformats.org/drawingml/2006/main">
            <a:off x="685800" y="52197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111111"/>
                </a:solidFill>
                <a:latin typeface="Arial"/>
                <a:ea typeface="Arial"/>
                <a:cs typeface="Arial"/>
              </a:defRPr>
            </a:defPPr>
            <a:lvl1pPr algn="l">
              <a:defRPr sz="1800" b="0">
                <a:solidFill>
                  <a:srgbClr val="111111"/>
                </a:solidFill>
                <a:latin typeface="Arial"/>
                <a:ea typeface="Arial"/>
                <a:cs typeface="Arial"/>
              </a:defRPr>
            </a:lvl1pPr>
            <a:lvl2pPr algn="l">
              <a:defRPr sz="1800" b="0">
                <a:solidFill>
                  <a:srgbClr val="111111"/>
                </a:solidFill>
                <a:latin typeface="Arial"/>
                <a:ea typeface="Arial"/>
                <a:cs typeface="Arial"/>
              </a:defRPr>
            </a:lvl2pPr>
            <a:lvl3pPr algn="l">
              <a:defRPr sz="1800" b="0">
                <a:solidFill>
                  <a:srgbClr val="111111"/>
                </a:solidFill>
                <a:latin typeface="Arial"/>
                <a:ea typeface="Arial"/>
                <a:cs typeface="Arial"/>
              </a:defRPr>
            </a:lvl3pPr>
            <a:lvl4pPr algn="l">
              <a:defRPr sz="1800" b="0">
                <a:solidFill>
                  <a:srgbClr val="111111"/>
                </a:solidFill>
                <a:latin typeface="Arial"/>
                <a:ea typeface="Arial"/>
                <a:cs typeface="Arial"/>
              </a:defRPr>
            </a:lvl4pPr>
            <a:lvl5pPr algn="l">
              <a:defRPr sz="1800" b="0">
                <a:solidFill>
                  <a:srgbClr val="111111"/>
                </a:solidFill>
                <a:latin typeface="Arial"/>
                <a:ea typeface="Arial"/>
                <a:cs typeface="Arial"/>
              </a:defRPr>
            </a:lvl5pPr>
            <a:lvl6pPr algn="l">
              <a:defRPr sz="1800" b="0">
                <a:solidFill>
                  <a:srgbClr val="111111"/>
                </a:solidFill>
                <a:latin typeface="Arial"/>
                <a:ea typeface="Arial"/>
                <a:cs typeface="Arial"/>
              </a:defRPr>
            </a:lvl6pPr>
            <a:lvl7pPr algn="l">
              <a:defRPr sz="1800" b="0">
                <a:solidFill>
                  <a:srgbClr val="111111"/>
                </a:solidFill>
                <a:latin typeface="Arial"/>
                <a:ea typeface="Arial"/>
                <a:cs typeface="Arial"/>
              </a:defRPr>
            </a:lvl7pPr>
            <a:lvl8pPr algn="l">
              <a:defRPr sz="1800" b="0">
                <a:solidFill>
                  <a:srgbClr val="111111"/>
                </a:solidFill>
                <a:latin typeface="Arial"/>
                <a:ea typeface="Arial"/>
                <a:cs typeface="Arial"/>
              </a:defRPr>
            </a:lvl8pPr>
            <a:lvl9pPr algn="l">
              <a:defRPr sz="1800" b="0">
                <a:solidFill>
                  <a:srgbClr val="111111"/>
                </a:solidFill>
                <a:latin typeface="Arial"/>
                <a:ea typeface="Arial"/>
                <a:cs typeface="Arial"/>
              </a:defRPr>
            </a:lvl9pPr>
          </a:lstStyle>
          <a:p xmlns:a="http://schemas.openxmlformats.org/drawingml/2006/main">
            <a:pPr algn="l">
              <a:defRPr sz="1800" b="0">
                <a:solidFill>
                  <a:srgbClr val="111111"/>
                </a:solidFill>
                <a:latin typeface="Arial"/>
                <a:ea typeface="Arial"/>
                <a:cs typeface="Arial"/>
              </a:defRPr>
            </a:pPr>
            <a:r>
              <a:rPr sz="1800" b="0">
                <a:solidFill>
                  <a:srgbClr val="111111"/>
                </a:solidFill>
                <a:latin typeface="Arial"/>
                <a:ea typeface="Arial"/>
                <a:cs typeface="Arial"/>
              </a:rPr>
              <a:t>1 API · Compose · 4 usuarios · 30 s por repetición</a:t>
            </a:r>
          </a:p>
        </p:txBody>
      </p:sp>
      <p:sp>
        <p:nvSpPr>
          <p:cNvPr id="5" name="">
            <a:extLst xmlns:a="http://schemas.openxmlformats.org/drawingml/2006/main">
              <a:ext uri="{FF2B5EF4-FFF2-40B4-BE49-F238E27FC236}">
                <a16:creationId xmlns:a16="http://schemas.microsoft.com/office/drawing/2014/main" id="{BDE99576-E10D-4F62-BFDE-430CF3A1FE1D}"/>
              </a:ext>
            </a:extLst>
          </p:cNvPr>
          <p:cNvSpPr>
            <a:spLocks xmlns:a="http://schemas.openxmlformats.org/drawingml/2006/main" noGrp="1"/>
          </p:cNvSpPr>
          <p:nvPr/>
        </p:nvSpPr>
        <p:spPr>
          <a:xfrm xmlns:a="http://schemas.openxmlformats.org/drawingml/2006/main">
            <a:off x="685800" y="56388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111111"/>
                </a:solidFill>
                <a:latin typeface="Arial"/>
                <a:ea typeface="Arial"/>
                <a:cs typeface="Arial"/>
              </a:defRPr>
            </a:defPPr>
            <a:lvl1pPr algn="l">
              <a:defRPr sz="1800" b="0">
                <a:solidFill>
                  <a:srgbClr val="111111"/>
                </a:solidFill>
                <a:latin typeface="Arial"/>
                <a:ea typeface="Arial"/>
                <a:cs typeface="Arial"/>
              </a:defRPr>
            </a:lvl1pPr>
            <a:lvl2pPr algn="l">
              <a:defRPr sz="1800" b="0">
                <a:solidFill>
                  <a:srgbClr val="111111"/>
                </a:solidFill>
                <a:latin typeface="Arial"/>
                <a:ea typeface="Arial"/>
                <a:cs typeface="Arial"/>
              </a:defRPr>
            </a:lvl2pPr>
            <a:lvl3pPr algn="l">
              <a:defRPr sz="1800" b="0">
                <a:solidFill>
                  <a:srgbClr val="111111"/>
                </a:solidFill>
                <a:latin typeface="Arial"/>
                <a:ea typeface="Arial"/>
                <a:cs typeface="Arial"/>
              </a:defRPr>
            </a:lvl3pPr>
            <a:lvl4pPr algn="l">
              <a:defRPr sz="1800" b="0">
                <a:solidFill>
                  <a:srgbClr val="111111"/>
                </a:solidFill>
                <a:latin typeface="Arial"/>
                <a:ea typeface="Arial"/>
                <a:cs typeface="Arial"/>
              </a:defRPr>
            </a:lvl4pPr>
            <a:lvl5pPr algn="l">
              <a:defRPr sz="1800" b="0">
                <a:solidFill>
                  <a:srgbClr val="111111"/>
                </a:solidFill>
                <a:latin typeface="Arial"/>
                <a:ea typeface="Arial"/>
                <a:cs typeface="Arial"/>
              </a:defRPr>
            </a:lvl5pPr>
            <a:lvl6pPr algn="l">
              <a:defRPr sz="1800" b="0">
                <a:solidFill>
                  <a:srgbClr val="111111"/>
                </a:solidFill>
                <a:latin typeface="Arial"/>
                <a:ea typeface="Arial"/>
                <a:cs typeface="Arial"/>
              </a:defRPr>
            </a:lvl6pPr>
            <a:lvl7pPr algn="l">
              <a:defRPr sz="1800" b="0">
                <a:solidFill>
                  <a:srgbClr val="111111"/>
                </a:solidFill>
                <a:latin typeface="Arial"/>
                <a:ea typeface="Arial"/>
                <a:cs typeface="Arial"/>
              </a:defRPr>
            </a:lvl7pPr>
            <a:lvl8pPr algn="l">
              <a:defRPr sz="1800" b="0">
                <a:solidFill>
                  <a:srgbClr val="111111"/>
                </a:solidFill>
                <a:latin typeface="Arial"/>
                <a:ea typeface="Arial"/>
                <a:cs typeface="Arial"/>
              </a:defRPr>
            </a:lvl8pPr>
            <a:lvl9pPr algn="l">
              <a:defRPr sz="1800" b="0">
                <a:solidFill>
                  <a:srgbClr val="111111"/>
                </a:solidFill>
                <a:latin typeface="Arial"/>
                <a:ea typeface="Arial"/>
                <a:cs typeface="Arial"/>
              </a:defRPr>
            </a:lvl9pPr>
          </a:lstStyle>
          <a:p xmlns:a="http://schemas.openxmlformats.org/drawingml/2006/main">
            <a:pPr algn="l">
              <a:defRPr sz="1800" b="0">
                <a:solidFill>
                  <a:srgbClr val="111111"/>
                </a:solidFill>
                <a:latin typeface="Arial"/>
                <a:ea typeface="Arial"/>
                <a:cs typeface="Arial"/>
              </a:defRPr>
            </a:pPr>
            <a:r>
              <a:rPr sz="1800" b="0">
                <a:solidFill>
                  <a:srgbClr val="111111"/>
                </a:solidFill>
                <a:latin typeface="Arial"/>
                <a:ea typeface="Arial"/>
                <a:cs typeface="Arial"/>
              </a:rPr>
              <a:t>3.240 solicitudes HTTP medidas sin errores</a:t>
            </a:r>
          </a:p>
        </p:txBody>
      </p:sp>
      <p:sp>
        <p:nvSpPr>
          <p:cNvPr id="6" name="">
            <a:extLst xmlns:a="http://schemas.openxmlformats.org/drawingml/2006/main">
              <a:ext uri="{FF2B5EF4-FFF2-40B4-BE49-F238E27FC236}">
                <a16:creationId xmlns:a16="http://schemas.microsoft.com/office/drawing/2014/main" id="{10810B96-5F78-44E7-B3BB-EE4CBD00662B}"/>
              </a:ext>
            </a:extLst>
          </p:cNvPr>
          <p:cNvSpPr>
            <a:spLocks xmlns:a="http://schemas.openxmlformats.org/drawingml/2006/main" noGrp="1"/>
          </p:cNvSpPr>
          <p:nvPr/>
        </p:nvSpPr>
        <p:spPr>
          <a:xfrm xmlns:a="http://schemas.openxmlformats.org/drawingml/2006/main">
            <a:off x="685800" y="61531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Resultados locales separados por corrida · no son capacidad máxima</a:t>
            </a:r>
          </a:p>
        </p:txBody>
      </p:sp>
      <p:sp>
        <p:nvSpPr>
          <p:cNvPr id="7" name="">
            <a:extLst xmlns:a="http://schemas.openxmlformats.org/drawingml/2006/main">
              <a:ext uri="{FF2B5EF4-FFF2-40B4-BE49-F238E27FC236}">
                <a16:creationId xmlns:a16="http://schemas.microsoft.com/office/drawing/2014/main" id="{79988874-4EBF-493F-B2CF-886D72E7FCEA}"/>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19</a:t>
            </a:r>
          </a:p>
        </p:txBody>
      </p:sp>
    </p:spTree>
    <p:extLst>
      <p:ext uri="{BB962C8B-B14F-4D97-AF65-F5344CB8AC3E}">
        <p14:creationId xmlns:p14="http://schemas.microsoft.com/office/powerpoint/2010/main" val="190853683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5C04F7B-9641-4EA4-AEDC-AFA1A161494F}"/>
              </a:ext>
            </a:extLst>
          </p:cNvPr>
          <p:cNvSpPr>
            <a:spLocks xmlns:a="http://schemas.openxmlformats.org/drawingml/2006/main" noGrp="1"/>
          </p:cNvSpPr>
          <p:nvPr/>
        </p:nvSpPr>
        <p:spPr>
          <a:xfrm xmlns:a="http://schemas.openxmlformats.org/drawingml/2006/main">
            <a:off x="685800" y="3238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555555"/>
                </a:solidFill>
                <a:latin typeface="Arial"/>
                <a:ea typeface="Arial"/>
                <a:cs typeface="Arial"/>
              </a:defRPr>
            </a:defPPr>
            <a:lvl1pPr algn="l">
              <a:defRPr sz="1275" b="1">
                <a:solidFill>
                  <a:srgbClr val="555555"/>
                </a:solidFill>
                <a:latin typeface="Arial"/>
                <a:ea typeface="Arial"/>
                <a:cs typeface="Arial"/>
              </a:defRPr>
            </a:lvl1pPr>
            <a:lvl2pPr algn="l">
              <a:defRPr sz="1275" b="1">
                <a:solidFill>
                  <a:srgbClr val="555555"/>
                </a:solidFill>
                <a:latin typeface="Arial"/>
                <a:ea typeface="Arial"/>
                <a:cs typeface="Arial"/>
              </a:defRPr>
            </a:lvl2pPr>
            <a:lvl3pPr algn="l">
              <a:defRPr sz="1275" b="1">
                <a:solidFill>
                  <a:srgbClr val="555555"/>
                </a:solidFill>
                <a:latin typeface="Arial"/>
                <a:ea typeface="Arial"/>
                <a:cs typeface="Arial"/>
              </a:defRPr>
            </a:lvl3pPr>
            <a:lvl4pPr algn="l">
              <a:defRPr sz="1275" b="1">
                <a:solidFill>
                  <a:srgbClr val="555555"/>
                </a:solidFill>
                <a:latin typeface="Arial"/>
                <a:ea typeface="Arial"/>
                <a:cs typeface="Arial"/>
              </a:defRPr>
            </a:lvl4pPr>
            <a:lvl5pPr algn="l">
              <a:defRPr sz="1275" b="1">
                <a:solidFill>
                  <a:srgbClr val="555555"/>
                </a:solidFill>
                <a:latin typeface="Arial"/>
                <a:ea typeface="Arial"/>
                <a:cs typeface="Arial"/>
              </a:defRPr>
            </a:lvl5pPr>
            <a:lvl6pPr algn="l">
              <a:defRPr sz="1275" b="1">
                <a:solidFill>
                  <a:srgbClr val="555555"/>
                </a:solidFill>
                <a:latin typeface="Arial"/>
                <a:ea typeface="Arial"/>
                <a:cs typeface="Arial"/>
              </a:defRPr>
            </a:lvl6pPr>
            <a:lvl7pPr algn="l">
              <a:defRPr sz="1275" b="1">
                <a:solidFill>
                  <a:srgbClr val="555555"/>
                </a:solidFill>
                <a:latin typeface="Arial"/>
                <a:ea typeface="Arial"/>
                <a:cs typeface="Arial"/>
              </a:defRPr>
            </a:lvl7pPr>
            <a:lvl8pPr algn="l">
              <a:defRPr sz="1275" b="1">
                <a:solidFill>
                  <a:srgbClr val="555555"/>
                </a:solidFill>
                <a:latin typeface="Arial"/>
                <a:ea typeface="Arial"/>
                <a:cs typeface="Arial"/>
              </a:defRPr>
            </a:lvl8pPr>
            <a:lvl9pPr algn="l">
              <a:defRPr sz="1275" b="1">
                <a:solidFill>
                  <a:srgbClr val="555555"/>
                </a:solidFill>
                <a:latin typeface="Arial"/>
                <a:ea typeface="Arial"/>
                <a:cs typeface="Arial"/>
              </a:defRPr>
            </a:lvl9pPr>
          </a:lstStyle>
          <a:p xmlns:a="http://schemas.openxmlformats.org/drawingml/2006/main">
            <a:pPr algn="l">
              <a:defRPr sz="1275" b="1">
                <a:solidFill>
                  <a:srgbClr val="555555"/>
                </a:solidFill>
                <a:latin typeface="Arial"/>
                <a:ea typeface="Arial"/>
                <a:cs typeface="Arial"/>
              </a:defRPr>
            </a:pPr>
            <a:r>
              <a:rPr sz="1275" b="1">
                <a:solidFill>
                  <a:srgbClr val="555555"/>
                </a:solidFill>
                <a:latin typeface="Arial"/>
                <a:ea typeface="Arial"/>
                <a:cs typeface="Arial"/>
              </a:rPr>
              <a:t>G6 · Diseño Experimental y Análisis Estadístico</a:t>
            </a:r>
          </a:p>
        </p:txBody>
      </p:sp>
      <p:sp>
        <p:nvSpPr>
          <p:cNvPr id="2" name="">
            <a:extLst xmlns:a="http://schemas.openxmlformats.org/drawingml/2006/main">
              <a:ext uri="{FF2B5EF4-FFF2-40B4-BE49-F238E27FC236}">
                <a16:creationId xmlns:a16="http://schemas.microsoft.com/office/drawing/2014/main" id="{05B4F5E0-246D-46A7-8723-6F902136B53B}"/>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Qué significa un millón de transacciones</a:t>
            </a:r>
          </a:p>
        </p:txBody>
      </p:sp>
      <p:sp>
        <p:nvSpPr>
          <p:cNvPr id="3" name="">
            <a:extLst xmlns:a="http://schemas.openxmlformats.org/drawingml/2006/main">
              <a:ext uri="{FF2B5EF4-FFF2-40B4-BE49-F238E27FC236}">
                <a16:creationId xmlns:a16="http://schemas.microsoft.com/office/drawing/2014/main" id="{35297C1D-53D3-414D-883C-B5038335A8D7}"/>
              </a:ext>
            </a:extLst>
          </p:cNvPr>
          <p:cNvSpPr>
            <a:spLocks xmlns:a="http://schemas.openxmlformats.org/drawingml/2006/main" noGrp="1"/>
          </p:cNvSpPr>
          <p:nvPr/>
        </p:nvSpPr>
        <p:spPr>
          <a:xfrm xmlns:a="http://schemas.openxmlformats.org/drawingml/2006/main">
            <a:off x="685800" y="207645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Unidad lógica</a:t>
            </a:r>
          </a:p>
        </p:txBody>
      </p:sp>
      <p:sp>
        <p:nvSpPr>
          <p:cNvPr id="4" name="">
            <a:extLst xmlns:a="http://schemas.openxmlformats.org/drawingml/2006/main">
              <a:ext uri="{FF2B5EF4-FFF2-40B4-BE49-F238E27FC236}">
                <a16:creationId xmlns:a16="http://schemas.microsoft.com/office/drawing/2014/main" id="{203A599C-2D7B-4BD9-A94A-A6B67F006092}"/>
              </a:ext>
            </a:extLst>
          </p:cNvPr>
          <p:cNvSpPr>
            <a:spLocks xmlns:a="http://schemas.openxmlformats.org/drawingml/2006/main" noGrp="1"/>
          </p:cNvSpPr>
          <p:nvPr/>
        </p:nvSpPr>
        <p:spPr>
          <a:xfrm xmlns:a="http://schemas.openxmlformats.org/drawingml/2006/main">
            <a:off x="6477000" y="2076450"/>
            <a:ext cx="502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Carga definida</a:t>
            </a:r>
          </a:p>
        </p:txBody>
      </p:sp>
      <p:sp>
        <p:nvSpPr>
          <p:cNvPr id="5" name="">
            <a:extLst xmlns:a="http://schemas.openxmlformats.org/drawingml/2006/main">
              <a:ext uri="{FF2B5EF4-FFF2-40B4-BE49-F238E27FC236}">
                <a16:creationId xmlns:a16="http://schemas.microsoft.com/office/drawing/2014/main" id="{ADEB9502-390B-4BF5-8091-9AB642058375}"/>
              </a:ext>
            </a:extLst>
          </p:cNvPr>
          <p:cNvSpPr>
            <a:spLocks xmlns:a="http://schemas.openxmlformats.org/drawingml/2006/main" noGrp="1"/>
          </p:cNvSpPr>
          <p:nvPr/>
        </p:nvSpPr>
        <p:spPr>
          <a:xfrm xmlns:a="http://schemas.openxmlformats.org/drawingml/2006/main">
            <a:off x="685800" y="28956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Una clave nueva de creación de reserva</a:t>
            </a:r>
          </a:p>
        </p:txBody>
      </p:sp>
      <p:sp>
        <p:nvSpPr>
          <p:cNvPr id="6" name="">
            <a:extLst xmlns:a="http://schemas.openxmlformats.org/drawingml/2006/main">
              <a:ext uri="{FF2B5EF4-FFF2-40B4-BE49-F238E27FC236}">
                <a16:creationId xmlns:a16="http://schemas.microsoft.com/office/drawing/2014/main" id="{662E68A1-A1AB-4DA8-A0C5-41178F1869FB}"/>
              </a:ext>
            </a:extLst>
          </p:cNvPr>
          <p:cNvSpPr>
            <a:spLocks xmlns:a="http://schemas.openxmlformats.org/drawingml/2006/main" noGrp="1"/>
          </p:cNvSpPr>
          <p:nvPr/>
        </p:nvSpPr>
        <p:spPr>
          <a:xfrm xmlns:a="http://schemas.openxmlformats.org/drawingml/2006/main">
            <a:off x="685800" y="382905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Reenvío: otro HTTP y la misma intención</a:t>
            </a:r>
          </a:p>
        </p:txBody>
      </p:sp>
      <p:sp>
        <p:nvSpPr>
          <p:cNvPr id="7" name="">
            <a:extLst xmlns:a="http://schemas.openxmlformats.org/drawingml/2006/main">
              <a:ext uri="{FF2B5EF4-FFF2-40B4-BE49-F238E27FC236}">
                <a16:creationId xmlns:a16="http://schemas.microsoft.com/office/drawing/2014/main" id="{E34DD2D4-4577-44F9-AC0C-02393414B59C}"/>
              </a:ext>
            </a:extLst>
          </p:cNvPr>
          <p:cNvSpPr>
            <a:spLocks xmlns:a="http://schemas.openxmlformats.org/drawingml/2006/main" noGrp="1"/>
          </p:cNvSpPr>
          <p:nvPr/>
        </p:nvSpPr>
        <p:spPr>
          <a:xfrm xmlns:a="http://schemas.openxmlformats.org/drawingml/2006/main">
            <a:off x="685800" y="47625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Confirmaciones y rechazos por separado</a:t>
            </a:r>
          </a:p>
        </p:txBody>
      </p:sp>
      <p:sp>
        <p:nvSpPr>
          <p:cNvPr id="8" name="">
            <a:extLst xmlns:a="http://schemas.openxmlformats.org/drawingml/2006/main">
              <a:ext uri="{FF2B5EF4-FFF2-40B4-BE49-F238E27FC236}">
                <a16:creationId xmlns:a16="http://schemas.microsoft.com/office/drawing/2014/main" id="{973F5DA2-2B32-4362-9C0E-2F3AD7735AF2}"/>
              </a:ext>
            </a:extLst>
          </p:cNvPr>
          <p:cNvSpPr>
            <a:spLocks xmlns:a="http://schemas.openxmlformats.org/drawingml/2006/main" noGrp="1"/>
          </p:cNvSpPr>
          <p:nvPr/>
        </p:nvSpPr>
        <p:spPr>
          <a:xfrm xmlns:a="http://schemas.openxmlformats.org/drawingml/2006/main">
            <a:off x="6477000" y="28956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N total tasa duración y perfil</a:t>
            </a:r>
          </a:p>
        </p:txBody>
      </p:sp>
      <p:sp>
        <p:nvSpPr>
          <p:cNvPr id="9" name="">
            <a:extLst xmlns:a="http://schemas.openxmlformats.org/drawingml/2006/main">
              <a:ext uri="{FF2B5EF4-FFF2-40B4-BE49-F238E27FC236}">
                <a16:creationId xmlns:a16="http://schemas.microsoft.com/office/drawing/2014/main" id="{1E7C6FB0-B087-4348-B47D-998C9AE7DD17}"/>
              </a:ext>
            </a:extLst>
          </p:cNvPr>
          <p:cNvSpPr>
            <a:spLocks xmlns:a="http://schemas.openxmlformats.org/drawingml/2006/main" noGrp="1"/>
          </p:cNvSpPr>
          <p:nvPr/>
        </p:nvSpPr>
        <p:spPr>
          <a:xfrm xmlns:a="http://schemas.openxmlformats.org/drawingml/2006/main">
            <a:off x="6477000" y="382905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Inventario y datos iniciales suficientes</a:t>
            </a:r>
          </a:p>
        </p:txBody>
      </p:sp>
      <p:sp>
        <p:nvSpPr>
          <p:cNvPr id="10" name="">
            <a:extLst xmlns:a="http://schemas.openxmlformats.org/drawingml/2006/main">
              <a:ext uri="{FF2B5EF4-FFF2-40B4-BE49-F238E27FC236}">
                <a16:creationId xmlns:a16="http://schemas.microsoft.com/office/drawing/2014/main" id="{A11D6BD2-ACC8-4836-9956-7BF53A814DC8}"/>
              </a:ext>
            </a:extLst>
          </p:cNvPr>
          <p:cNvSpPr>
            <a:spLocks xmlns:a="http://schemas.openxmlformats.org/drawingml/2006/main" noGrp="1"/>
          </p:cNvSpPr>
          <p:nvPr/>
        </p:nvSpPr>
        <p:spPr>
          <a:xfrm xmlns:a="http://schemas.openxmlformats.org/drawingml/2006/main">
            <a:off x="6477000" y="47625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Generador y almacenamiento dimensionados</a:t>
            </a:r>
          </a:p>
        </p:txBody>
      </p:sp>
      <p:sp>
        <p:nvSpPr>
          <p:cNvPr id="11" name="">
            <a:extLst xmlns:a="http://schemas.openxmlformats.org/drawingml/2006/main">
              <a:ext uri="{FF2B5EF4-FFF2-40B4-BE49-F238E27FC236}">
                <a16:creationId xmlns:a16="http://schemas.microsoft.com/office/drawing/2014/main" id="{4D330C57-7BC0-476D-8D9B-EE5FF4A8D511}"/>
              </a:ext>
            </a:extLst>
          </p:cNvPr>
          <p:cNvSpPr>
            <a:spLocks xmlns:a="http://schemas.openxmlformats.org/drawingml/2006/main" noGrp="1"/>
          </p:cNvSpPr>
          <p:nvPr/>
        </p:nvSpPr>
        <p:spPr>
          <a:xfrm xmlns:a="http://schemas.openxmlformats.org/drawingml/2006/main">
            <a:off x="685800" y="61531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S19: 3.240 HTTP medidos ≠ 3.240 reservas nuevas</a:t>
            </a:r>
          </a:p>
        </p:txBody>
      </p:sp>
      <p:sp>
        <p:nvSpPr>
          <p:cNvPr id="12" name="">
            <a:extLst xmlns:a="http://schemas.openxmlformats.org/drawingml/2006/main">
              <a:ext uri="{FF2B5EF4-FFF2-40B4-BE49-F238E27FC236}">
                <a16:creationId xmlns:a16="http://schemas.microsoft.com/office/drawing/2014/main" id="{853FE4DE-50D9-4AC3-BDA2-B013C4358A0D}"/>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20</a:t>
            </a:r>
          </a:p>
        </p:txBody>
      </p:sp>
    </p:spTree>
    <p:extLst>
      <p:ext uri="{BB962C8B-B14F-4D97-AF65-F5344CB8AC3E}">
        <p14:creationId xmlns:p14="http://schemas.microsoft.com/office/powerpoint/2010/main" val="109483938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945AE37-4D06-45DB-B616-14B7E2CF4F5A}"/>
              </a:ext>
            </a:extLst>
          </p:cNvPr>
          <p:cNvSpPr>
            <a:spLocks xmlns:a="http://schemas.openxmlformats.org/drawingml/2006/main" noGrp="1"/>
          </p:cNvSpPr>
          <p:nvPr/>
        </p:nvSpPr>
        <p:spPr>
          <a:xfrm xmlns:a="http://schemas.openxmlformats.org/drawingml/2006/main">
            <a:off x="685800" y="3238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555555"/>
                </a:solidFill>
                <a:latin typeface="Arial"/>
                <a:ea typeface="Arial"/>
                <a:cs typeface="Arial"/>
              </a:defRPr>
            </a:defPPr>
            <a:lvl1pPr algn="l">
              <a:defRPr sz="1275" b="1">
                <a:solidFill>
                  <a:srgbClr val="555555"/>
                </a:solidFill>
                <a:latin typeface="Arial"/>
                <a:ea typeface="Arial"/>
                <a:cs typeface="Arial"/>
              </a:defRPr>
            </a:lvl1pPr>
            <a:lvl2pPr algn="l">
              <a:defRPr sz="1275" b="1">
                <a:solidFill>
                  <a:srgbClr val="555555"/>
                </a:solidFill>
                <a:latin typeface="Arial"/>
                <a:ea typeface="Arial"/>
                <a:cs typeface="Arial"/>
              </a:defRPr>
            </a:lvl2pPr>
            <a:lvl3pPr algn="l">
              <a:defRPr sz="1275" b="1">
                <a:solidFill>
                  <a:srgbClr val="555555"/>
                </a:solidFill>
                <a:latin typeface="Arial"/>
                <a:ea typeface="Arial"/>
                <a:cs typeface="Arial"/>
              </a:defRPr>
            </a:lvl3pPr>
            <a:lvl4pPr algn="l">
              <a:defRPr sz="1275" b="1">
                <a:solidFill>
                  <a:srgbClr val="555555"/>
                </a:solidFill>
                <a:latin typeface="Arial"/>
                <a:ea typeface="Arial"/>
                <a:cs typeface="Arial"/>
              </a:defRPr>
            </a:lvl4pPr>
            <a:lvl5pPr algn="l">
              <a:defRPr sz="1275" b="1">
                <a:solidFill>
                  <a:srgbClr val="555555"/>
                </a:solidFill>
                <a:latin typeface="Arial"/>
                <a:ea typeface="Arial"/>
                <a:cs typeface="Arial"/>
              </a:defRPr>
            </a:lvl5pPr>
            <a:lvl6pPr algn="l">
              <a:defRPr sz="1275" b="1">
                <a:solidFill>
                  <a:srgbClr val="555555"/>
                </a:solidFill>
                <a:latin typeface="Arial"/>
                <a:ea typeface="Arial"/>
                <a:cs typeface="Arial"/>
              </a:defRPr>
            </a:lvl6pPr>
            <a:lvl7pPr algn="l">
              <a:defRPr sz="1275" b="1">
                <a:solidFill>
                  <a:srgbClr val="555555"/>
                </a:solidFill>
                <a:latin typeface="Arial"/>
                <a:ea typeface="Arial"/>
                <a:cs typeface="Arial"/>
              </a:defRPr>
            </a:lvl7pPr>
            <a:lvl8pPr algn="l">
              <a:defRPr sz="1275" b="1">
                <a:solidFill>
                  <a:srgbClr val="555555"/>
                </a:solidFill>
                <a:latin typeface="Arial"/>
                <a:ea typeface="Arial"/>
                <a:cs typeface="Arial"/>
              </a:defRPr>
            </a:lvl8pPr>
            <a:lvl9pPr algn="l">
              <a:defRPr sz="1275" b="1">
                <a:solidFill>
                  <a:srgbClr val="555555"/>
                </a:solidFill>
                <a:latin typeface="Arial"/>
                <a:ea typeface="Arial"/>
                <a:cs typeface="Arial"/>
              </a:defRPr>
            </a:lvl9pPr>
          </a:lstStyle>
          <a:p xmlns:a="http://schemas.openxmlformats.org/drawingml/2006/main">
            <a:pPr algn="l">
              <a:defRPr sz="1275" b="1">
                <a:solidFill>
                  <a:srgbClr val="555555"/>
                </a:solidFill>
                <a:latin typeface="Arial"/>
                <a:ea typeface="Arial"/>
                <a:cs typeface="Arial"/>
              </a:defRPr>
            </a:pPr>
            <a:r>
              <a:rPr sz="1275" b="1">
                <a:solidFill>
                  <a:srgbClr val="555555"/>
                </a:solidFill>
                <a:latin typeface="Arial"/>
                <a:ea typeface="Arial"/>
                <a:cs typeface="Arial"/>
              </a:rPr>
              <a:t>G6 · Diseño Experimental y Análisis Estadístico</a:t>
            </a:r>
          </a:p>
        </p:txBody>
      </p:sp>
      <p:sp>
        <p:nvSpPr>
          <p:cNvPr id="2" name="">
            <a:extLst xmlns:a="http://schemas.openxmlformats.org/drawingml/2006/main">
              <a:ext uri="{FF2B5EF4-FFF2-40B4-BE49-F238E27FC236}">
                <a16:creationId xmlns:a16="http://schemas.microsoft.com/office/drawing/2014/main" id="{7574741C-BB47-4D90-88B8-1C805E8264C2}"/>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Protocolo para contrastar la hipótesis general</a:t>
            </a:r>
          </a:p>
        </p:txBody>
      </p:sp>
      <p:sp>
        <p:nvSpPr>
          <p:cNvPr id="3" name="">
            <a:extLst xmlns:a="http://schemas.openxmlformats.org/drawingml/2006/main">
              <a:ext uri="{FF2B5EF4-FFF2-40B4-BE49-F238E27FC236}">
                <a16:creationId xmlns:a16="http://schemas.microsoft.com/office/drawing/2014/main" id="{AC0053B3-E3AD-4835-948D-6655313F4600}"/>
              </a:ext>
            </a:extLst>
          </p:cNvPr>
          <p:cNvSpPr>
            <a:spLocks xmlns:a="http://schemas.openxmlformats.org/drawingml/2006/main" noGrp="1"/>
          </p:cNvSpPr>
          <p:nvPr/>
        </p:nvSpPr>
        <p:spPr>
          <a:xfrm xmlns:a="http://schemas.openxmlformats.org/drawingml/2006/main">
            <a:off x="685800" y="2076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111111"/>
                </a:solidFill>
                <a:latin typeface="Arial"/>
                <a:ea typeface="Arial"/>
                <a:cs typeface="Arial"/>
              </a:defRPr>
            </a:defPPr>
            <a:lvl1pPr algn="l">
              <a:defRPr sz="2400" b="1">
                <a:solidFill>
                  <a:srgbClr val="111111"/>
                </a:solidFill>
                <a:latin typeface="Arial"/>
                <a:ea typeface="Arial"/>
                <a:cs typeface="Arial"/>
              </a:defRPr>
            </a:lvl1pPr>
            <a:lvl2pPr algn="l">
              <a:defRPr sz="2400" b="1">
                <a:solidFill>
                  <a:srgbClr val="111111"/>
                </a:solidFill>
                <a:latin typeface="Arial"/>
                <a:ea typeface="Arial"/>
                <a:cs typeface="Arial"/>
              </a:defRPr>
            </a:lvl2pPr>
            <a:lvl3pPr algn="l">
              <a:defRPr sz="2400" b="1">
                <a:solidFill>
                  <a:srgbClr val="111111"/>
                </a:solidFill>
                <a:latin typeface="Arial"/>
                <a:ea typeface="Arial"/>
                <a:cs typeface="Arial"/>
              </a:defRPr>
            </a:lvl3pPr>
            <a:lvl4pPr algn="l">
              <a:defRPr sz="2400" b="1">
                <a:solidFill>
                  <a:srgbClr val="111111"/>
                </a:solidFill>
                <a:latin typeface="Arial"/>
                <a:ea typeface="Arial"/>
                <a:cs typeface="Arial"/>
              </a:defRPr>
            </a:lvl4pPr>
            <a:lvl5pPr algn="l">
              <a:defRPr sz="2400" b="1">
                <a:solidFill>
                  <a:srgbClr val="111111"/>
                </a:solidFill>
                <a:latin typeface="Arial"/>
                <a:ea typeface="Arial"/>
                <a:cs typeface="Arial"/>
              </a:defRPr>
            </a:lvl5pPr>
            <a:lvl6pPr algn="l">
              <a:defRPr sz="2400" b="1">
                <a:solidFill>
                  <a:srgbClr val="111111"/>
                </a:solidFill>
                <a:latin typeface="Arial"/>
                <a:ea typeface="Arial"/>
                <a:cs typeface="Arial"/>
              </a:defRPr>
            </a:lvl6pPr>
            <a:lvl7pPr algn="l">
              <a:defRPr sz="2400" b="1">
                <a:solidFill>
                  <a:srgbClr val="111111"/>
                </a:solidFill>
                <a:latin typeface="Arial"/>
                <a:ea typeface="Arial"/>
                <a:cs typeface="Arial"/>
              </a:defRPr>
            </a:lvl7pPr>
            <a:lvl8pPr algn="l">
              <a:defRPr sz="2400" b="1">
                <a:solidFill>
                  <a:srgbClr val="111111"/>
                </a:solidFill>
                <a:latin typeface="Arial"/>
                <a:ea typeface="Arial"/>
                <a:cs typeface="Arial"/>
              </a:defRPr>
            </a:lvl8pPr>
            <a:lvl9pPr algn="l">
              <a:defRPr sz="2400" b="1">
                <a:solidFill>
                  <a:srgbClr val="111111"/>
                </a:solidFill>
                <a:latin typeface="Arial"/>
                <a:ea typeface="Arial"/>
                <a:cs typeface="Arial"/>
              </a:defRPr>
            </a:lvl9pPr>
          </a:lstStyle>
          <a:p xmlns:a="http://schemas.openxmlformats.org/drawingml/2006/main">
            <a:pPr algn="l">
              <a:defRPr sz="2400" b="1">
                <a:solidFill>
                  <a:srgbClr val="111111"/>
                </a:solidFill>
                <a:latin typeface="Arial"/>
                <a:ea typeface="Arial"/>
                <a:cs typeface="Arial"/>
              </a:defRPr>
            </a:pPr>
            <a:r>
              <a:rPr sz="2400" b="1">
                <a:solidFill>
                  <a:srgbClr val="111111"/>
                </a:solidFill>
                <a:latin typeface="Arial"/>
                <a:ea typeface="Arial"/>
                <a:cs typeface="Arial"/>
              </a:rPr>
              <a:t>1M · 2.5M · 5M · 7.5M · 10M</a:t>
            </a:r>
          </a:p>
        </p:txBody>
      </p:sp>
      <p:sp>
        <p:nvSpPr>
          <p:cNvPr id="4" name="">
            <a:extLst xmlns:a="http://schemas.openxmlformats.org/drawingml/2006/main">
              <a:ext uri="{FF2B5EF4-FFF2-40B4-BE49-F238E27FC236}">
                <a16:creationId xmlns:a16="http://schemas.microsoft.com/office/drawing/2014/main" id="{D7C3FB5A-0DC1-4A91-B7DE-C2B3A5FCAB8C}"/>
              </a:ext>
            </a:extLst>
          </p:cNvPr>
          <p:cNvSpPr>
            <a:spLocks xmlns:a="http://schemas.openxmlformats.org/drawingml/2006/main" noGrp="1"/>
          </p:cNvSpPr>
          <p:nvPr/>
        </p:nvSpPr>
        <p:spPr>
          <a:xfrm xmlns:a="http://schemas.openxmlformats.org/drawingml/2006/main">
            <a:off x="857250" y="33337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Al menos tres corridas por nivel y condición</a:t>
            </a:r>
          </a:p>
        </p:txBody>
      </p:sp>
      <p:sp>
        <p:nvSpPr>
          <p:cNvPr id="5" name="">
            <a:extLst xmlns:a="http://schemas.openxmlformats.org/drawingml/2006/main">
              <a:ext uri="{FF2B5EF4-FFF2-40B4-BE49-F238E27FC236}">
                <a16:creationId xmlns:a16="http://schemas.microsoft.com/office/drawing/2014/main" id="{024BC437-F41E-43AF-8E7B-ACBDBAF4CECA}"/>
              </a:ext>
            </a:extLst>
          </p:cNvPr>
          <p:cNvSpPr>
            <a:spLocks xmlns:a="http://schemas.openxmlformats.org/drawingml/2006/main" noGrp="1"/>
          </p:cNvSpPr>
          <p:nvPr/>
        </p:nvSpPr>
        <p:spPr>
          <a:xfrm xmlns:a="http://schemas.openxmlformats.org/drawingml/2006/main">
            <a:off x="857250" y="41719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Estado inicial equivalente y orden aleatorizado o bloqueado</a:t>
            </a:r>
          </a:p>
        </p:txBody>
      </p:sp>
      <p:sp>
        <p:nvSpPr>
          <p:cNvPr id="6" name="">
            <a:extLst xmlns:a="http://schemas.openxmlformats.org/drawingml/2006/main">
              <a:ext uri="{FF2B5EF4-FFF2-40B4-BE49-F238E27FC236}">
                <a16:creationId xmlns:a16="http://schemas.microsoft.com/office/drawing/2014/main" id="{DF0A144E-578E-4403-9D7B-3FB0083654E7}"/>
              </a:ext>
            </a:extLst>
          </p:cNvPr>
          <p:cNvSpPr>
            <a:spLocks xmlns:a="http://schemas.openxmlformats.org/drawingml/2006/main" noGrp="1"/>
          </p:cNvSpPr>
          <p:nvPr/>
        </p:nvSpPr>
        <p:spPr>
          <a:xfrm xmlns:a="http://schemas.openxmlformats.org/drawingml/2006/main">
            <a:off x="857250" y="50101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Umbrales y reglas de parada fijados antes de medir</a:t>
            </a:r>
          </a:p>
        </p:txBody>
      </p:sp>
      <p:sp>
        <p:nvSpPr>
          <p:cNvPr id="7" name="">
            <a:extLst xmlns:a="http://schemas.openxmlformats.org/drawingml/2006/main">
              <a:ext uri="{FF2B5EF4-FFF2-40B4-BE49-F238E27FC236}">
                <a16:creationId xmlns:a16="http://schemas.microsoft.com/office/drawing/2014/main" id="{CC402D8A-3A18-4104-8E59-964D64ED7827}"/>
              </a:ext>
            </a:extLst>
          </p:cNvPr>
          <p:cNvSpPr>
            <a:spLocks xmlns:a="http://schemas.openxmlformats.org/drawingml/2006/main" noGrp="1"/>
          </p:cNvSpPr>
          <p:nvPr/>
        </p:nvSpPr>
        <p:spPr>
          <a:xfrm xmlns:a="http://schemas.openxmlformats.org/drawingml/2006/main">
            <a:off x="685800" y="61531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Dos condiciones y tres repeticiones sumarían 156M de intenciones lógicas</a:t>
            </a:r>
          </a:p>
        </p:txBody>
      </p:sp>
      <p:sp>
        <p:nvSpPr>
          <p:cNvPr id="8" name="">
            <a:extLst xmlns:a="http://schemas.openxmlformats.org/drawingml/2006/main">
              <a:ext uri="{FF2B5EF4-FFF2-40B4-BE49-F238E27FC236}">
                <a16:creationId xmlns:a16="http://schemas.microsoft.com/office/drawing/2014/main" id="{AC44EA8F-FF02-41C8-92E9-7BA54F00ADD5}"/>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21</a:t>
            </a:r>
          </a:p>
        </p:txBody>
      </p:sp>
    </p:spTree>
    <p:extLst>
      <p:ext uri="{BB962C8B-B14F-4D97-AF65-F5344CB8AC3E}">
        <p14:creationId xmlns:p14="http://schemas.microsoft.com/office/powerpoint/2010/main" val="29924512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7E7F45-1429-4B83-9ED9-C01D62B33FBC}"/>
              </a:ext>
            </a:extLst>
          </p:cNvPr>
          <p:cNvSpPr>
            <a:spLocks xmlns:a="http://schemas.openxmlformats.org/drawingml/2006/main" noGrp="1"/>
          </p:cNvSpPr>
          <p:nvPr/>
        </p:nvSpPr>
        <p:spPr>
          <a:xfrm xmlns:a="http://schemas.openxmlformats.org/drawingml/2006/main">
            <a:off x="685800" y="3238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555555"/>
                </a:solidFill>
                <a:latin typeface="Arial"/>
                <a:ea typeface="Arial"/>
                <a:cs typeface="Arial"/>
              </a:defRPr>
            </a:defPPr>
            <a:lvl1pPr algn="l">
              <a:defRPr sz="1275" b="1">
                <a:solidFill>
                  <a:srgbClr val="555555"/>
                </a:solidFill>
                <a:latin typeface="Arial"/>
                <a:ea typeface="Arial"/>
                <a:cs typeface="Arial"/>
              </a:defRPr>
            </a:lvl1pPr>
            <a:lvl2pPr algn="l">
              <a:defRPr sz="1275" b="1">
                <a:solidFill>
                  <a:srgbClr val="555555"/>
                </a:solidFill>
                <a:latin typeface="Arial"/>
                <a:ea typeface="Arial"/>
                <a:cs typeface="Arial"/>
              </a:defRPr>
            </a:lvl2pPr>
            <a:lvl3pPr algn="l">
              <a:defRPr sz="1275" b="1">
                <a:solidFill>
                  <a:srgbClr val="555555"/>
                </a:solidFill>
                <a:latin typeface="Arial"/>
                <a:ea typeface="Arial"/>
                <a:cs typeface="Arial"/>
              </a:defRPr>
            </a:lvl3pPr>
            <a:lvl4pPr algn="l">
              <a:defRPr sz="1275" b="1">
                <a:solidFill>
                  <a:srgbClr val="555555"/>
                </a:solidFill>
                <a:latin typeface="Arial"/>
                <a:ea typeface="Arial"/>
                <a:cs typeface="Arial"/>
              </a:defRPr>
            </a:lvl4pPr>
            <a:lvl5pPr algn="l">
              <a:defRPr sz="1275" b="1">
                <a:solidFill>
                  <a:srgbClr val="555555"/>
                </a:solidFill>
                <a:latin typeface="Arial"/>
                <a:ea typeface="Arial"/>
                <a:cs typeface="Arial"/>
              </a:defRPr>
            </a:lvl5pPr>
            <a:lvl6pPr algn="l">
              <a:defRPr sz="1275" b="1">
                <a:solidFill>
                  <a:srgbClr val="555555"/>
                </a:solidFill>
                <a:latin typeface="Arial"/>
                <a:ea typeface="Arial"/>
                <a:cs typeface="Arial"/>
              </a:defRPr>
            </a:lvl6pPr>
            <a:lvl7pPr algn="l">
              <a:defRPr sz="1275" b="1">
                <a:solidFill>
                  <a:srgbClr val="555555"/>
                </a:solidFill>
                <a:latin typeface="Arial"/>
                <a:ea typeface="Arial"/>
                <a:cs typeface="Arial"/>
              </a:defRPr>
            </a:lvl7pPr>
            <a:lvl8pPr algn="l">
              <a:defRPr sz="1275" b="1">
                <a:solidFill>
                  <a:srgbClr val="555555"/>
                </a:solidFill>
                <a:latin typeface="Arial"/>
                <a:ea typeface="Arial"/>
                <a:cs typeface="Arial"/>
              </a:defRPr>
            </a:lvl8pPr>
            <a:lvl9pPr algn="l">
              <a:defRPr sz="1275" b="1">
                <a:solidFill>
                  <a:srgbClr val="555555"/>
                </a:solidFill>
                <a:latin typeface="Arial"/>
                <a:ea typeface="Arial"/>
                <a:cs typeface="Arial"/>
              </a:defRPr>
            </a:lvl9pPr>
          </a:lstStyle>
          <a:p xmlns:a="http://schemas.openxmlformats.org/drawingml/2006/main">
            <a:pPr algn="l">
              <a:defRPr sz="1275" b="1">
                <a:solidFill>
                  <a:srgbClr val="555555"/>
                </a:solidFill>
                <a:latin typeface="Arial"/>
                <a:ea typeface="Arial"/>
                <a:cs typeface="Arial"/>
              </a:defRPr>
            </a:pPr>
            <a:r>
              <a:rPr sz="1275" b="1">
                <a:solidFill>
                  <a:srgbClr val="555555"/>
                </a:solidFill>
                <a:latin typeface="Arial"/>
                <a:ea typeface="Arial"/>
                <a:cs typeface="Arial"/>
              </a:rPr>
              <a:t>G6 · Diseño Experimental y Análisis Estadístico</a:t>
            </a:r>
          </a:p>
        </p:txBody>
      </p:sp>
      <p:sp>
        <p:nvSpPr>
          <p:cNvPr id="2" name="">
            <a:extLst xmlns:a="http://schemas.openxmlformats.org/drawingml/2006/main">
              <a:ext uri="{FF2B5EF4-FFF2-40B4-BE49-F238E27FC236}">
                <a16:creationId xmlns:a16="http://schemas.microsoft.com/office/drawing/2014/main" id="{997D757A-344D-44C8-8F00-C31B0F47818C}"/>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Conclusiones con evidencia e incertidumbre</a:t>
            </a:r>
          </a:p>
        </p:txBody>
      </p:sp>
      <p:sp>
        <p:nvSpPr>
          <p:cNvPr id="3" name="">
            <a:extLst xmlns:a="http://schemas.openxmlformats.org/drawingml/2006/main">
              <a:ext uri="{FF2B5EF4-FFF2-40B4-BE49-F238E27FC236}">
                <a16:creationId xmlns:a16="http://schemas.microsoft.com/office/drawing/2014/main" id="{DF75454D-FE41-4E92-868B-CD2448FC2C7A}"/>
              </a:ext>
            </a:extLst>
          </p:cNvPr>
          <p:cNvSpPr>
            <a:spLocks xmlns:a="http://schemas.openxmlformats.org/drawingml/2006/main" noGrp="1"/>
          </p:cNvSpPr>
          <p:nvPr/>
        </p:nvSpPr>
        <p:spPr>
          <a:xfrm xmlns:a="http://schemas.openxmlformats.org/drawingml/2006/main">
            <a:off x="685800" y="2076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111111"/>
                </a:solidFill>
                <a:latin typeface="Arial"/>
                <a:ea typeface="Arial"/>
                <a:cs typeface="Arial"/>
              </a:defRPr>
            </a:defPPr>
            <a:lvl1pPr algn="l">
              <a:defRPr sz="2400" b="1">
                <a:solidFill>
                  <a:srgbClr val="111111"/>
                </a:solidFill>
                <a:latin typeface="Arial"/>
                <a:ea typeface="Arial"/>
                <a:cs typeface="Arial"/>
              </a:defRPr>
            </a:lvl1pPr>
            <a:lvl2pPr algn="l">
              <a:defRPr sz="2400" b="1">
                <a:solidFill>
                  <a:srgbClr val="111111"/>
                </a:solidFill>
                <a:latin typeface="Arial"/>
                <a:ea typeface="Arial"/>
                <a:cs typeface="Arial"/>
              </a:defRPr>
            </a:lvl2pPr>
            <a:lvl3pPr algn="l">
              <a:defRPr sz="2400" b="1">
                <a:solidFill>
                  <a:srgbClr val="111111"/>
                </a:solidFill>
                <a:latin typeface="Arial"/>
                <a:ea typeface="Arial"/>
                <a:cs typeface="Arial"/>
              </a:defRPr>
            </a:lvl3pPr>
            <a:lvl4pPr algn="l">
              <a:defRPr sz="2400" b="1">
                <a:solidFill>
                  <a:srgbClr val="111111"/>
                </a:solidFill>
                <a:latin typeface="Arial"/>
                <a:ea typeface="Arial"/>
                <a:cs typeface="Arial"/>
              </a:defRPr>
            </a:lvl4pPr>
            <a:lvl5pPr algn="l">
              <a:defRPr sz="2400" b="1">
                <a:solidFill>
                  <a:srgbClr val="111111"/>
                </a:solidFill>
                <a:latin typeface="Arial"/>
                <a:ea typeface="Arial"/>
                <a:cs typeface="Arial"/>
              </a:defRPr>
            </a:lvl5pPr>
            <a:lvl6pPr algn="l">
              <a:defRPr sz="2400" b="1">
                <a:solidFill>
                  <a:srgbClr val="111111"/>
                </a:solidFill>
                <a:latin typeface="Arial"/>
                <a:ea typeface="Arial"/>
                <a:cs typeface="Arial"/>
              </a:defRPr>
            </a:lvl6pPr>
            <a:lvl7pPr algn="l">
              <a:defRPr sz="2400" b="1">
                <a:solidFill>
                  <a:srgbClr val="111111"/>
                </a:solidFill>
                <a:latin typeface="Arial"/>
                <a:ea typeface="Arial"/>
                <a:cs typeface="Arial"/>
              </a:defRPr>
            </a:lvl7pPr>
            <a:lvl8pPr algn="l">
              <a:defRPr sz="2400" b="1">
                <a:solidFill>
                  <a:srgbClr val="111111"/>
                </a:solidFill>
                <a:latin typeface="Arial"/>
                <a:ea typeface="Arial"/>
                <a:cs typeface="Arial"/>
              </a:defRPr>
            </a:lvl8pPr>
            <a:lvl9pPr algn="l">
              <a:defRPr sz="2400" b="1">
                <a:solidFill>
                  <a:srgbClr val="111111"/>
                </a:solidFill>
                <a:latin typeface="Arial"/>
                <a:ea typeface="Arial"/>
                <a:cs typeface="Arial"/>
              </a:defRPr>
            </a:lvl9pPr>
          </a:lstStyle>
          <a:p xmlns:a="http://schemas.openxmlformats.org/drawingml/2006/main">
            <a:pPr algn="l">
              <a:defRPr sz="2400" b="1">
                <a:solidFill>
                  <a:srgbClr val="111111"/>
                </a:solidFill>
                <a:latin typeface="Arial"/>
                <a:ea typeface="Arial"/>
                <a:cs typeface="Arial"/>
              </a:defRPr>
            </a:pPr>
            <a:r>
              <a:rPr sz="2400" b="1">
                <a:solidFill>
                  <a:srgbClr val="111111"/>
                </a:solidFill>
                <a:latin typeface="Arial"/>
                <a:ea typeface="Arial"/>
                <a:cs typeface="Arial"/>
              </a:rPr>
              <a:t>La corrida es la unidad principal de comparación</a:t>
            </a:r>
          </a:p>
        </p:txBody>
      </p:sp>
      <p:sp>
        <p:nvSpPr>
          <p:cNvPr id="4" name="">
            <a:extLst xmlns:a="http://schemas.openxmlformats.org/drawingml/2006/main">
              <a:ext uri="{FF2B5EF4-FFF2-40B4-BE49-F238E27FC236}">
                <a16:creationId xmlns:a16="http://schemas.microsoft.com/office/drawing/2014/main" id="{860ED262-3CCA-4497-B1D8-5257F76F0FE8}"/>
              </a:ext>
            </a:extLst>
          </p:cNvPr>
          <p:cNvSpPr>
            <a:spLocks xmlns:a="http://schemas.openxmlformats.org/drawingml/2006/main" noGrp="1"/>
          </p:cNvSpPr>
          <p:nvPr/>
        </p:nvSpPr>
        <p:spPr>
          <a:xfrm xmlns:a="http://schemas.openxmlformats.org/drawingml/2006/main">
            <a:off x="857250" y="33337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Conservar distribuciones y percentiles por corrida</a:t>
            </a:r>
          </a:p>
        </p:txBody>
      </p:sp>
      <p:sp>
        <p:nvSpPr>
          <p:cNvPr id="5" name="">
            <a:extLst xmlns:a="http://schemas.openxmlformats.org/drawingml/2006/main">
              <a:ext uri="{FF2B5EF4-FFF2-40B4-BE49-F238E27FC236}">
                <a16:creationId xmlns:a16="http://schemas.microsoft.com/office/drawing/2014/main" id="{2705760F-4C7B-4925-8C4F-687E819D9E0B}"/>
              </a:ext>
            </a:extLst>
          </p:cNvPr>
          <p:cNvSpPr>
            <a:spLocks xmlns:a="http://schemas.openxmlformats.org/drawingml/2006/main" noGrp="1"/>
          </p:cNvSpPr>
          <p:nvPr/>
        </p:nvSpPr>
        <p:spPr>
          <a:xfrm xmlns:a="http://schemas.openxmlformats.org/drawingml/2006/main">
            <a:off x="857250" y="41719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Usar análisis compatible con el emparejamiento y los supuestos</a:t>
            </a:r>
          </a:p>
        </p:txBody>
      </p:sp>
      <p:sp>
        <p:nvSpPr>
          <p:cNvPr id="6" name="">
            <a:extLst xmlns:a="http://schemas.openxmlformats.org/drawingml/2006/main">
              <a:ext uri="{FF2B5EF4-FFF2-40B4-BE49-F238E27FC236}">
                <a16:creationId xmlns:a16="http://schemas.microsoft.com/office/drawing/2014/main" id="{BB2709EC-F379-470F-8CC8-80BCDA1C2AC1}"/>
              </a:ext>
            </a:extLst>
          </p:cNvPr>
          <p:cNvSpPr>
            <a:spLocks xmlns:a="http://schemas.openxmlformats.org/drawingml/2006/main" noGrp="1"/>
          </p:cNvSpPr>
          <p:nvPr/>
        </p:nvSpPr>
        <p:spPr>
          <a:xfrm xmlns:a="http://schemas.openxmlformats.org/drawingml/2006/main">
            <a:off x="857250" y="50101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Informar efecto incertidumbre y cumplimiento de umbrales</a:t>
            </a:r>
          </a:p>
        </p:txBody>
      </p:sp>
      <p:sp>
        <p:nvSpPr>
          <p:cNvPr id="7" name="">
            <a:extLst xmlns:a="http://schemas.openxmlformats.org/drawingml/2006/main">
              <a:ext uri="{FF2B5EF4-FFF2-40B4-BE49-F238E27FC236}">
                <a16:creationId xmlns:a16="http://schemas.microsoft.com/office/drawing/2014/main" id="{29A8D59A-F44D-4AC2-952F-4546A3F7A4DC}"/>
              </a:ext>
            </a:extLst>
          </p:cNvPr>
          <p:cNvSpPr>
            <a:spLocks xmlns:a="http://schemas.openxmlformats.org/drawingml/2006/main" noGrp="1"/>
          </p:cNvSpPr>
          <p:nvPr/>
        </p:nvSpPr>
        <p:spPr>
          <a:xfrm xmlns:a="http://schemas.openxmlformats.org/drawingml/2006/main">
            <a:off x="685800" y="61531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No detectar diferencia no demuestra equivalencia ni acepta automáticamente H1</a:t>
            </a:r>
          </a:p>
        </p:txBody>
      </p:sp>
      <p:sp>
        <p:nvSpPr>
          <p:cNvPr id="8" name="">
            <a:extLst xmlns:a="http://schemas.openxmlformats.org/drawingml/2006/main">
              <a:ext uri="{FF2B5EF4-FFF2-40B4-BE49-F238E27FC236}">
                <a16:creationId xmlns:a16="http://schemas.microsoft.com/office/drawing/2014/main" id="{B2C671A0-7A79-4315-A390-25DFC59EDF70}"/>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22</a:t>
            </a:r>
          </a:p>
        </p:txBody>
      </p:sp>
    </p:spTree>
    <p:extLst>
      <p:ext uri="{BB962C8B-B14F-4D97-AF65-F5344CB8AC3E}">
        <p14:creationId xmlns:p14="http://schemas.microsoft.com/office/powerpoint/2010/main" val="193761235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5590F7-6C56-432B-8A91-037AA08A1E37}"/>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Demostración conjunta del sistema de reservas</a:t>
            </a:r>
          </a:p>
        </p:txBody>
      </p:sp>
      <p:sp>
        <p:nvSpPr>
          <p:cNvPr id="2" name="">
            <a:extLst xmlns:a="http://schemas.openxmlformats.org/drawingml/2006/main">
              <a:ext uri="{FF2B5EF4-FFF2-40B4-BE49-F238E27FC236}">
                <a16:creationId xmlns:a16="http://schemas.microsoft.com/office/drawing/2014/main" id="{CE427C74-B2E9-428F-883F-A9C5EA39F456}"/>
              </a:ext>
            </a:extLst>
          </p:cNvPr>
          <p:cNvSpPr>
            <a:spLocks xmlns:a="http://schemas.openxmlformats.org/drawingml/2006/main" noGrp="1"/>
          </p:cNvSpPr>
          <p:nvPr/>
        </p:nvSpPr>
        <p:spPr>
          <a:xfrm xmlns:a="http://schemas.openxmlformats.org/drawingml/2006/main">
            <a:off x="685800" y="2076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111111"/>
                </a:solidFill>
                <a:latin typeface="Arial"/>
                <a:ea typeface="Arial"/>
                <a:cs typeface="Arial"/>
              </a:defRPr>
            </a:defPPr>
            <a:lvl1pPr algn="l">
              <a:defRPr sz="2400" b="1">
                <a:solidFill>
                  <a:srgbClr val="111111"/>
                </a:solidFill>
                <a:latin typeface="Arial"/>
                <a:ea typeface="Arial"/>
                <a:cs typeface="Arial"/>
              </a:defRPr>
            </a:lvl1pPr>
            <a:lvl2pPr algn="l">
              <a:defRPr sz="2400" b="1">
                <a:solidFill>
                  <a:srgbClr val="111111"/>
                </a:solidFill>
                <a:latin typeface="Arial"/>
                <a:ea typeface="Arial"/>
                <a:cs typeface="Arial"/>
              </a:defRPr>
            </a:lvl2pPr>
            <a:lvl3pPr algn="l">
              <a:defRPr sz="2400" b="1">
                <a:solidFill>
                  <a:srgbClr val="111111"/>
                </a:solidFill>
                <a:latin typeface="Arial"/>
                <a:ea typeface="Arial"/>
                <a:cs typeface="Arial"/>
              </a:defRPr>
            </a:lvl3pPr>
            <a:lvl4pPr algn="l">
              <a:defRPr sz="2400" b="1">
                <a:solidFill>
                  <a:srgbClr val="111111"/>
                </a:solidFill>
                <a:latin typeface="Arial"/>
                <a:ea typeface="Arial"/>
                <a:cs typeface="Arial"/>
              </a:defRPr>
            </a:lvl4pPr>
            <a:lvl5pPr algn="l">
              <a:defRPr sz="2400" b="1">
                <a:solidFill>
                  <a:srgbClr val="111111"/>
                </a:solidFill>
                <a:latin typeface="Arial"/>
                <a:ea typeface="Arial"/>
                <a:cs typeface="Arial"/>
              </a:defRPr>
            </a:lvl5pPr>
            <a:lvl6pPr algn="l">
              <a:defRPr sz="2400" b="1">
                <a:solidFill>
                  <a:srgbClr val="111111"/>
                </a:solidFill>
                <a:latin typeface="Arial"/>
                <a:ea typeface="Arial"/>
                <a:cs typeface="Arial"/>
              </a:defRPr>
            </a:lvl6pPr>
            <a:lvl7pPr algn="l">
              <a:defRPr sz="2400" b="1">
                <a:solidFill>
                  <a:srgbClr val="111111"/>
                </a:solidFill>
                <a:latin typeface="Arial"/>
                <a:ea typeface="Arial"/>
                <a:cs typeface="Arial"/>
              </a:defRPr>
            </a:lvl7pPr>
            <a:lvl8pPr algn="l">
              <a:defRPr sz="2400" b="1">
                <a:solidFill>
                  <a:srgbClr val="111111"/>
                </a:solidFill>
                <a:latin typeface="Arial"/>
                <a:ea typeface="Arial"/>
                <a:cs typeface="Arial"/>
              </a:defRPr>
            </a:lvl8pPr>
            <a:lvl9pPr algn="l">
              <a:defRPr sz="2400" b="1">
                <a:solidFill>
                  <a:srgbClr val="111111"/>
                </a:solidFill>
                <a:latin typeface="Arial"/>
                <a:ea typeface="Arial"/>
                <a:cs typeface="Arial"/>
              </a:defRPr>
            </a:lvl9pPr>
          </a:lstStyle>
          <a:p xmlns:a="http://schemas.openxmlformats.org/drawingml/2006/main">
            <a:pPr algn="l">
              <a:defRPr sz="2400" b="1">
                <a:solidFill>
                  <a:srgbClr val="111111"/>
                </a:solidFill>
                <a:latin typeface="Arial"/>
                <a:ea typeface="Arial"/>
                <a:cs typeface="Arial"/>
              </a:defRPr>
            </a:pPr>
            <a:r>
              <a:rPr sz="2400" b="1">
                <a:solidFill>
                  <a:srgbClr val="111111"/>
                </a:solidFill>
                <a:latin typeface="Arial"/>
                <a:ea typeface="Arial"/>
                <a:cs typeface="Arial"/>
              </a:rPr>
              <a:t>Un recorrido funcional con seis explicaciones</a:t>
            </a:r>
          </a:p>
        </p:txBody>
      </p:sp>
      <p:sp>
        <p:nvSpPr>
          <p:cNvPr id="3" name="">
            <a:extLst xmlns:a="http://schemas.openxmlformats.org/drawingml/2006/main">
              <a:ext uri="{FF2B5EF4-FFF2-40B4-BE49-F238E27FC236}">
                <a16:creationId xmlns:a16="http://schemas.microsoft.com/office/drawing/2014/main" id="{44888797-FC17-44E1-AF3A-5DF4DA58FF16}"/>
              </a:ext>
            </a:extLst>
          </p:cNvPr>
          <p:cNvSpPr>
            <a:spLocks xmlns:a="http://schemas.openxmlformats.org/drawingml/2006/main" noGrp="1"/>
          </p:cNvSpPr>
          <p:nvPr/>
        </p:nvSpPr>
        <p:spPr>
          <a:xfrm xmlns:a="http://schemas.openxmlformats.org/drawingml/2006/main">
            <a:off x="857250" y="33337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G1 ubica la arquitectura y G3 explica el acceso</a:t>
            </a:r>
          </a:p>
        </p:txBody>
      </p:sp>
      <p:sp>
        <p:nvSpPr>
          <p:cNvPr id="4" name="">
            <a:extLst xmlns:a="http://schemas.openxmlformats.org/drawingml/2006/main">
              <a:ext uri="{FF2B5EF4-FFF2-40B4-BE49-F238E27FC236}">
                <a16:creationId xmlns:a16="http://schemas.microsoft.com/office/drawing/2014/main" id="{A97D1642-97D9-43FF-A45E-1CAB17CD7853}"/>
              </a:ext>
            </a:extLst>
          </p:cNvPr>
          <p:cNvSpPr>
            <a:spLocks xmlns:a="http://schemas.openxmlformats.org/drawingml/2006/main" noGrp="1"/>
          </p:cNvSpPr>
          <p:nvPr/>
        </p:nvSpPr>
        <p:spPr>
          <a:xfrm xmlns:a="http://schemas.openxmlformats.org/drawingml/2006/main">
            <a:off x="857250" y="41719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G4 acompaña reserva comprobante y consulta</a:t>
            </a:r>
          </a:p>
        </p:txBody>
      </p:sp>
      <p:sp>
        <p:nvSpPr>
          <p:cNvPr id="5" name="">
            <a:extLst xmlns:a="http://schemas.openxmlformats.org/drawingml/2006/main">
              <a:ext uri="{FF2B5EF4-FFF2-40B4-BE49-F238E27FC236}">
                <a16:creationId xmlns:a16="http://schemas.microsoft.com/office/drawing/2014/main" id="{59DBB7AD-B8BC-470B-803A-0110A619FF27}"/>
              </a:ext>
            </a:extLst>
          </p:cNvPr>
          <p:cNvSpPr>
            <a:spLocks xmlns:a="http://schemas.openxmlformats.org/drawingml/2006/main" noGrp="1"/>
          </p:cNvSpPr>
          <p:nvPr/>
        </p:nvSpPr>
        <p:spPr>
          <a:xfrm xmlns:a="http://schemas.openxmlformats.org/drawingml/2006/main">
            <a:off x="857250" y="50101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G2 G5 y G6 explican escalado métricas y verificación</a:t>
            </a:r>
          </a:p>
        </p:txBody>
      </p:sp>
      <p:sp>
        <p:nvSpPr>
          <p:cNvPr id="6" name="">
            <a:extLst xmlns:a="http://schemas.openxmlformats.org/drawingml/2006/main">
              <a:ext uri="{FF2B5EF4-FFF2-40B4-BE49-F238E27FC236}">
                <a16:creationId xmlns:a16="http://schemas.microsoft.com/office/drawing/2014/main" id="{007A72AB-62E6-43EA-948F-1BFC3E011570}"/>
              </a:ext>
            </a:extLst>
          </p:cNvPr>
          <p:cNvSpPr>
            <a:spLocks xmlns:a="http://schemas.openxmlformats.org/drawingml/2006/main" noGrp="1"/>
          </p:cNvSpPr>
          <p:nvPr/>
        </p:nvSpPr>
        <p:spPr>
          <a:xfrm xmlns:a="http://schemas.openxmlformats.org/drawingml/2006/main">
            <a:off x="685800" y="61531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25 minutos propuestos · laboratorio exclusivo de demostración</a:t>
            </a:r>
          </a:p>
        </p:txBody>
      </p:sp>
      <p:sp>
        <p:nvSpPr>
          <p:cNvPr id="7" name="">
            <a:extLst xmlns:a="http://schemas.openxmlformats.org/drawingml/2006/main">
              <a:ext uri="{FF2B5EF4-FFF2-40B4-BE49-F238E27FC236}">
                <a16:creationId xmlns:a16="http://schemas.microsoft.com/office/drawing/2014/main" id="{45A276CC-342D-42A7-BC94-2A1916CFFE2F}"/>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23</a:t>
            </a:r>
          </a:p>
        </p:txBody>
      </p:sp>
    </p:spTree>
    <p:extLst>
      <p:ext uri="{BB962C8B-B14F-4D97-AF65-F5344CB8AC3E}">
        <p14:creationId xmlns:p14="http://schemas.microsoft.com/office/powerpoint/2010/main" val="259547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9031AE6-E4EE-420F-91FE-CA6C8909AA58}"/>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Acceso catálogo y disponibilidad</a:t>
            </a:r>
          </a:p>
        </p:txBody>
      </p:sp>
      <p:sp>
        <p:nvSpPr>
          <p:cNvPr id="2" name="">
            <a:extLst xmlns:a="http://schemas.openxmlformats.org/drawingml/2006/main">
              <a:ext uri="{FF2B5EF4-FFF2-40B4-BE49-F238E27FC236}">
                <a16:creationId xmlns:a16="http://schemas.microsoft.com/office/drawing/2014/main" id="{84D6E110-43A1-4068-89C3-3D1F321C179F}"/>
              </a:ext>
            </a:extLst>
          </p:cNvPr>
          <p:cNvSpPr>
            <a:spLocks xmlns:a="http://schemas.openxmlformats.org/drawingml/2006/main" noGrp="1"/>
          </p:cNvSpPr>
          <p:nvPr/>
        </p:nvSpPr>
        <p:spPr>
          <a:xfrm xmlns:a="http://schemas.openxmlformats.org/drawingml/2006/main">
            <a:off x="68580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Ingresar clave</a:t>
            </a:r>
          </a:p>
        </p:txBody>
      </p:sp>
      <p:sp>
        <p:nvSpPr>
          <p:cNvPr id="3" name="">
            <a:extLst xmlns:a="http://schemas.openxmlformats.org/drawingml/2006/main">
              <a:ext uri="{FF2B5EF4-FFF2-40B4-BE49-F238E27FC236}">
                <a16:creationId xmlns:a16="http://schemas.microsoft.com/office/drawing/2014/main" id="{57AC16E5-1DCB-4AC6-B3D8-756530072F42}"/>
              </a:ext>
            </a:extLst>
          </p:cNvPr>
          <p:cNvSpPr>
            <a:spLocks xmlns:a="http://schemas.openxmlformats.org/drawingml/2006/main" noGrp="1"/>
          </p:cNvSpPr>
          <p:nvPr/>
        </p:nvSpPr>
        <p:spPr>
          <a:xfrm xmlns:a="http://schemas.openxmlformats.org/drawingml/2006/main">
            <a:off x="302895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4" name="">
            <a:extLst xmlns:a="http://schemas.openxmlformats.org/drawingml/2006/main">
              <a:ext uri="{FF2B5EF4-FFF2-40B4-BE49-F238E27FC236}">
                <a16:creationId xmlns:a16="http://schemas.microsoft.com/office/drawing/2014/main" id="{26AD01F5-976B-4C1A-BAA5-48D77EB7C8A4}"/>
              </a:ext>
            </a:extLst>
          </p:cNvPr>
          <p:cNvSpPr>
            <a:spLocks xmlns:a="http://schemas.openxmlformats.org/drawingml/2006/main" noGrp="1"/>
          </p:cNvSpPr>
          <p:nvPr/>
        </p:nvSpPr>
        <p:spPr>
          <a:xfrm xmlns:a="http://schemas.openxmlformats.org/drawingml/2006/main">
            <a:off x="340995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Abrir catálogo</a:t>
            </a:r>
          </a:p>
        </p:txBody>
      </p:sp>
      <p:sp>
        <p:nvSpPr>
          <p:cNvPr id="5" name="">
            <a:extLst xmlns:a="http://schemas.openxmlformats.org/drawingml/2006/main">
              <a:ext uri="{FF2B5EF4-FFF2-40B4-BE49-F238E27FC236}">
                <a16:creationId xmlns:a16="http://schemas.microsoft.com/office/drawing/2014/main" id="{B7807FD4-BB06-490C-913F-3CB076C8DEC2}"/>
              </a:ext>
            </a:extLst>
          </p:cNvPr>
          <p:cNvSpPr>
            <a:spLocks xmlns:a="http://schemas.openxmlformats.org/drawingml/2006/main" noGrp="1"/>
          </p:cNvSpPr>
          <p:nvPr/>
        </p:nvSpPr>
        <p:spPr>
          <a:xfrm xmlns:a="http://schemas.openxmlformats.org/drawingml/2006/main">
            <a:off x="575310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6EDBB5D6-8A70-409E-9841-464AA135B78E}"/>
              </a:ext>
            </a:extLst>
          </p:cNvPr>
          <p:cNvSpPr>
            <a:spLocks xmlns:a="http://schemas.openxmlformats.org/drawingml/2006/main" noGrp="1"/>
          </p:cNvSpPr>
          <p:nvPr/>
        </p:nvSpPr>
        <p:spPr>
          <a:xfrm xmlns:a="http://schemas.openxmlformats.org/drawingml/2006/main">
            <a:off x="613410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Elegir evento</a:t>
            </a:r>
          </a:p>
        </p:txBody>
      </p:sp>
      <p:sp>
        <p:nvSpPr>
          <p:cNvPr id="7" name="">
            <a:extLst xmlns:a="http://schemas.openxmlformats.org/drawingml/2006/main">
              <a:ext uri="{FF2B5EF4-FFF2-40B4-BE49-F238E27FC236}">
                <a16:creationId xmlns:a16="http://schemas.microsoft.com/office/drawing/2014/main" id="{A3CB550B-F350-470C-848E-4D6B85ACCA6F}"/>
              </a:ext>
            </a:extLst>
          </p:cNvPr>
          <p:cNvSpPr>
            <a:spLocks xmlns:a="http://schemas.openxmlformats.org/drawingml/2006/main" noGrp="1"/>
          </p:cNvSpPr>
          <p:nvPr/>
        </p:nvSpPr>
        <p:spPr>
          <a:xfrm xmlns:a="http://schemas.openxmlformats.org/drawingml/2006/main">
            <a:off x="847725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75A4048F-FA20-462E-A0D0-BAFBA99097FA}"/>
              </a:ext>
            </a:extLst>
          </p:cNvPr>
          <p:cNvSpPr>
            <a:spLocks xmlns:a="http://schemas.openxmlformats.org/drawingml/2006/main" noGrp="1"/>
          </p:cNvSpPr>
          <p:nvPr/>
        </p:nvSpPr>
        <p:spPr>
          <a:xfrm xmlns:a="http://schemas.openxmlformats.org/drawingml/2006/main">
            <a:off x="885825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Anotar cupos</a:t>
            </a:r>
          </a:p>
        </p:txBody>
      </p:sp>
      <p:sp>
        <p:nvSpPr>
          <p:cNvPr id="9" name="">
            <a:extLst xmlns:a="http://schemas.openxmlformats.org/drawingml/2006/main">
              <a:ext uri="{FF2B5EF4-FFF2-40B4-BE49-F238E27FC236}">
                <a16:creationId xmlns:a16="http://schemas.microsoft.com/office/drawing/2014/main" id="{0F302950-183C-4E6D-8F3A-BDA94C9112DD}"/>
              </a:ext>
            </a:extLst>
          </p:cNvPr>
          <p:cNvSpPr>
            <a:spLocks xmlns:a="http://schemas.openxmlformats.org/drawingml/2006/main" noGrp="1"/>
          </p:cNvSpPr>
          <p:nvPr/>
        </p:nvSpPr>
        <p:spPr>
          <a:xfrm xmlns:a="http://schemas.openxmlformats.org/drawingml/2006/main">
            <a:off x="685800" y="41719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La clave se introduce sin proyectarla ni grabarla</a:t>
            </a:r>
          </a:p>
        </p:txBody>
      </p:sp>
      <p:sp>
        <p:nvSpPr>
          <p:cNvPr id="10" name="">
            <a:extLst xmlns:a="http://schemas.openxmlformats.org/drawingml/2006/main">
              <a:ext uri="{FF2B5EF4-FFF2-40B4-BE49-F238E27FC236}">
                <a16:creationId xmlns:a16="http://schemas.microsoft.com/office/drawing/2014/main" id="{7DB2EC12-4639-4720-9526-FAA280D467B4}"/>
              </a:ext>
            </a:extLst>
          </p:cNvPr>
          <p:cNvSpPr>
            <a:spLocks xmlns:a="http://schemas.openxmlformats.org/drawingml/2006/main" noGrp="1"/>
          </p:cNvSpPr>
          <p:nvPr/>
        </p:nvSpPr>
        <p:spPr>
          <a:xfrm xmlns:a="http://schemas.openxmlformats.org/drawingml/2006/main">
            <a:off x="685800" y="49149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Disponibilidad observada no equivale a cupos bloqueados</a:t>
            </a:r>
          </a:p>
        </p:txBody>
      </p:sp>
      <p:sp>
        <p:nvSpPr>
          <p:cNvPr id="11" name="">
            <a:extLst xmlns:a="http://schemas.openxmlformats.org/drawingml/2006/main">
              <a:ext uri="{FF2B5EF4-FFF2-40B4-BE49-F238E27FC236}">
                <a16:creationId xmlns:a16="http://schemas.microsoft.com/office/drawing/2014/main" id="{A7BBF959-0642-4D70-8A0E-A6AC38DB3DD9}"/>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24</a:t>
            </a:r>
          </a:p>
        </p:txBody>
      </p:sp>
    </p:spTree>
    <p:extLst>
      <p:ext uri="{BB962C8B-B14F-4D97-AF65-F5344CB8AC3E}">
        <p14:creationId xmlns:p14="http://schemas.microsoft.com/office/powerpoint/2010/main" val="204391554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D953DE1-620A-440E-AE29-0EA7638FDF2F}"/>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Confirmación y consulta de una reserva</a:t>
            </a:r>
          </a:p>
        </p:txBody>
      </p:sp>
      <p:sp>
        <p:nvSpPr>
          <p:cNvPr id="2" name="">
            <a:extLst xmlns:a="http://schemas.openxmlformats.org/drawingml/2006/main">
              <a:ext uri="{FF2B5EF4-FFF2-40B4-BE49-F238E27FC236}">
                <a16:creationId xmlns:a16="http://schemas.microsoft.com/office/drawing/2014/main" id="{2AEDFBAF-53C3-45B3-844B-C59676E595B0}"/>
              </a:ext>
            </a:extLst>
          </p:cNvPr>
          <p:cNvSpPr>
            <a:spLocks xmlns:a="http://schemas.openxmlformats.org/drawingml/2006/main" noGrp="1"/>
          </p:cNvSpPr>
          <p:nvPr/>
        </p:nvSpPr>
        <p:spPr>
          <a:xfrm xmlns:a="http://schemas.openxmlformats.org/drawingml/2006/main">
            <a:off x="68580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Reservar 1 cupo</a:t>
            </a:r>
          </a:p>
        </p:txBody>
      </p:sp>
      <p:sp>
        <p:nvSpPr>
          <p:cNvPr id="3" name="">
            <a:extLst xmlns:a="http://schemas.openxmlformats.org/drawingml/2006/main">
              <a:ext uri="{FF2B5EF4-FFF2-40B4-BE49-F238E27FC236}">
                <a16:creationId xmlns:a16="http://schemas.microsoft.com/office/drawing/2014/main" id="{FB08AADE-33C0-4D46-983F-3229C517BBAC}"/>
              </a:ext>
            </a:extLst>
          </p:cNvPr>
          <p:cNvSpPr>
            <a:spLocks xmlns:a="http://schemas.openxmlformats.org/drawingml/2006/main" noGrp="1"/>
          </p:cNvSpPr>
          <p:nvPr/>
        </p:nvSpPr>
        <p:spPr>
          <a:xfrm xmlns:a="http://schemas.openxmlformats.org/drawingml/2006/main">
            <a:off x="302895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4" name="">
            <a:extLst xmlns:a="http://schemas.openxmlformats.org/drawingml/2006/main">
              <a:ext uri="{FF2B5EF4-FFF2-40B4-BE49-F238E27FC236}">
                <a16:creationId xmlns:a16="http://schemas.microsoft.com/office/drawing/2014/main" id="{8DBE037E-6E8B-494C-A6E8-87F824B528E9}"/>
              </a:ext>
            </a:extLst>
          </p:cNvPr>
          <p:cNvSpPr>
            <a:spLocks xmlns:a="http://schemas.openxmlformats.org/drawingml/2006/main" noGrp="1"/>
          </p:cNvSpPr>
          <p:nvPr/>
        </p:nvSpPr>
        <p:spPr>
          <a:xfrm xmlns:a="http://schemas.openxmlformats.org/drawingml/2006/main">
            <a:off x="340995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Confirmar</a:t>
            </a:r>
          </a:p>
        </p:txBody>
      </p:sp>
      <p:sp>
        <p:nvSpPr>
          <p:cNvPr id="5" name="">
            <a:extLst xmlns:a="http://schemas.openxmlformats.org/drawingml/2006/main">
              <a:ext uri="{FF2B5EF4-FFF2-40B4-BE49-F238E27FC236}">
                <a16:creationId xmlns:a16="http://schemas.microsoft.com/office/drawing/2014/main" id="{51FCB161-C356-4151-A1FD-5364FE322424}"/>
              </a:ext>
            </a:extLst>
          </p:cNvPr>
          <p:cNvSpPr>
            <a:spLocks xmlns:a="http://schemas.openxmlformats.org/drawingml/2006/main" noGrp="1"/>
          </p:cNvSpPr>
          <p:nvPr/>
        </p:nvSpPr>
        <p:spPr>
          <a:xfrm xmlns:a="http://schemas.openxmlformats.org/drawingml/2006/main">
            <a:off x="575310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B1A5FAB3-5B1B-4F1F-B85F-9FD2E2EE6007}"/>
              </a:ext>
            </a:extLst>
          </p:cNvPr>
          <p:cNvSpPr>
            <a:spLocks xmlns:a="http://schemas.openxmlformats.org/drawingml/2006/main" noGrp="1"/>
          </p:cNvSpPr>
          <p:nvPr/>
        </p:nvSpPr>
        <p:spPr>
          <a:xfrm xmlns:a="http://schemas.openxmlformats.org/drawingml/2006/main">
            <a:off x="613410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Copiar ID</a:t>
            </a:r>
          </a:p>
        </p:txBody>
      </p:sp>
      <p:sp>
        <p:nvSpPr>
          <p:cNvPr id="7" name="">
            <a:extLst xmlns:a="http://schemas.openxmlformats.org/drawingml/2006/main">
              <a:ext uri="{FF2B5EF4-FFF2-40B4-BE49-F238E27FC236}">
                <a16:creationId xmlns:a16="http://schemas.microsoft.com/office/drawing/2014/main" id="{F4FA8A74-C2CE-4474-9165-127E8E9145B3}"/>
              </a:ext>
            </a:extLst>
          </p:cNvPr>
          <p:cNvSpPr>
            <a:spLocks xmlns:a="http://schemas.openxmlformats.org/drawingml/2006/main" noGrp="1"/>
          </p:cNvSpPr>
          <p:nvPr/>
        </p:nvSpPr>
        <p:spPr>
          <a:xfrm xmlns:a="http://schemas.openxmlformats.org/drawingml/2006/main">
            <a:off x="847725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DE063CFD-7EF2-4872-900C-06872A25B858}"/>
              </a:ext>
            </a:extLst>
          </p:cNvPr>
          <p:cNvSpPr>
            <a:spLocks xmlns:a="http://schemas.openxmlformats.org/drawingml/2006/main" noGrp="1"/>
          </p:cNvSpPr>
          <p:nvPr/>
        </p:nvSpPr>
        <p:spPr>
          <a:xfrm xmlns:a="http://schemas.openxmlformats.org/drawingml/2006/main">
            <a:off x="885825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Consultar</a:t>
            </a:r>
          </a:p>
        </p:txBody>
      </p:sp>
      <p:sp>
        <p:nvSpPr>
          <p:cNvPr id="9" name="">
            <a:extLst xmlns:a="http://schemas.openxmlformats.org/drawingml/2006/main">
              <a:ext uri="{FF2B5EF4-FFF2-40B4-BE49-F238E27FC236}">
                <a16:creationId xmlns:a16="http://schemas.microsoft.com/office/drawing/2014/main" id="{51B17C83-B237-49E7-AEB5-EE77A2C77F89}"/>
              </a:ext>
            </a:extLst>
          </p:cNvPr>
          <p:cNvSpPr>
            <a:spLocks xmlns:a="http://schemas.openxmlformats.org/drawingml/2006/main" noGrp="1"/>
          </p:cNvSpPr>
          <p:nvPr/>
        </p:nvSpPr>
        <p:spPr>
          <a:xfrm xmlns:a="http://schemas.openxmlformats.org/drawingml/2006/main">
            <a:off x="685800" y="41719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Verificar un comprobante y disponibilidad A menos 1</a:t>
            </a:r>
          </a:p>
        </p:txBody>
      </p:sp>
      <p:sp>
        <p:nvSpPr>
          <p:cNvPr id="10" name="">
            <a:extLst xmlns:a="http://schemas.openxmlformats.org/drawingml/2006/main">
              <a:ext uri="{FF2B5EF4-FFF2-40B4-BE49-F238E27FC236}">
                <a16:creationId xmlns:a16="http://schemas.microsoft.com/office/drawing/2014/main" id="{7F728C17-D86C-4585-9DC5-7D6F07B7468B}"/>
              </a:ext>
            </a:extLst>
          </p:cNvPr>
          <p:cNvSpPr>
            <a:spLocks xmlns:a="http://schemas.openxmlformats.org/drawingml/2006/main" noGrp="1"/>
          </p:cNvSpPr>
          <p:nvPr/>
        </p:nvSpPr>
        <p:spPr>
          <a:xfrm xmlns:a="http://schemas.openxmlformats.org/drawingml/2006/main">
            <a:off x="685800" y="49149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Salir y comprobar que la clave ya no permanece</a:t>
            </a:r>
          </a:p>
        </p:txBody>
      </p:sp>
      <p:sp>
        <p:nvSpPr>
          <p:cNvPr id="11" name="">
            <a:extLst xmlns:a="http://schemas.openxmlformats.org/drawingml/2006/main">
              <a:ext uri="{FF2B5EF4-FFF2-40B4-BE49-F238E27FC236}">
                <a16:creationId xmlns:a16="http://schemas.microsoft.com/office/drawing/2014/main" id="{FDF546D2-0D1C-4FD3-B47D-DDD745ABFAFB}"/>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25</a:t>
            </a:r>
          </a:p>
        </p:txBody>
      </p:sp>
    </p:spTree>
    <p:extLst>
      <p:ext uri="{BB962C8B-B14F-4D97-AF65-F5344CB8AC3E}">
        <p14:creationId xmlns:p14="http://schemas.microsoft.com/office/powerpoint/2010/main" val="156357793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3D55735-EF5C-4BDA-B4F9-D57517D9AC27}"/>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Reenvíos y recuperación sin duplicación</a:t>
            </a:r>
          </a:p>
        </p:txBody>
      </p:sp>
      <p:sp>
        <p:nvSpPr>
          <p:cNvPr id="2" name="">
            <a:extLst xmlns:a="http://schemas.openxmlformats.org/drawingml/2006/main">
              <a:ext uri="{FF2B5EF4-FFF2-40B4-BE49-F238E27FC236}">
                <a16:creationId xmlns:a16="http://schemas.microsoft.com/office/drawing/2014/main" id="{DAC22918-57A2-4025-B823-C81261D18F1D}"/>
              </a:ext>
            </a:extLst>
          </p:cNvPr>
          <p:cNvSpPr>
            <a:spLocks xmlns:a="http://schemas.openxmlformats.org/drawingml/2006/main" noGrp="1"/>
          </p:cNvSpPr>
          <p:nvPr/>
        </p:nvSpPr>
        <p:spPr>
          <a:xfrm xmlns:a="http://schemas.openxmlformats.org/drawingml/2006/main">
            <a:off x="685800" y="207645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Evidencia existente</a:t>
            </a:r>
          </a:p>
        </p:txBody>
      </p:sp>
      <p:sp>
        <p:nvSpPr>
          <p:cNvPr id="3" name="">
            <a:extLst xmlns:a="http://schemas.openxmlformats.org/drawingml/2006/main">
              <a:ext uri="{FF2B5EF4-FFF2-40B4-BE49-F238E27FC236}">
                <a16:creationId xmlns:a16="http://schemas.microsoft.com/office/drawing/2014/main" id="{17ADD218-40C5-4424-AFDF-FC97519AD5DF}"/>
              </a:ext>
            </a:extLst>
          </p:cNvPr>
          <p:cNvSpPr>
            <a:spLocks xmlns:a="http://schemas.openxmlformats.org/drawingml/2006/main" noGrp="1"/>
          </p:cNvSpPr>
          <p:nvPr/>
        </p:nvSpPr>
        <p:spPr>
          <a:xfrm xmlns:a="http://schemas.openxmlformats.org/drawingml/2006/main">
            <a:off x="6477000" y="2076450"/>
            <a:ext cx="502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11111"/>
                </a:solidFill>
                <a:latin typeface="Arial"/>
                <a:ea typeface="Arial"/>
                <a:cs typeface="Arial"/>
              </a:defRPr>
            </a:defPPr>
            <a:lvl1pPr algn="l">
              <a:defRPr sz="2100" b="1">
                <a:solidFill>
                  <a:srgbClr val="111111"/>
                </a:solidFill>
                <a:latin typeface="Arial"/>
                <a:ea typeface="Arial"/>
                <a:cs typeface="Arial"/>
              </a:defRPr>
            </a:lvl1pPr>
            <a:lvl2pPr algn="l">
              <a:defRPr sz="2100" b="1">
                <a:solidFill>
                  <a:srgbClr val="111111"/>
                </a:solidFill>
                <a:latin typeface="Arial"/>
                <a:ea typeface="Arial"/>
                <a:cs typeface="Arial"/>
              </a:defRPr>
            </a:lvl2pPr>
            <a:lvl3pPr algn="l">
              <a:defRPr sz="2100" b="1">
                <a:solidFill>
                  <a:srgbClr val="111111"/>
                </a:solidFill>
                <a:latin typeface="Arial"/>
                <a:ea typeface="Arial"/>
                <a:cs typeface="Arial"/>
              </a:defRPr>
            </a:lvl3pPr>
            <a:lvl4pPr algn="l">
              <a:defRPr sz="2100" b="1">
                <a:solidFill>
                  <a:srgbClr val="111111"/>
                </a:solidFill>
                <a:latin typeface="Arial"/>
                <a:ea typeface="Arial"/>
                <a:cs typeface="Arial"/>
              </a:defRPr>
            </a:lvl4pPr>
            <a:lvl5pPr algn="l">
              <a:defRPr sz="2100" b="1">
                <a:solidFill>
                  <a:srgbClr val="111111"/>
                </a:solidFill>
                <a:latin typeface="Arial"/>
                <a:ea typeface="Arial"/>
                <a:cs typeface="Arial"/>
              </a:defRPr>
            </a:lvl5pPr>
            <a:lvl6pPr algn="l">
              <a:defRPr sz="2100" b="1">
                <a:solidFill>
                  <a:srgbClr val="111111"/>
                </a:solidFill>
                <a:latin typeface="Arial"/>
                <a:ea typeface="Arial"/>
                <a:cs typeface="Arial"/>
              </a:defRPr>
            </a:lvl6pPr>
            <a:lvl7pPr algn="l">
              <a:defRPr sz="2100" b="1">
                <a:solidFill>
                  <a:srgbClr val="111111"/>
                </a:solidFill>
                <a:latin typeface="Arial"/>
                <a:ea typeface="Arial"/>
                <a:cs typeface="Arial"/>
              </a:defRPr>
            </a:lvl7pPr>
            <a:lvl8pPr algn="l">
              <a:defRPr sz="2100" b="1">
                <a:solidFill>
                  <a:srgbClr val="111111"/>
                </a:solidFill>
                <a:latin typeface="Arial"/>
                <a:ea typeface="Arial"/>
                <a:cs typeface="Arial"/>
              </a:defRPr>
            </a:lvl8pPr>
            <a:lvl9pPr algn="l">
              <a:defRPr sz="2100" b="1">
                <a:solidFill>
                  <a:srgbClr val="111111"/>
                </a:solidFill>
                <a:latin typeface="Arial"/>
                <a:ea typeface="Arial"/>
                <a:cs typeface="Arial"/>
              </a:defRPr>
            </a:lvl9pPr>
          </a:lstStyle>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Prueba aislada opcional</a:t>
            </a:r>
          </a:p>
        </p:txBody>
      </p:sp>
      <p:sp>
        <p:nvSpPr>
          <p:cNvPr id="4" name="">
            <a:extLst xmlns:a="http://schemas.openxmlformats.org/drawingml/2006/main">
              <a:ext uri="{FF2B5EF4-FFF2-40B4-BE49-F238E27FC236}">
                <a16:creationId xmlns:a16="http://schemas.microsoft.com/office/drawing/2014/main" id="{93B93F02-137A-4DF0-9CBA-67B4609B1B95}"/>
              </a:ext>
            </a:extLst>
          </p:cNvPr>
          <p:cNvSpPr>
            <a:spLocks xmlns:a="http://schemas.openxmlformats.org/drawingml/2006/main" noGrp="1"/>
          </p:cNvSpPr>
          <p:nvPr/>
        </p:nvSpPr>
        <p:spPr>
          <a:xfrm xmlns:a="http://schemas.openxmlformats.org/drawingml/2006/main">
            <a:off x="685800" y="28956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201 y reenvío 200 con el mismo ID</a:t>
            </a:r>
          </a:p>
        </p:txBody>
      </p:sp>
      <p:sp>
        <p:nvSpPr>
          <p:cNvPr id="5" name="">
            <a:extLst xmlns:a="http://schemas.openxmlformats.org/drawingml/2006/main">
              <a:ext uri="{FF2B5EF4-FFF2-40B4-BE49-F238E27FC236}">
                <a16:creationId xmlns:a16="http://schemas.microsoft.com/office/drawing/2014/main" id="{137C2C03-C6AD-44F4-8135-B7106393136A}"/>
              </a:ext>
            </a:extLst>
          </p:cNvPr>
          <p:cNvSpPr>
            <a:spLocks xmlns:a="http://schemas.openxmlformats.org/drawingml/2006/main" noGrp="1"/>
          </p:cNvSpPr>
          <p:nvPr/>
        </p:nvSpPr>
        <p:spPr>
          <a:xfrm xmlns:a="http://schemas.openxmlformats.org/drawingml/2006/main">
            <a:off x="685800" y="382905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Reserva y outbox únicos</a:t>
            </a:r>
          </a:p>
        </p:txBody>
      </p:sp>
      <p:sp>
        <p:nvSpPr>
          <p:cNvPr id="6" name="">
            <a:extLst xmlns:a="http://schemas.openxmlformats.org/drawingml/2006/main">
              <a:ext uri="{FF2B5EF4-FFF2-40B4-BE49-F238E27FC236}">
                <a16:creationId xmlns:a16="http://schemas.microsoft.com/office/drawing/2014/main" id="{6442F68A-F23F-479C-8452-89BAD61FDEB9}"/>
              </a:ext>
            </a:extLst>
          </p:cNvPr>
          <p:cNvSpPr>
            <a:spLocks xmlns:a="http://schemas.openxmlformats.org/drawingml/2006/main" noGrp="1"/>
          </p:cNvSpPr>
          <p:nvPr/>
        </p:nvSpPr>
        <p:spPr>
          <a:xfrm xmlns:a="http://schemas.openxmlformats.org/drawingml/2006/main">
            <a:off x="685800" y="4762500"/>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Auditoría de inventario coherente</a:t>
            </a:r>
          </a:p>
        </p:txBody>
      </p:sp>
      <p:sp>
        <p:nvSpPr>
          <p:cNvPr id="7" name="">
            <a:extLst xmlns:a="http://schemas.openxmlformats.org/drawingml/2006/main">
              <a:ext uri="{FF2B5EF4-FFF2-40B4-BE49-F238E27FC236}">
                <a16:creationId xmlns:a16="http://schemas.microsoft.com/office/drawing/2014/main" id="{A7142601-08FD-4AE4-8655-26D047138470}"/>
              </a:ext>
            </a:extLst>
          </p:cNvPr>
          <p:cNvSpPr>
            <a:spLocks xmlns:a="http://schemas.openxmlformats.org/drawingml/2006/main" noGrp="1"/>
          </p:cNvSpPr>
          <p:nvPr/>
        </p:nvSpPr>
        <p:spPr>
          <a:xfrm xmlns:a="http://schemas.openxmlformats.org/drawingml/2006/main">
            <a:off x="6477000" y="28956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Conservar la intención original</a:t>
            </a:r>
          </a:p>
        </p:txBody>
      </p:sp>
      <p:sp>
        <p:nvSpPr>
          <p:cNvPr id="8" name="">
            <a:extLst xmlns:a="http://schemas.openxmlformats.org/drawingml/2006/main">
              <a:ext uri="{FF2B5EF4-FFF2-40B4-BE49-F238E27FC236}">
                <a16:creationId xmlns:a16="http://schemas.microsoft.com/office/drawing/2014/main" id="{D7D1B8AC-11BB-4DE1-AE28-590AB4F25299}"/>
              </a:ext>
            </a:extLst>
          </p:cNvPr>
          <p:cNvSpPr>
            <a:spLocks xmlns:a="http://schemas.openxmlformats.org/drawingml/2006/main" noGrp="1"/>
          </p:cNvSpPr>
          <p:nvPr/>
        </p:nvSpPr>
        <p:spPr>
          <a:xfrm xmlns:a="http://schemas.openxmlformats.org/drawingml/2006/main">
            <a:off x="6477000" y="382905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Simular pérdida de respuesta de forma controlada</a:t>
            </a:r>
          </a:p>
        </p:txBody>
      </p:sp>
      <p:sp>
        <p:nvSpPr>
          <p:cNvPr id="9" name="">
            <a:extLst xmlns:a="http://schemas.openxmlformats.org/drawingml/2006/main">
              <a:ext uri="{FF2B5EF4-FFF2-40B4-BE49-F238E27FC236}">
                <a16:creationId xmlns:a16="http://schemas.microsoft.com/office/drawing/2014/main" id="{8EBC6D11-F0CC-4501-836D-1DAB0D5D0F64}"/>
              </a:ext>
            </a:extLst>
          </p:cNvPr>
          <p:cNvSpPr>
            <a:spLocks xmlns:a="http://schemas.openxmlformats.org/drawingml/2006/main" noGrp="1"/>
          </p:cNvSpPr>
          <p:nvPr/>
        </p:nvSpPr>
        <p:spPr>
          <a:xfrm xmlns:a="http://schemas.openxmlformats.org/drawingml/2006/main">
            <a:off x="6477000" y="4762500"/>
            <a:ext cx="502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111111"/>
                </a:solidFill>
                <a:latin typeface="Arial"/>
                <a:ea typeface="Arial"/>
                <a:cs typeface="Arial"/>
              </a:defRPr>
            </a:defPPr>
            <a:lvl1pPr algn="l">
              <a:defRPr sz="1950" b="0">
                <a:solidFill>
                  <a:srgbClr val="111111"/>
                </a:solidFill>
                <a:latin typeface="Arial"/>
                <a:ea typeface="Arial"/>
                <a:cs typeface="Arial"/>
              </a:defRPr>
            </a:lvl1pPr>
            <a:lvl2pPr algn="l">
              <a:defRPr sz="1950" b="0">
                <a:solidFill>
                  <a:srgbClr val="111111"/>
                </a:solidFill>
                <a:latin typeface="Arial"/>
                <a:ea typeface="Arial"/>
                <a:cs typeface="Arial"/>
              </a:defRPr>
            </a:lvl2pPr>
            <a:lvl3pPr algn="l">
              <a:defRPr sz="1950" b="0">
                <a:solidFill>
                  <a:srgbClr val="111111"/>
                </a:solidFill>
                <a:latin typeface="Arial"/>
                <a:ea typeface="Arial"/>
                <a:cs typeface="Arial"/>
              </a:defRPr>
            </a:lvl3pPr>
            <a:lvl4pPr algn="l">
              <a:defRPr sz="1950" b="0">
                <a:solidFill>
                  <a:srgbClr val="111111"/>
                </a:solidFill>
                <a:latin typeface="Arial"/>
                <a:ea typeface="Arial"/>
                <a:cs typeface="Arial"/>
              </a:defRPr>
            </a:lvl4pPr>
            <a:lvl5pPr algn="l">
              <a:defRPr sz="1950" b="0">
                <a:solidFill>
                  <a:srgbClr val="111111"/>
                </a:solidFill>
                <a:latin typeface="Arial"/>
                <a:ea typeface="Arial"/>
                <a:cs typeface="Arial"/>
              </a:defRPr>
            </a:lvl5pPr>
            <a:lvl6pPr algn="l">
              <a:defRPr sz="1950" b="0">
                <a:solidFill>
                  <a:srgbClr val="111111"/>
                </a:solidFill>
                <a:latin typeface="Arial"/>
                <a:ea typeface="Arial"/>
                <a:cs typeface="Arial"/>
              </a:defRPr>
            </a:lvl6pPr>
            <a:lvl7pPr algn="l">
              <a:defRPr sz="1950" b="0">
                <a:solidFill>
                  <a:srgbClr val="111111"/>
                </a:solidFill>
                <a:latin typeface="Arial"/>
                <a:ea typeface="Arial"/>
                <a:cs typeface="Arial"/>
              </a:defRPr>
            </a:lvl7pPr>
            <a:lvl8pPr algn="l">
              <a:defRPr sz="1950" b="0">
                <a:solidFill>
                  <a:srgbClr val="111111"/>
                </a:solidFill>
                <a:latin typeface="Arial"/>
                <a:ea typeface="Arial"/>
                <a:cs typeface="Arial"/>
              </a:defRPr>
            </a:lvl8pPr>
            <a:lvl9pPr algn="l">
              <a:defRPr sz="1950" b="0">
                <a:solidFill>
                  <a:srgbClr val="111111"/>
                </a:solidFill>
                <a:latin typeface="Arial"/>
                <a:ea typeface="Arial"/>
                <a:cs typeface="Arial"/>
              </a:defRPr>
            </a:lvl9pPr>
          </a:lstStyle>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Recuperar sin una segunda reserva</a:t>
            </a:r>
          </a:p>
        </p:txBody>
      </p:sp>
      <p:sp>
        <p:nvSpPr>
          <p:cNvPr id="10" name="">
            <a:extLst xmlns:a="http://schemas.openxmlformats.org/drawingml/2006/main">
              <a:ext uri="{FF2B5EF4-FFF2-40B4-BE49-F238E27FC236}">
                <a16:creationId xmlns:a16="http://schemas.microsoft.com/office/drawing/2014/main" id="{32E3F7F9-C667-4B31-BA35-A0CB79CE8A40}"/>
              </a:ext>
            </a:extLst>
          </p:cNvPr>
          <p:cNvSpPr>
            <a:spLocks xmlns:a="http://schemas.openxmlformats.org/drawingml/2006/main" noGrp="1"/>
          </p:cNvSpPr>
          <p:nvPr/>
        </p:nvSpPr>
        <p:spPr>
          <a:xfrm xmlns:a="http://schemas.openxmlformats.org/drawingml/2006/main">
            <a:off x="685800" y="61531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No improvisar fallos sobre la base medida ni confundir doble clic con reenvío</a:t>
            </a:r>
          </a:p>
        </p:txBody>
      </p:sp>
      <p:sp>
        <p:nvSpPr>
          <p:cNvPr id="11" name="">
            <a:extLst xmlns:a="http://schemas.openxmlformats.org/drawingml/2006/main">
              <a:ext uri="{FF2B5EF4-FFF2-40B4-BE49-F238E27FC236}">
                <a16:creationId xmlns:a16="http://schemas.microsoft.com/office/drawing/2014/main" id="{4D19B9DA-79F9-4B00-A78F-68985F527BD7}"/>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26</a:t>
            </a:r>
          </a:p>
        </p:txBody>
      </p:sp>
    </p:spTree>
    <p:extLst>
      <p:ext uri="{BB962C8B-B14F-4D97-AF65-F5344CB8AC3E}">
        <p14:creationId xmlns:p14="http://schemas.microsoft.com/office/powerpoint/2010/main" val="44753804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F730DC9-7A48-4846-AAE8-4426566BF2A0}"/>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Logros actuales y metas por investigar</a:t>
            </a:r>
          </a:p>
        </p:txBody>
      </p:sp>
      <p:graphicFrame>
        <p:nvGraphicFramePr>
          <p:cNvPr id="2" name="">
            <a:extLst xmlns:a="http://schemas.openxmlformats.org/drawingml/2006/main">
              <a:ext uri="{FF2B5EF4-FFF2-40B4-BE49-F238E27FC236}">
                <a16:creationId xmlns:a16="http://schemas.microsoft.com/office/drawing/2014/main" id="{1BD2328C-FCD0-4122-9738-FA45985C365A}"/>
              </a:ext>
            </a:extLst>
          </p:cNvPr>
          <p:cNvGraphicFramePr/>
          <p:nvPr/>
        </p:nvGraphicFramePr>
        <p:xfrm>
          <a:off xmlns:a="http://schemas.openxmlformats.org/drawingml/2006/main" x="685800" y="2076450"/>
          <a:ext xmlns:a="http://schemas.openxmlformats.org/drawingml/2006/main" cx="10820400" cy="3143250"/>
        </p:xfrm>
        <a:graphic xmlns:a="http://schemas.openxmlformats.org/drawingml/2006/main">
          <a:graphicData uri="http://schemas.openxmlformats.org/drawingml/2006/table">
            <a:tbl>
              <a:tblPr/>
              <a:tblGrid>
                <a:gridCol w="3524250"/>
                <a:gridCol w="3333750"/>
                <a:gridCol w="3962400"/>
              </a:tblGrid>
              <a:tr h="523875">
                <a:tc>
                  <a:txBody>
                    <a:bodyPr/>
                    <a:lstStyle/>
                    <a:p>
                      <a:r>
                        <a:rPr sz="1650" b="1">
                          <a:solidFill>
                            <a:srgbClr val="FFFFFF"/>
                          </a:solidFill>
                          <a:latin typeface="Arial"/>
                          <a:ea typeface="Arial"/>
                          <a:cs typeface="Arial"/>
                        </a:rPr>
                        <a:t>Aspecto</a:t>
                      </a:r>
                    </a:p>
                  </a:txBody>
                  <a:tcPr marL="91440" marR="91440" marT="45720" marB="4572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solidFill>
                      <a:srgbClr val="111111"/>
                    </a:solidFill>
                  </a:tcPr>
                </a:tc>
                <a:tc>
                  <a:txBody>
                    <a:bodyPr/>
                    <a:lstStyle/>
                    <a:p>
                      <a:r>
                        <a:rPr sz="1650" b="1">
                          <a:solidFill>
                            <a:srgbClr val="FFFFFF"/>
                          </a:solidFill>
                          <a:latin typeface="Arial"/>
                          <a:ea typeface="Arial"/>
                          <a:cs typeface="Arial"/>
                        </a:rPr>
                        <a:t>Estado</a:t>
                      </a:r>
                    </a:p>
                  </a:txBody>
                  <a:tcPr marL="91440" marR="91440" marT="45720" marB="45720">
                    <a:lnR w="9525">
                      <a:solidFill>
                        <a:srgbClr val="CCCCCC"/>
                      </a:solidFill>
                      <a:prstDash val="solid"/>
                    </a:lnR>
                    <a:lnT w="9525">
                      <a:solidFill>
                        <a:srgbClr val="CCCCCC"/>
                      </a:solidFill>
                      <a:prstDash val="solid"/>
                    </a:lnT>
                    <a:lnB w="9525">
                      <a:solidFill>
                        <a:srgbClr val="CCCCCC"/>
                      </a:solidFill>
                      <a:prstDash val="solid"/>
                    </a:lnB>
                    <a:solidFill>
                      <a:srgbClr val="111111"/>
                    </a:solidFill>
                  </a:tcPr>
                </a:tc>
                <a:tc>
                  <a:txBody>
                    <a:bodyPr/>
                    <a:lstStyle/>
                    <a:p>
                      <a:r>
                        <a:rPr sz="1650" b="1">
                          <a:solidFill>
                            <a:srgbClr val="FFFFFF"/>
                          </a:solidFill>
                          <a:latin typeface="Arial"/>
                          <a:ea typeface="Arial"/>
                          <a:cs typeface="Arial"/>
                        </a:rPr>
                        <a:t>Lectura correcta</a:t>
                      </a:r>
                    </a:p>
                  </a:txBody>
                  <a:tcPr marL="91440" marR="91440" marT="45720" marB="45720">
                    <a:lnR w="9525">
                      <a:solidFill>
                        <a:srgbClr val="CCCCCC"/>
                      </a:solidFill>
                      <a:prstDash val="solid"/>
                    </a:lnR>
                    <a:lnT w="9525">
                      <a:solidFill>
                        <a:srgbClr val="CCCCCC"/>
                      </a:solidFill>
                      <a:prstDash val="solid"/>
                    </a:lnT>
                    <a:lnB w="9525">
                      <a:solidFill>
                        <a:srgbClr val="CCCCCC"/>
                      </a:solidFill>
                      <a:prstDash val="solid"/>
                    </a:lnB>
                    <a:solidFill>
                      <a:srgbClr val="111111"/>
                    </a:solidFill>
                  </a:tcPr>
                </a:tc>
              </a:tr>
              <a:tr h="523875">
                <a:tc>
                  <a:txBody>
                    <a:bodyPr/>
                    <a:lstStyle/>
                    <a:p>
                      <a:r>
                        <a:rPr sz="1650" b="0">
                          <a:solidFill>
                            <a:srgbClr val="111111"/>
                          </a:solidFill>
                          <a:latin typeface="Arial"/>
                          <a:ea typeface="Arial"/>
                          <a:cs typeface="Arial"/>
                        </a:rPr>
                        <a:t>Reservas e idempotencia</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Verificadas localmente</a:t>
                      </a:r>
                    </a:p>
                  </a:txBody>
                  <a:tcPr marL="91440" marR="91440" marT="45720" marB="45720">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Caso funcional propio</a:t>
                      </a:r>
                    </a:p>
                  </a:txBody>
                  <a:tcPr marL="91440" marR="91440" marT="45720" marB="45720">
                    <a:lnR w="9525">
                      <a:solidFill>
                        <a:srgbClr val="CCCCCC"/>
                      </a:solidFill>
                      <a:prstDash val="solid"/>
                    </a:lnR>
                    <a:lnB w="9525">
                      <a:solidFill>
                        <a:srgbClr val="CCCCCC"/>
                      </a:solidFill>
                      <a:prstDash val="solid"/>
                    </a:lnB>
                    <a:solidFill>
                      <a:srgbClr val="FFFFFF"/>
                    </a:solidFill>
                  </a:tcPr>
                </a:tc>
              </a:tr>
              <a:tr h="523875">
                <a:tc>
                  <a:txBody>
                    <a:bodyPr/>
                    <a:lstStyle/>
                    <a:p>
                      <a:r>
                        <a:rPr sz="1650" b="0">
                          <a:solidFill>
                            <a:srgbClr val="111111"/>
                          </a:solidFill>
                          <a:latin typeface="Arial"/>
                          <a:ea typeface="Arial"/>
                          <a:cs typeface="Arial"/>
                        </a:rPr>
                        <a:t>3 corridas y recursos</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Medidos en Compose</a:t>
                      </a:r>
                    </a:p>
                  </a:txBody>
                  <a:tcPr marL="91440" marR="91440" marT="45720" marB="45720">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Piloto acotado</a:t>
                      </a:r>
                    </a:p>
                  </a:txBody>
                  <a:tcPr marL="91440" marR="91440" marT="45720" marB="45720">
                    <a:lnR w="9525">
                      <a:solidFill>
                        <a:srgbClr val="CCCCCC"/>
                      </a:solidFill>
                      <a:prstDash val="solid"/>
                    </a:lnR>
                    <a:lnB w="9525">
                      <a:solidFill>
                        <a:srgbClr val="CCCCCC"/>
                      </a:solidFill>
                      <a:prstDash val="solid"/>
                    </a:lnB>
                    <a:solidFill>
                      <a:srgbClr val="FFFFFF"/>
                    </a:solidFill>
                  </a:tcPr>
                </a:tc>
              </a:tr>
              <a:tr h="523875">
                <a:tc>
                  <a:txBody>
                    <a:bodyPr/>
                    <a:lstStyle/>
                    <a:p>
                      <a:r>
                        <a:rPr sz="1650" b="0">
                          <a:solidFill>
                            <a:srgbClr val="111111"/>
                          </a:solidFill>
                          <a:latin typeface="Arial"/>
                          <a:ea typeface="Arial"/>
                          <a:cs typeface="Arial"/>
                        </a:rPr>
                        <a:t>OpenShift SCC HTTPS HPA</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Pendientes</a:t>
                      </a:r>
                    </a:p>
                  </a:txBody>
                  <a:tcPr marL="91440" marR="91440" marT="45720" marB="45720">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No acreditados</a:t>
                      </a:r>
                    </a:p>
                  </a:txBody>
                  <a:tcPr marL="91440" marR="91440" marT="45720" marB="45720">
                    <a:lnR w="9525">
                      <a:solidFill>
                        <a:srgbClr val="CCCCCC"/>
                      </a:solidFill>
                      <a:prstDash val="solid"/>
                    </a:lnR>
                    <a:lnB w="9525">
                      <a:solidFill>
                        <a:srgbClr val="CCCCCC"/>
                      </a:solidFill>
                      <a:prstDash val="solid"/>
                    </a:lnB>
                    <a:solidFill>
                      <a:srgbClr val="FFFFFF"/>
                    </a:solidFill>
                  </a:tcPr>
                </a:tc>
              </a:tr>
              <a:tr h="523875">
                <a:tc>
                  <a:txBody>
                    <a:bodyPr/>
                    <a:lstStyle/>
                    <a:p>
                      <a:r>
                        <a:rPr sz="1650" b="0">
                          <a:solidFill>
                            <a:srgbClr val="111111"/>
                          </a:solidFill>
                          <a:latin typeface="Arial"/>
                          <a:ea typeface="Arial"/>
                          <a:cs typeface="Arial"/>
                        </a:rPr>
                        <a:t>Kafka KEDA y trazas</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Propuestos</a:t>
                      </a:r>
                    </a:p>
                  </a:txBody>
                  <a:tcPr marL="91440" marR="91440" marT="45720" marB="45720">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Ampliación del caso</a:t>
                      </a:r>
                    </a:p>
                  </a:txBody>
                  <a:tcPr marL="91440" marR="91440" marT="45720" marB="45720">
                    <a:lnR w="9525">
                      <a:solidFill>
                        <a:srgbClr val="CCCCCC"/>
                      </a:solidFill>
                      <a:prstDash val="solid"/>
                    </a:lnR>
                    <a:lnB w="9525">
                      <a:solidFill>
                        <a:srgbClr val="CCCCCC"/>
                      </a:solidFill>
                      <a:prstDash val="solid"/>
                    </a:lnB>
                    <a:solidFill>
                      <a:srgbClr val="FFFFFF"/>
                    </a:solidFill>
                  </a:tcPr>
                </a:tc>
              </a:tr>
              <a:tr h="523875">
                <a:tc>
                  <a:txBody>
                    <a:bodyPr/>
                    <a:lstStyle/>
                    <a:p>
                      <a:r>
                        <a:rPr sz="1650" b="0">
                          <a:solidFill>
                            <a:srgbClr val="111111"/>
                          </a:solidFill>
                          <a:latin typeface="Arial"/>
                          <a:ea typeface="Arial"/>
                          <a:cs typeface="Arial"/>
                        </a:rPr>
                        <a:t>1M a 10M y 99.9 %</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Hipótesis</a:t>
                      </a:r>
                    </a:p>
                  </a:txBody>
                  <a:tcPr marL="91440" marR="91440" marT="45720" marB="45720">
                    <a:lnR w="9525">
                      <a:solidFill>
                        <a:srgbClr val="CCCCCC"/>
                      </a:solidFill>
                      <a:prstDash val="solid"/>
                    </a:lnR>
                    <a:lnB w="9525">
                      <a:solidFill>
                        <a:srgbClr val="CCCCCC"/>
                      </a:solidFill>
                      <a:prstDash val="solid"/>
                    </a:lnB>
                    <a:solidFill>
                      <a:srgbClr val="FFFFFF"/>
                    </a:solidFill>
                  </a:tcPr>
                </a:tc>
                <a:tc>
                  <a:txBody>
                    <a:bodyPr/>
                    <a:lstStyle/>
                    <a:p>
                      <a:r>
                        <a:rPr sz="1650" b="0">
                          <a:solidFill>
                            <a:srgbClr val="111111"/>
                          </a:solidFill>
                          <a:latin typeface="Arial"/>
                          <a:ea typeface="Arial"/>
                          <a:cs typeface="Arial"/>
                        </a:rPr>
                        <a:t>Contraste futuro</a:t>
                      </a:r>
                    </a:p>
                  </a:txBody>
                  <a:tcPr marL="91440" marR="91440" marT="45720" marB="45720">
                    <a:lnR w="9525">
                      <a:solidFill>
                        <a:srgbClr val="CCCCCC"/>
                      </a:solidFill>
                      <a:prstDash val="solid"/>
                    </a:lnR>
                    <a:lnB w="9525">
                      <a:solidFill>
                        <a:srgbClr val="CCCCC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AB46B53B-0D7F-4C04-8ACD-C17548E3FCEB}"/>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27</a:t>
            </a:r>
          </a:p>
        </p:txBody>
      </p:sp>
    </p:spTree>
    <p:extLst>
      <p:ext uri="{BB962C8B-B14F-4D97-AF65-F5344CB8AC3E}">
        <p14:creationId xmlns:p14="http://schemas.microsoft.com/office/powerpoint/2010/main" val="20689141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41EDFB1-6E2A-4601-9099-BB576A5F7FB8}"/>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Integración del trabajo de los grupos</a:t>
            </a:r>
          </a:p>
        </p:txBody>
      </p:sp>
      <p:sp>
        <p:nvSpPr>
          <p:cNvPr id="2" name="">
            <a:extLst xmlns:a="http://schemas.openxmlformats.org/drawingml/2006/main">
              <a:ext uri="{FF2B5EF4-FFF2-40B4-BE49-F238E27FC236}">
                <a16:creationId xmlns:a16="http://schemas.microsoft.com/office/drawing/2014/main" id="{197F8055-1478-4B8C-A1FF-D0D372C17229}"/>
              </a:ext>
            </a:extLst>
          </p:cNvPr>
          <p:cNvSpPr>
            <a:spLocks xmlns:a="http://schemas.openxmlformats.org/drawingml/2006/main" noGrp="1"/>
          </p:cNvSpPr>
          <p:nvPr/>
        </p:nvSpPr>
        <p:spPr>
          <a:xfrm xmlns:a="http://schemas.openxmlformats.org/drawingml/2006/main">
            <a:off x="68580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G1 y G4 base</a:t>
            </a:r>
          </a:p>
        </p:txBody>
      </p:sp>
      <p:sp>
        <p:nvSpPr>
          <p:cNvPr id="3" name="">
            <a:extLst xmlns:a="http://schemas.openxmlformats.org/drawingml/2006/main">
              <a:ext uri="{FF2B5EF4-FFF2-40B4-BE49-F238E27FC236}">
                <a16:creationId xmlns:a16="http://schemas.microsoft.com/office/drawing/2014/main" id="{60142CEF-8DA7-4987-8D7E-F7124BDE92BB}"/>
              </a:ext>
            </a:extLst>
          </p:cNvPr>
          <p:cNvSpPr>
            <a:spLocks xmlns:a="http://schemas.openxmlformats.org/drawingml/2006/main" noGrp="1"/>
          </p:cNvSpPr>
          <p:nvPr/>
        </p:nvSpPr>
        <p:spPr>
          <a:xfrm xmlns:a="http://schemas.openxmlformats.org/drawingml/2006/main">
            <a:off x="302895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4" name="">
            <a:extLst xmlns:a="http://schemas.openxmlformats.org/drawingml/2006/main">
              <a:ext uri="{FF2B5EF4-FFF2-40B4-BE49-F238E27FC236}">
                <a16:creationId xmlns:a16="http://schemas.microsoft.com/office/drawing/2014/main" id="{2F853329-DA68-40B1-B826-146FF0FA5C4D}"/>
              </a:ext>
            </a:extLst>
          </p:cNvPr>
          <p:cNvSpPr>
            <a:spLocks xmlns:a="http://schemas.openxmlformats.org/drawingml/2006/main" noGrp="1"/>
          </p:cNvSpPr>
          <p:nvPr/>
        </p:nvSpPr>
        <p:spPr>
          <a:xfrm xmlns:a="http://schemas.openxmlformats.org/drawingml/2006/main">
            <a:off x="340995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G2 y G3 controles</a:t>
            </a:r>
          </a:p>
        </p:txBody>
      </p:sp>
      <p:sp>
        <p:nvSpPr>
          <p:cNvPr id="5" name="">
            <a:extLst xmlns:a="http://schemas.openxmlformats.org/drawingml/2006/main">
              <a:ext uri="{FF2B5EF4-FFF2-40B4-BE49-F238E27FC236}">
                <a16:creationId xmlns:a16="http://schemas.microsoft.com/office/drawing/2014/main" id="{6344938F-DFA4-4A38-81CC-05E3C34BB1FE}"/>
              </a:ext>
            </a:extLst>
          </p:cNvPr>
          <p:cNvSpPr>
            <a:spLocks xmlns:a="http://schemas.openxmlformats.org/drawingml/2006/main" noGrp="1"/>
          </p:cNvSpPr>
          <p:nvPr/>
        </p:nvSpPr>
        <p:spPr>
          <a:xfrm xmlns:a="http://schemas.openxmlformats.org/drawingml/2006/main">
            <a:off x="575310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F1273E44-F3F8-4711-9C72-17F014132C1D}"/>
              </a:ext>
            </a:extLst>
          </p:cNvPr>
          <p:cNvSpPr>
            <a:spLocks xmlns:a="http://schemas.openxmlformats.org/drawingml/2006/main" noGrp="1"/>
          </p:cNvSpPr>
          <p:nvPr/>
        </p:nvSpPr>
        <p:spPr>
          <a:xfrm xmlns:a="http://schemas.openxmlformats.org/drawingml/2006/main">
            <a:off x="613410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G5 instrumentos</a:t>
            </a:r>
          </a:p>
        </p:txBody>
      </p:sp>
      <p:sp>
        <p:nvSpPr>
          <p:cNvPr id="7" name="">
            <a:extLst xmlns:a="http://schemas.openxmlformats.org/drawingml/2006/main">
              <a:ext uri="{FF2B5EF4-FFF2-40B4-BE49-F238E27FC236}">
                <a16:creationId xmlns:a16="http://schemas.microsoft.com/office/drawing/2014/main" id="{CA12446C-84BD-4800-AC96-4DFDE6123E66}"/>
              </a:ext>
            </a:extLst>
          </p:cNvPr>
          <p:cNvSpPr>
            <a:spLocks xmlns:a="http://schemas.openxmlformats.org/drawingml/2006/main" noGrp="1"/>
          </p:cNvSpPr>
          <p:nvPr/>
        </p:nvSpPr>
        <p:spPr>
          <a:xfrm xmlns:a="http://schemas.openxmlformats.org/drawingml/2006/main">
            <a:off x="8477250" y="2609850"/>
            <a:ext cx="342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0">
                <a:solidFill>
                  <a:srgbClr val="111111"/>
                </a:solidFill>
                <a:latin typeface="Arial"/>
                <a:ea typeface="Arial"/>
                <a:cs typeface="Arial"/>
              </a:defRPr>
            </a:defPPr>
            <a:lvl1pPr algn="l">
              <a:defRPr sz="2550" b="0">
                <a:solidFill>
                  <a:srgbClr val="111111"/>
                </a:solidFill>
                <a:latin typeface="Arial"/>
                <a:ea typeface="Arial"/>
                <a:cs typeface="Arial"/>
              </a:defRPr>
            </a:lvl1pPr>
            <a:lvl2pPr algn="l">
              <a:defRPr sz="2550" b="0">
                <a:solidFill>
                  <a:srgbClr val="111111"/>
                </a:solidFill>
                <a:latin typeface="Arial"/>
                <a:ea typeface="Arial"/>
                <a:cs typeface="Arial"/>
              </a:defRPr>
            </a:lvl2pPr>
            <a:lvl3pPr algn="l">
              <a:defRPr sz="2550" b="0">
                <a:solidFill>
                  <a:srgbClr val="111111"/>
                </a:solidFill>
                <a:latin typeface="Arial"/>
                <a:ea typeface="Arial"/>
                <a:cs typeface="Arial"/>
              </a:defRPr>
            </a:lvl3pPr>
            <a:lvl4pPr algn="l">
              <a:defRPr sz="2550" b="0">
                <a:solidFill>
                  <a:srgbClr val="111111"/>
                </a:solidFill>
                <a:latin typeface="Arial"/>
                <a:ea typeface="Arial"/>
                <a:cs typeface="Arial"/>
              </a:defRPr>
            </a:lvl4pPr>
            <a:lvl5pPr algn="l">
              <a:defRPr sz="2550" b="0">
                <a:solidFill>
                  <a:srgbClr val="111111"/>
                </a:solidFill>
                <a:latin typeface="Arial"/>
                <a:ea typeface="Arial"/>
                <a:cs typeface="Arial"/>
              </a:defRPr>
            </a:lvl5pPr>
            <a:lvl6pPr algn="l">
              <a:defRPr sz="2550" b="0">
                <a:solidFill>
                  <a:srgbClr val="111111"/>
                </a:solidFill>
                <a:latin typeface="Arial"/>
                <a:ea typeface="Arial"/>
                <a:cs typeface="Arial"/>
              </a:defRPr>
            </a:lvl6pPr>
            <a:lvl7pPr algn="l">
              <a:defRPr sz="2550" b="0">
                <a:solidFill>
                  <a:srgbClr val="111111"/>
                </a:solidFill>
                <a:latin typeface="Arial"/>
                <a:ea typeface="Arial"/>
                <a:cs typeface="Arial"/>
              </a:defRPr>
            </a:lvl7pPr>
            <a:lvl8pPr algn="l">
              <a:defRPr sz="2550" b="0">
                <a:solidFill>
                  <a:srgbClr val="111111"/>
                </a:solidFill>
                <a:latin typeface="Arial"/>
                <a:ea typeface="Arial"/>
                <a:cs typeface="Arial"/>
              </a:defRPr>
            </a:lvl8pPr>
            <a:lvl9pPr algn="l">
              <a:defRPr sz="2550" b="0">
                <a:solidFill>
                  <a:srgbClr val="111111"/>
                </a:solidFill>
                <a:latin typeface="Arial"/>
                <a:ea typeface="Arial"/>
                <a:cs typeface="Arial"/>
              </a:defRPr>
            </a:lvl9pPr>
          </a:lstStyle>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BBCEBC28-C2E6-4F35-B4EB-A4A6B8425279}"/>
              </a:ext>
            </a:extLst>
          </p:cNvPr>
          <p:cNvSpPr>
            <a:spLocks xmlns:a="http://schemas.openxmlformats.org/drawingml/2006/main" noGrp="1"/>
          </p:cNvSpPr>
          <p:nvPr/>
        </p:nvSpPr>
        <p:spPr>
          <a:xfrm xmlns:a="http://schemas.openxmlformats.org/drawingml/2006/main">
            <a:off x="8858250" y="2362200"/>
            <a:ext cx="2266950" cy="1047750"/>
          </a:xfrm>
          <a:prstGeom xmlns:a="http://schemas.openxmlformats.org/drawingml/2006/main" prst="rect">
            <a:avLst/>
          </a:prstGeom>
          <a:solidFill xmlns:a="http://schemas.openxmlformats.org/drawingml/2006/main">
            <a:srgbClr val="F2F2F2"/>
          </a:solidFill>
          <a:ln xmlns:a="http://schemas.openxmlformats.org/drawingml/2006/main" w="9525">
            <a:solidFill>
              <a:srgbClr val="888888"/>
            </a:solidFill>
          </a:ln>
        </p:spPr>
        <p:txBody>
          <a:bodyPr xmlns:a="http://schemas.openxmlformats.org/drawingml/2006/main" lIns="114300" tIns="114300" rIns="114300" bIns="114300" anchor="ctr"/>
          <a:lstStyle xmlns:a="http://schemas.openxmlformats.org/drawingml/2006/main">
            <a:defPPr algn="ctr">
              <a:defRPr sz="1875" b="1">
                <a:solidFill>
                  <a:srgbClr val="111111"/>
                </a:solidFill>
                <a:latin typeface="Arial"/>
                <a:ea typeface="Arial"/>
                <a:cs typeface="Arial"/>
              </a:defRPr>
            </a:defPPr>
            <a:lvl1pPr algn="ctr">
              <a:defRPr sz="1875" b="1">
                <a:solidFill>
                  <a:srgbClr val="111111"/>
                </a:solidFill>
                <a:latin typeface="Arial"/>
                <a:ea typeface="Arial"/>
                <a:cs typeface="Arial"/>
              </a:defRPr>
            </a:lvl1pPr>
            <a:lvl2pPr algn="ctr">
              <a:defRPr sz="1875" b="1">
                <a:solidFill>
                  <a:srgbClr val="111111"/>
                </a:solidFill>
                <a:latin typeface="Arial"/>
                <a:ea typeface="Arial"/>
                <a:cs typeface="Arial"/>
              </a:defRPr>
            </a:lvl2pPr>
            <a:lvl3pPr algn="ctr">
              <a:defRPr sz="1875" b="1">
                <a:solidFill>
                  <a:srgbClr val="111111"/>
                </a:solidFill>
                <a:latin typeface="Arial"/>
                <a:ea typeface="Arial"/>
                <a:cs typeface="Arial"/>
              </a:defRPr>
            </a:lvl3pPr>
            <a:lvl4pPr algn="ctr">
              <a:defRPr sz="1875" b="1">
                <a:solidFill>
                  <a:srgbClr val="111111"/>
                </a:solidFill>
                <a:latin typeface="Arial"/>
                <a:ea typeface="Arial"/>
                <a:cs typeface="Arial"/>
              </a:defRPr>
            </a:lvl4pPr>
            <a:lvl5pPr algn="ctr">
              <a:defRPr sz="1875" b="1">
                <a:solidFill>
                  <a:srgbClr val="111111"/>
                </a:solidFill>
                <a:latin typeface="Arial"/>
                <a:ea typeface="Arial"/>
                <a:cs typeface="Arial"/>
              </a:defRPr>
            </a:lvl5pPr>
            <a:lvl6pPr algn="ctr">
              <a:defRPr sz="1875" b="1">
                <a:solidFill>
                  <a:srgbClr val="111111"/>
                </a:solidFill>
                <a:latin typeface="Arial"/>
                <a:ea typeface="Arial"/>
                <a:cs typeface="Arial"/>
              </a:defRPr>
            </a:lvl6pPr>
            <a:lvl7pPr algn="ctr">
              <a:defRPr sz="1875" b="1">
                <a:solidFill>
                  <a:srgbClr val="111111"/>
                </a:solidFill>
                <a:latin typeface="Arial"/>
                <a:ea typeface="Arial"/>
                <a:cs typeface="Arial"/>
              </a:defRPr>
            </a:lvl7pPr>
            <a:lvl8pPr algn="ctr">
              <a:defRPr sz="1875" b="1">
                <a:solidFill>
                  <a:srgbClr val="111111"/>
                </a:solidFill>
                <a:latin typeface="Arial"/>
                <a:ea typeface="Arial"/>
                <a:cs typeface="Arial"/>
              </a:defRPr>
            </a:lvl8pPr>
            <a:lvl9pPr algn="ctr">
              <a:defRPr sz="1875" b="1">
                <a:solidFill>
                  <a:srgbClr val="111111"/>
                </a:solidFill>
                <a:latin typeface="Arial"/>
                <a:ea typeface="Arial"/>
                <a:cs typeface="Arial"/>
              </a:defRPr>
            </a:lvl9pPr>
          </a:lstStyle>
          <a:p xmlns:a="http://schemas.openxmlformats.org/drawingml/2006/main">
            <a:pPr algn="ctr">
              <a:defRPr sz="1875" b="1">
                <a:solidFill>
                  <a:srgbClr val="111111"/>
                </a:solidFill>
                <a:latin typeface="Arial"/>
                <a:ea typeface="Arial"/>
                <a:cs typeface="Arial"/>
              </a:defRPr>
            </a:pPr>
            <a:r>
              <a:rPr sz="1875" b="1">
                <a:solidFill>
                  <a:srgbClr val="111111"/>
                </a:solidFill>
                <a:latin typeface="Arial"/>
                <a:ea typeface="Arial"/>
                <a:cs typeface="Arial"/>
              </a:rPr>
              <a:t>G6 experimento</a:t>
            </a:r>
          </a:p>
        </p:txBody>
      </p:sp>
      <p:sp>
        <p:nvSpPr>
          <p:cNvPr id="9" name="">
            <a:extLst xmlns:a="http://schemas.openxmlformats.org/drawingml/2006/main">
              <a:ext uri="{FF2B5EF4-FFF2-40B4-BE49-F238E27FC236}">
                <a16:creationId xmlns:a16="http://schemas.microsoft.com/office/drawing/2014/main" id="{38601571-CE9A-42EC-98A2-3B954E2CB8A2}"/>
              </a:ext>
            </a:extLst>
          </p:cNvPr>
          <p:cNvSpPr>
            <a:spLocks xmlns:a="http://schemas.openxmlformats.org/drawingml/2006/main" noGrp="1"/>
          </p:cNvSpPr>
          <p:nvPr/>
        </p:nvSpPr>
        <p:spPr>
          <a:xfrm xmlns:a="http://schemas.openxmlformats.org/drawingml/2006/main">
            <a:off x="685800" y="41719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Fijar arquitectura datos versiones y umbrales</a:t>
            </a:r>
          </a:p>
        </p:txBody>
      </p:sp>
      <p:sp>
        <p:nvSpPr>
          <p:cNvPr id="10" name="">
            <a:extLst xmlns:a="http://schemas.openxmlformats.org/drawingml/2006/main">
              <a:ext uri="{FF2B5EF4-FFF2-40B4-BE49-F238E27FC236}">
                <a16:creationId xmlns:a16="http://schemas.microsoft.com/office/drawing/2014/main" id="{9CA949C9-0F95-41DB-B37F-485352180903}"/>
              </a:ext>
            </a:extLst>
          </p:cNvPr>
          <p:cNvSpPr>
            <a:spLocks xmlns:a="http://schemas.openxmlformats.org/drawingml/2006/main" noGrp="1"/>
          </p:cNvSpPr>
          <p:nvPr/>
        </p:nvSpPr>
        <p:spPr>
          <a:xfrm xmlns:a="http://schemas.openxmlformats.org/drawingml/2006/main">
            <a:off x="685800" y="49149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Validar instrumentos antes de aumentar la escala</a:t>
            </a:r>
          </a:p>
        </p:txBody>
      </p:sp>
      <p:sp>
        <p:nvSpPr>
          <p:cNvPr id="11" name="">
            <a:extLst xmlns:a="http://schemas.openxmlformats.org/drawingml/2006/main">
              <a:ext uri="{FF2B5EF4-FFF2-40B4-BE49-F238E27FC236}">
                <a16:creationId xmlns:a16="http://schemas.microsoft.com/office/drawing/2014/main" id="{F99A87C9-C04E-45F7-8F0D-C62E2ED2FEFA}"/>
              </a:ext>
            </a:extLst>
          </p:cNvPr>
          <p:cNvSpPr>
            <a:spLocks xmlns:a="http://schemas.openxmlformats.org/drawingml/2006/main" noGrp="1"/>
          </p:cNvSpPr>
          <p:nvPr/>
        </p:nvSpPr>
        <p:spPr>
          <a:xfrm xmlns:a="http://schemas.openxmlformats.org/drawingml/2006/main">
            <a:off x="685800" y="56578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Conservar configuración series crudas y auditoría</a:t>
            </a:r>
          </a:p>
        </p:txBody>
      </p:sp>
      <p:sp>
        <p:nvSpPr>
          <p:cNvPr id="12" name="">
            <a:extLst xmlns:a="http://schemas.openxmlformats.org/drawingml/2006/main">
              <a:ext uri="{FF2B5EF4-FFF2-40B4-BE49-F238E27FC236}">
                <a16:creationId xmlns:a16="http://schemas.microsoft.com/office/drawing/2014/main" id="{223B9DF9-F06A-4C60-871E-748B933057AD}"/>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28</a:t>
            </a:r>
          </a:p>
        </p:txBody>
      </p:sp>
    </p:spTree>
    <p:extLst>
      <p:ext uri="{BB962C8B-B14F-4D97-AF65-F5344CB8AC3E}">
        <p14:creationId xmlns:p14="http://schemas.microsoft.com/office/powerpoint/2010/main" val="136182491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4A6508-C717-41E3-AABA-38F9C5858D0B}"/>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Qué entrega cada grupo</a:t>
            </a:r>
          </a:p>
        </p:txBody>
      </p:sp>
      <p:sp>
        <p:nvSpPr>
          <p:cNvPr id="2" name="">
            <a:extLst xmlns:a="http://schemas.openxmlformats.org/drawingml/2006/main">
              <a:ext uri="{FF2B5EF4-FFF2-40B4-BE49-F238E27FC236}">
                <a16:creationId xmlns:a16="http://schemas.microsoft.com/office/drawing/2014/main" id="{F7584CE1-30C5-4682-98D1-6DC1E0D2131F}"/>
              </a:ext>
            </a:extLst>
          </p:cNvPr>
          <p:cNvSpPr>
            <a:spLocks xmlns:a="http://schemas.openxmlformats.org/drawingml/2006/main" noGrp="1"/>
          </p:cNvSpPr>
          <p:nvPr/>
        </p:nvSpPr>
        <p:spPr>
          <a:xfrm xmlns:a="http://schemas.openxmlformats.org/drawingml/2006/main">
            <a:off x="685800" y="2076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111111"/>
                </a:solidFill>
                <a:latin typeface="Arial"/>
                <a:ea typeface="Arial"/>
                <a:cs typeface="Arial"/>
              </a:defRPr>
            </a:defPPr>
            <a:lvl1pPr algn="l">
              <a:defRPr sz="2400" b="1">
                <a:solidFill>
                  <a:srgbClr val="111111"/>
                </a:solidFill>
                <a:latin typeface="Arial"/>
                <a:ea typeface="Arial"/>
                <a:cs typeface="Arial"/>
              </a:defRPr>
            </a:lvl1pPr>
            <a:lvl2pPr algn="l">
              <a:defRPr sz="2400" b="1">
                <a:solidFill>
                  <a:srgbClr val="111111"/>
                </a:solidFill>
                <a:latin typeface="Arial"/>
                <a:ea typeface="Arial"/>
                <a:cs typeface="Arial"/>
              </a:defRPr>
            </a:lvl2pPr>
            <a:lvl3pPr algn="l">
              <a:defRPr sz="2400" b="1">
                <a:solidFill>
                  <a:srgbClr val="111111"/>
                </a:solidFill>
                <a:latin typeface="Arial"/>
                <a:ea typeface="Arial"/>
                <a:cs typeface="Arial"/>
              </a:defRPr>
            </a:lvl3pPr>
            <a:lvl4pPr algn="l">
              <a:defRPr sz="2400" b="1">
                <a:solidFill>
                  <a:srgbClr val="111111"/>
                </a:solidFill>
                <a:latin typeface="Arial"/>
                <a:ea typeface="Arial"/>
                <a:cs typeface="Arial"/>
              </a:defRPr>
            </a:lvl4pPr>
            <a:lvl5pPr algn="l">
              <a:defRPr sz="2400" b="1">
                <a:solidFill>
                  <a:srgbClr val="111111"/>
                </a:solidFill>
                <a:latin typeface="Arial"/>
                <a:ea typeface="Arial"/>
                <a:cs typeface="Arial"/>
              </a:defRPr>
            </a:lvl5pPr>
            <a:lvl6pPr algn="l">
              <a:defRPr sz="2400" b="1">
                <a:solidFill>
                  <a:srgbClr val="111111"/>
                </a:solidFill>
                <a:latin typeface="Arial"/>
                <a:ea typeface="Arial"/>
                <a:cs typeface="Arial"/>
              </a:defRPr>
            </a:lvl6pPr>
            <a:lvl7pPr algn="l">
              <a:defRPr sz="2400" b="1">
                <a:solidFill>
                  <a:srgbClr val="111111"/>
                </a:solidFill>
                <a:latin typeface="Arial"/>
                <a:ea typeface="Arial"/>
                <a:cs typeface="Arial"/>
              </a:defRPr>
            </a:lvl7pPr>
            <a:lvl8pPr algn="l">
              <a:defRPr sz="2400" b="1">
                <a:solidFill>
                  <a:srgbClr val="111111"/>
                </a:solidFill>
                <a:latin typeface="Arial"/>
                <a:ea typeface="Arial"/>
                <a:cs typeface="Arial"/>
              </a:defRPr>
            </a:lvl8pPr>
            <a:lvl9pPr algn="l">
              <a:defRPr sz="2400" b="1">
                <a:solidFill>
                  <a:srgbClr val="111111"/>
                </a:solidFill>
                <a:latin typeface="Arial"/>
                <a:ea typeface="Arial"/>
                <a:cs typeface="Arial"/>
              </a:defRPr>
            </a:lvl9pPr>
          </a:lstStyle>
          <a:p xmlns:a="http://schemas.openxmlformats.org/drawingml/2006/main">
            <a:pPr algn="l">
              <a:defRPr sz="2400" b="1">
                <a:solidFill>
                  <a:srgbClr val="111111"/>
                </a:solidFill>
                <a:latin typeface="Arial"/>
                <a:ea typeface="Arial"/>
                <a:cs typeface="Arial"/>
              </a:defRPr>
            </a:pPr>
            <a:r>
              <a:rPr sz="2400" b="1">
                <a:solidFill>
                  <a:srgbClr val="111111"/>
                </a:solidFill>
                <a:latin typeface="Arial"/>
                <a:ea typeface="Arial"/>
                <a:cs typeface="Arial"/>
              </a:rPr>
              <a:t>Investigación aplicada y evidencia con procedencia</a:t>
            </a:r>
          </a:p>
        </p:txBody>
      </p:sp>
      <p:sp>
        <p:nvSpPr>
          <p:cNvPr id="3" name="">
            <a:extLst xmlns:a="http://schemas.openxmlformats.org/drawingml/2006/main">
              <a:ext uri="{FF2B5EF4-FFF2-40B4-BE49-F238E27FC236}">
                <a16:creationId xmlns:a16="http://schemas.microsoft.com/office/drawing/2014/main" id="{5AA5E9DE-A428-4E15-A984-51AC784C1892}"/>
              </a:ext>
            </a:extLst>
          </p:cNvPr>
          <p:cNvSpPr>
            <a:spLocks xmlns:a="http://schemas.openxmlformats.org/drawingml/2006/main" noGrp="1"/>
          </p:cNvSpPr>
          <p:nvPr/>
        </p:nvSpPr>
        <p:spPr>
          <a:xfrm xmlns:a="http://schemas.openxmlformats.org/drawingml/2006/main">
            <a:off x="857250" y="33337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Fundamento hipótesis decisión y configuración</a:t>
            </a:r>
          </a:p>
        </p:txBody>
      </p:sp>
      <p:sp>
        <p:nvSpPr>
          <p:cNvPr id="4" name="">
            <a:extLst xmlns:a="http://schemas.openxmlformats.org/drawingml/2006/main">
              <a:ext uri="{FF2B5EF4-FFF2-40B4-BE49-F238E27FC236}">
                <a16:creationId xmlns:a16="http://schemas.microsoft.com/office/drawing/2014/main" id="{707B935B-3CAA-43F4-8B2B-4EBB7F54FC1F}"/>
              </a:ext>
            </a:extLst>
          </p:cNvPr>
          <p:cNvSpPr>
            <a:spLocks xmlns:a="http://schemas.openxmlformats.org/drawingml/2006/main" noGrp="1"/>
          </p:cNvSpPr>
          <p:nvPr/>
        </p:nvSpPr>
        <p:spPr>
          <a:xfrm xmlns:a="http://schemas.openxmlformats.org/drawingml/2006/main">
            <a:off x="857250" y="41719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Prueba observable y resultado o pendiente explícito</a:t>
            </a:r>
          </a:p>
        </p:txBody>
      </p:sp>
      <p:sp>
        <p:nvSpPr>
          <p:cNvPr id="5" name="">
            <a:extLst xmlns:a="http://schemas.openxmlformats.org/drawingml/2006/main">
              <a:ext uri="{FF2B5EF4-FFF2-40B4-BE49-F238E27FC236}">
                <a16:creationId xmlns:a16="http://schemas.microsoft.com/office/drawing/2014/main" id="{5DABF607-A1AA-465D-B078-A8FD02C8F264}"/>
              </a:ext>
            </a:extLst>
          </p:cNvPr>
          <p:cNvSpPr>
            <a:spLocks xmlns:a="http://schemas.openxmlformats.org/drawingml/2006/main" noGrp="1"/>
          </p:cNvSpPr>
          <p:nvPr/>
        </p:nvSpPr>
        <p:spPr>
          <a:xfrm xmlns:a="http://schemas.openxmlformats.org/drawingml/2006/main">
            <a:off x="857250" y="50101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Material editable y registro semanal de integración</a:t>
            </a:r>
          </a:p>
        </p:txBody>
      </p:sp>
      <p:sp>
        <p:nvSpPr>
          <p:cNvPr id="6" name="">
            <a:extLst xmlns:a="http://schemas.openxmlformats.org/drawingml/2006/main">
              <a:ext uri="{FF2B5EF4-FFF2-40B4-BE49-F238E27FC236}">
                <a16:creationId xmlns:a16="http://schemas.microsoft.com/office/drawing/2014/main" id="{202E84CD-2DC4-4A56-B75F-69FF8BE81027}"/>
              </a:ext>
            </a:extLst>
          </p:cNvPr>
          <p:cNvSpPr>
            <a:spLocks xmlns:a="http://schemas.openxmlformats.org/drawingml/2006/main" noGrp="1"/>
          </p:cNvSpPr>
          <p:nvPr/>
        </p:nvSpPr>
        <p:spPr>
          <a:xfrm xmlns:a="http://schemas.openxmlformats.org/drawingml/2006/main">
            <a:off x="685800" y="61531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Fuentes principales y evidencias detalladas en notas y DOC-01-02</a:t>
            </a:r>
          </a:p>
        </p:txBody>
      </p:sp>
      <p:sp>
        <p:nvSpPr>
          <p:cNvPr id="7" name="">
            <a:extLst xmlns:a="http://schemas.openxmlformats.org/drawingml/2006/main">
              <a:ext uri="{FF2B5EF4-FFF2-40B4-BE49-F238E27FC236}">
                <a16:creationId xmlns:a16="http://schemas.microsoft.com/office/drawing/2014/main" id="{7D01F097-AF3F-401E-A45F-6EE63C0CD577}"/>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29</a:t>
            </a:r>
          </a:p>
        </p:txBody>
      </p:sp>
    </p:spTree>
    <p:extLst>
      <p:ext uri="{BB962C8B-B14F-4D97-AF65-F5344CB8AC3E}">
        <p14:creationId xmlns:p14="http://schemas.microsoft.com/office/powerpoint/2010/main" val="17133278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AA51D3-D880-4A23-ABA1-82A49B3D6557}"/>
              </a:ext>
            </a:extLst>
          </p:cNvPr>
          <p:cNvSpPr>
            <a:spLocks xmlns:a="http://schemas.openxmlformats.org/drawingml/2006/main" noGrp="1"/>
          </p:cNvSpPr>
          <p:nvPr/>
        </p:nvSpPr>
        <p:spPr>
          <a:xfrm xmlns:a="http://schemas.openxmlformats.org/drawingml/2006/main">
            <a:off x="685800" y="800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11111"/>
                </a:solidFill>
                <a:latin typeface="Arial"/>
                <a:ea typeface="Arial"/>
                <a:cs typeface="Arial"/>
              </a:defRPr>
            </a:defPPr>
            <a:lvl1pPr algn="l">
              <a:defRPr sz="3000" b="1">
                <a:solidFill>
                  <a:srgbClr val="111111"/>
                </a:solidFill>
                <a:latin typeface="Arial"/>
                <a:ea typeface="Arial"/>
                <a:cs typeface="Arial"/>
              </a:defRPr>
            </a:lvl1pPr>
            <a:lvl2pPr algn="l">
              <a:defRPr sz="3000" b="1">
                <a:solidFill>
                  <a:srgbClr val="111111"/>
                </a:solidFill>
                <a:latin typeface="Arial"/>
                <a:ea typeface="Arial"/>
                <a:cs typeface="Arial"/>
              </a:defRPr>
            </a:lvl2pPr>
            <a:lvl3pPr algn="l">
              <a:defRPr sz="3000" b="1">
                <a:solidFill>
                  <a:srgbClr val="111111"/>
                </a:solidFill>
                <a:latin typeface="Arial"/>
                <a:ea typeface="Arial"/>
                <a:cs typeface="Arial"/>
              </a:defRPr>
            </a:lvl3pPr>
            <a:lvl4pPr algn="l">
              <a:defRPr sz="3000" b="1">
                <a:solidFill>
                  <a:srgbClr val="111111"/>
                </a:solidFill>
                <a:latin typeface="Arial"/>
                <a:ea typeface="Arial"/>
                <a:cs typeface="Arial"/>
              </a:defRPr>
            </a:lvl4pPr>
            <a:lvl5pPr algn="l">
              <a:defRPr sz="3000" b="1">
                <a:solidFill>
                  <a:srgbClr val="111111"/>
                </a:solidFill>
                <a:latin typeface="Arial"/>
                <a:ea typeface="Arial"/>
                <a:cs typeface="Arial"/>
              </a:defRPr>
            </a:lvl5pPr>
            <a:lvl6pPr algn="l">
              <a:defRPr sz="3000" b="1">
                <a:solidFill>
                  <a:srgbClr val="111111"/>
                </a:solidFill>
                <a:latin typeface="Arial"/>
                <a:ea typeface="Arial"/>
                <a:cs typeface="Arial"/>
              </a:defRPr>
            </a:lvl6pPr>
            <a:lvl7pPr algn="l">
              <a:defRPr sz="3000" b="1">
                <a:solidFill>
                  <a:srgbClr val="111111"/>
                </a:solidFill>
                <a:latin typeface="Arial"/>
                <a:ea typeface="Arial"/>
                <a:cs typeface="Arial"/>
              </a:defRPr>
            </a:lvl7pPr>
            <a:lvl8pPr algn="l">
              <a:defRPr sz="3000" b="1">
                <a:solidFill>
                  <a:srgbClr val="111111"/>
                </a:solidFill>
                <a:latin typeface="Arial"/>
                <a:ea typeface="Arial"/>
                <a:cs typeface="Arial"/>
              </a:defRPr>
            </a:lvl8pPr>
            <a:lvl9pPr algn="l">
              <a:defRPr sz="3000" b="1">
                <a:solidFill>
                  <a:srgbClr val="111111"/>
                </a:solidFill>
                <a:latin typeface="Arial"/>
                <a:ea typeface="Arial"/>
                <a:cs typeface="Arial"/>
              </a:defRPr>
            </a:lvl9pPr>
          </a:lstStyle>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Conclusión del caso de éxito propio</a:t>
            </a:r>
          </a:p>
        </p:txBody>
      </p:sp>
      <p:sp>
        <p:nvSpPr>
          <p:cNvPr id="2" name="">
            <a:extLst xmlns:a="http://schemas.openxmlformats.org/drawingml/2006/main">
              <a:ext uri="{FF2B5EF4-FFF2-40B4-BE49-F238E27FC236}">
                <a16:creationId xmlns:a16="http://schemas.microsoft.com/office/drawing/2014/main" id="{AD3C4E9E-BDD3-40BD-9B5C-8457FE60B4FA}"/>
              </a:ext>
            </a:extLst>
          </p:cNvPr>
          <p:cNvSpPr>
            <a:spLocks xmlns:a="http://schemas.openxmlformats.org/drawingml/2006/main" noGrp="1"/>
          </p:cNvSpPr>
          <p:nvPr/>
        </p:nvSpPr>
        <p:spPr>
          <a:xfrm xmlns:a="http://schemas.openxmlformats.org/drawingml/2006/main">
            <a:off x="685800" y="2076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111111"/>
                </a:solidFill>
                <a:latin typeface="Arial"/>
                <a:ea typeface="Arial"/>
                <a:cs typeface="Arial"/>
              </a:defRPr>
            </a:defPPr>
            <a:lvl1pPr algn="l">
              <a:defRPr sz="2400" b="1">
                <a:solidFill>
                  <a:srgbClr val="111111"/>
                </a:solidFill>
                <a:latin typeface="Arial"/>
                <a:ea typeface="Arial"/>
                <a:cs typeface="Arial"/>
              </a:defRPr>
            </a:lvl1pPr>
            <a:lvl2pPr algn="l">
              <a:defRPr sz="2400" b="1">
                <a:solidFill>
                  <a:srgbClr val="111111"/>
                </a:solidFill>
                <a:latin typeface="Arial"/>
                <a:ea typeface="Arial"/>
                <a:cs typeface="Arial"/>
              </a:defRPr>
            </a:lvl2pPr>
            <a:lvl3pPr algn="l">
              <a:defRPr sz="2400" b="1">
                <a:solidFill>
                  <a:srgbClr val="111111"/>
                </a:solidFill>
                <a:latin typeface="Arial"/>
                <a:ea typeface="Arial"/>
                <a:cs typeface="Arial"/>
              </a:defRPr>
            </a:lvl3pPr>
            <a:lvl4pPr algn="l">
              <a:defRPr sz="2400" b="1">
                <a:solidFill>
                  <a:srgbClr val="111111"/>
                </a:solidFill>
                <a:latin typeface="Arial"/>
                <a:ea typeface="Arial"/>
                <a:cs typeface="Arial"/>
              </a:defRPr>
            </a:lvl4pPr>
            <a:lvl5pPr algn="l">
              <a:defRPr sz="2400" b="1">
                <a:solidFill>
                  <a:srgbClr val="111111"/>
                </a:solidFill>
                <a:latin typeface="Arial"/>
                <a:ea typeface="Arial"/>
                <a:cs typeface="Arial"/>
              </a:defRPr>
            </a:lvl5pPr>
            <a:lvl6pPr algn="l">
              <a:defRPr sz="2400" b="1">
                <a:solidFill>
                  <a:srgbClr val="111111"/>
                </a:solidFill>
                <a:latin typeface="Arial"/>
                <a:ea typeface="Arial"/>
                <a:cs typeface="Arial"/>
              </a:defRPr>
            </a:lvl6pPr>
            <a:lvl7pPr algn="l">
              <a:defRPr sz="2400" b="1">
                <a:solidFill>
                  <a:srgbClr val="111111"/>
                </a:solidFill>
                <a:latin typeface="Arial"/>
                <a:ea typeface="Arial"/>
                <a:cs typeface="Arial"/>
              </a:defRPr>
            </a:lvl7pPr>
            <a:lvl8pPr algn="l">
              <a:defRPr sz="2400" b="1">
                <a:solidFill>
                  <a:srgbClr val="111111"/>
                </a:solidFill>
                <a:latin typeface="Arial"/>
                <a:ea typeface="Arial"/>
                <a:cs typeface="Arial"/>
              </a:defRPr>
            </a:lvl8pPr>
            <a:lvl9pPr algn="l">
              <a:defRPr sz="2400" b="1">
                <a:solidFill>
                  <a:srgbClr val="111111"/>
                </a:solidFill>
                <a:latin typeface="Arial"/>
                <a:ea typeface="Arial"/>
                <a:cs typeface="Arial"/>
              </a:defRPr>
            </a:lvl9pPr>
          </a:lstStyle>
          <a:p xmlns:a="http://schemas.openxmlformats.org/drawingml/2006/main">
            <a:pPr algn="l">
              <a:defRPr sz="2400" b="1">
                <a:solidFill>
                  <a:srgbClr val="111111"/>
                </a:solidFill>
                <a:latin typeface="Arial"/>
                <a:ea typeface="Arial"/>
                <a:cs typeface="Arial"/>
              </a:defRPr>
            </a:pPr>
            <a:r>
              <a:rPr sz="2400" b="1">
                <a:solidFill>
                  <a:srgbClr val="111111"/>
                </a:solidFill>
                <a:latin typeface="Arial"/>
                <a:ea typeface="Arial"/>
                <a:cs typeface="Arial"/>
              </a:rPr>
              <a:t>Construimos y verificamos un sistema de reservas</a:t>
            </a:r>
          </a:p>
        </p:txBody>
      </p:sp>
      <p:sp>
        <p:nvSpPr>
          <p:cNvPr id="3" name="">
            <a:extLst xmlns:a="http://schemas.openxmlformats.org/drawingml/2006/main">
              <a:ext uri="{FF2B5EF4-FFF2-40B4-BE49-F238E27FC236}">
                <a16:creationId xmlns:a16="http://schemas.microsoft.com/office/drawing/2014/main" id="{470ED125-588E-4C62-9342-2D035ABD5E69}"/>
              </a:ext>
            </a:extLst>
          </p:cNvPr>
          <p:cNvSpPr>
            <a:spLocks xmlns:a="http://schemas.openxmlformats.org/drawingml/2006/main" noGrp="1"/>
          </p:cNvSpPr>
          <p:nvPr/>
        </p:nvSpPr>
        <p:spPr>
          <a:xfrm xmlns:a="http://schemas.openxmlformats.org/drawingml/2006/main">
            <a:off x="857250" y="33337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Los seis temas explican el mismo caso</a:t>
            </a:r>
          </a:p>
        </p:txBody>
      </p:sp>
      <p:sp>
        <p:nvSpPr>
          <p:cNvPr id="4" name="">
            <a:extLst xmlns:a="http://schemas.openxmlformats.org/drawingml/2006/main">
              <a:ext uri="{FF2B5EF4-FFF2-40B4-BE49-F238E27FC236}">
                <a16:creationId xmlns:a16="http://schemas.microsoft.com/office/drawing/2014/main" id="{5EB1A032-2577-4201-ADDD-DC785A686144}"/>
              </a:ext>
            </a:extLst>
          </p:cNvPr>
          <p:cNvSpPr>
            <a:spLocks xmlns:a="http://schemas.openxmlformats.org/drawingml/2006/main" noGrp="1"/>
          </p:cNvSpPr>
          <p:nvPr/>
        </p:nvSpPr>
        <p:spPr>
          <a:xfrm xmlns:a="http://schemas.openxmlformats.org/drawingml/2006/main">
            <a:off x="857250" y="41719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La evidencia local sustenta lo ya demostrado</a:t>
            </a:r>
          </a:p>
        </p:txBody>
      </p:sp>
      <p:sp>
        <p:nvSpPr>
          <p:cNvPr id="5" name="">
            <a:extLst xmlns:a="http://schemas.openxmlformats.org/drawingml/2006/main">
              <a:ext uri="{FF2B5EF4-FFF2-40B4-BE49-F238E27FC236}">
                <a16:creationId xmlns:a16="http://schemas.microsoft.com/office/drawing/2014/main" id="{0C263EA1-16E3-438D-A37B-EDF042955E77}"/>
              </a:ext>
            </a:extLst>
          </p:cNvPr>
          <p:cNvSpPr>
            <a:spLocks xmlns:a="http://schemas.openxmlformats.org/drawingml/2006/main" noGrp="1"/>
          </p:cNvSpPr>
          <p:nvPr/>
        </p:nvSpPr>
        <p:spPr>
          <a:xfrm xmlns:a="http://schemas.openxmlformats.org/drawingml/2006/main">
            <a:off x="857250" y="50101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111111"/>
                </a:solidFill>
                <a:latin typeface="Arial"/>
                <a:ea typeface="Arial"/>
                <a:cs typeface="Arial"/>
              </a:defRPr>
            </a:defPPr>
            <a:lvl1pPr algn="l">
              <a:defRPr sz="2100" b="0">
                <a:solidFill>
                  <a:srgbClr val="111111"/>
                </a:solidFill>
                <a:latin typeface="Arial"/>
                <a:ea typeface="Arial"/>
                <a:cs typeface="Arial"/>
              </a:defRPr>
            </a:lvl1pPr>
            <a:lvl2pPr algn="l">
              <a:defRPr sz="2100" b="0">
                <a:solidFill>
                  <a:srgbClr val="111111"/>
                </a:solidFill>
                <a:latin typeface="Arial"/>
                <a:ea typeface="Arial"/>
                <a:cs typeface="Arial"/>
              </a:defRPr>
            </a:lvl2pPr>
            <a:lvl3pPr algn="l">
              <a:defRPr sz="2100" b="0">
                <a:solidFill>
                  <a:srgbClr val="111111"/>
                </a:solidFill>
                <a:latin typeface="Arial"/>
                <a:ea typeface="Arial"/>
                <a:cs typeface="Arial"/>
              </a:defRPr>
            </a:lvl3pPr>
            <a:lvl4pPr algn="l">
              <a:defRPr sz="2100" b="0">
                <a:solidFill>
                  <a:srgbClr val="111111"/>
                </a:solidFill>
                <a:latin typeface="Arial"/>
                <a:ea typeface="Arial"/>
                <a:cs typeface="Arial"/>
              </a:defRPr>
            </a:lvl4pPr>
            <a:lvl5pPr algn="l">
              <a:defRPr sz="2100" b="0">
                <a:solidFill>
                  <a:srgbClr val="111111"/>
                </a:solidFill>
                <a:latin typeface="Arial"/>
                <a:ea typeface="Arial"/>
                <a:cs typeface="Arial"/>
              </a:defRPr>
            </a:lvl5pPr>
            <a:lvl6pPr algn="l">
              <a:defRPr sz="2100" b="0">
                <a:solidFill>
                  <a:srgbClr val="111111"/>
                </a:solidFill>
                <a:latin typeface="Arial"/>
                <a:ea typeface="Arial"/>
                <a:cs typeface="Arial"/>
              </a:defRPr>
            </a:lvl6pPr>
            <a:lvl7pPr algn="l">
              <a:defRPr sz="2100" b="0">
                <a:solidFill>
                  <a:srgbClr val="111111"/>
                </a:solidFill>
                <a:latin typeface="Arial"/>
                <a:ea typeface="Arial"/>
                <a:cs typeface="Arial"/>
              </a:defRPr>
            </a:lvl7pPr>
            <a:lvl8pPr algn="l">
              <a:defRPr sz="2100" b="0">
                <a:solidFill>
                  <a:srgbClr val="111111"/>
                </a:solidFill>
                <a:latin typeface="Arial"/>
                <a:ea typeface="Arial"/>
                <a:cs typeface="Arial"/>
              </a:defRPr>
            </a:lvl8pPr>
            <a:lvl9pPr algn="l">
              <a:defRPr sz="2100" b="0">
                <a:solidFill>
                  <a:srgbClr val="111111"/>
                </a:solidFill>
                <a:latin typeface="Arial"/>
                <a:ea typeface="Arial"/>
                <a:cs typeface="Arial"/>
              </a:defRPr>
            </a:lvl9pPr>
          </a:lstStyle>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El experimento OpenShift permitirá contrastar las metas restantes</a:t>
            </a:r>
          </a:p>
        </p:txBody>
      </p:sp>
      <p:sp>
        <p:nvSpPr>
          <p:cNvPr id="6" name="">
            <a:extLst xmlns:a="http://schemas.openxmlformats.org/drawingml/2006/main">
              <a:ext uri="{FF2B5EF4-FFF2-40B4-BE49-F238E27FC236}">
                <a16:creationId xmlns:a16="http://schemas.microsoft.com/office/drawing/2014/main" id="{B354D9CD-7922-42EC-9572-E1C16BB06DCC}"/>
              </a:ext>
            </a:extLst>
          </p:cNvPr>
          <p:cNvSpPr>
            <a:spLocks xmlns:a="http://schemas.openxmlformats.org/drawingml/2006/main" noGrp="1"/>
          </p:cNvSpPr>
          <p:nvPr/>
        </p:nvSpPr>
        <p:spPr>
          <a:xfrm xmlns:a="http://schemas.openxmlformats.org/drawingml/2006/main">
            <a:off x="685800" y="61531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444444"/>
                </a:solidFill>
                <a:latin typeface="Arial"/>
                <a:ea typeface="Arial"/>
                <a:cs typeface="Arial"/>
              </a:defRPr>
            </a:defPPr>
            <a:lvl1pPr algn="l">
              <a:defRPr sz="1350" b="0">
                <a:solidFill>
                  <a:srgbClr val="444444"/>
                </a:solidFill>
                <a:latin typeface="Arial"/>
                <a:ea typeface="Arial"/>
                <a:cs typeface="Arial"/>
              </a:defRPr>
            </a:lvl1pPr>
            <a:lvl2pPr algn="l">
              <a:defRPr sz="1350" b="0">
                <a:solidFill>
                  <a:srgbClr val="444444"/>
                </a:solidFill>
                <a:latin typeface="Arial"/>
                <a:ea typeface="Arial"/>
                <a:cs typeface="Arial"/>
              </a:defRPr>
            </a:lvl2pPr>
            <a:lvl3pPr algn="l">
              <a:defRPr sz="1350" b="0">
                <a:solidFill>
                  <a:srgbClr val="444444"/>
                </a:solidFill>
                <a:latin typeface="Arial"/>
                <a:ea typeface="Arial"/>
                <a:cs typeface="Arial"/>
              </a:defRPr>
            </a:lvl3pPr>
            <a:lvl4pPr algn="l">
              <a:defRPr sz="1350" b="0">
                <a:solidFill>
                  <a:srgbClr val="444444"/>
                </a:solidFill>
                <a:latin typeface="Arial"/>
                <a:ea typeface="Arial"/>
                <a:cs typeface="Arial"/>
              </a:defRPr>
            </a:lvl4pPr>
            <a:lvl5pPr algn="l">
              <a:defRPr sz="1350" b="0">
                <a:solidFill>
                  <a:srgbClr val="444444"/>
                </a:solidFill>
                <a:latin typeface="Arial"/>
                <a:ea typeface="Arial"/>
                <a:cs typeface="Arial"/>
              </a:defRPr>
            </a:lvl5pPr>
            <a:lvl6pPr algn="l">
              <a:defRPr sz="1350" b="0">
                <a:solidFill>
                  <a:srgbClr val="444444"/>
                </a:solidFill>
                <a:latin typeface="Arial"/>
                <a:ea typeface="Arial"/>
                <a:cs typeface="Arial"/>
              </a:defRPr>
            </a:lvl6pPr>
            <a:lvl7pPr algn="l">
              <a:defRPr sz="1350" b="0">
                <a:solidFill>
                  <a:srgbClr val="444444"/>
                </a:solidFill>
                <a:latin typeface="Arial"/>
                <a:ea typeface="Arial"/>
                <a:cs typeface="Arial"/>
              </a:defRPr>
            </a:lvl7pPr>
            <a:lvl8pPr algn="l">
              <a:defRPr sz="1350" b="0">
                <a:solidFill>
                  <a:srgbClr val="444444"/>
                </a:solidFill>
                <a:latin typeface="Arial"/>
                <a:ea typeface="Arial"/>
                <a:cs typeface="Arial"/>
              </a:defRPr>
            </a:lvl8pPr>
            <a:lvl9pPr algn="l">
              <a:defRPr sz="1350" b="0">
                <a:solidFill>
                  <a:srgbClr val="444444"/>
                </a:solidFill>
                <a:latin typeface="Arial"/>
                <a:ea typeface="Arial"/>
                <a:cs typeface="Arial"/>
              </a:defRPr>
            </a:lvl9pPr>
          </a:lstStyle>
          <a:p xmlns:a="http://schemas.openxmlformats.org/drawingml/2006/main">
            <a:pPr algn="l">
              <a:defRPr sz="1350" b="0">
                <a:solidFill>
                  <a:srgbClr val="444444"/>
                </a:solidFill>
                <a:latin typeface="Arial"/>
                <a:ea typeface="Arial"/>
                <a:cs typeface="Arial"/>
              </a:defRPr>
            </a:pPr>
            <a:r>
              <a:rPr sz="1350" b="0">
                <a:solidFill>
                  <a:srgbClr val="444444"/>
                </a:solidFill>
                <a:latin typeface="Arial"/>
                <a:ea typeface="Arial"/>
                <a:cs typeface="Arial"/>
              </a:rPr>
              <a:t>Demostrar una reserva correcta hoy y formular una conclusión comprobable mañana</a:t>
            </a:r>
          </a:p>
        </p:txBody>
      </p:sp>
      <p:sp>
        <p:nvSpPr>
          <p:cNvPr id="7" name="">
            <a:extLst xmlns:a="http://schemas.openxmlformats.org/drawingml/2006/main">
              <a:ext uri="{FF2B5EF4-FFF2-40B4-BE49-F238E27FC236}">
                <a16:creationId xmlns:a16="http://schemas.microsoft.com/office/drawing/2014/main" id="{AA8D9177-28E9-462C-B501-A25D29F8ACD4}"/>
              </a:ext>
            </a:extLst>
          </p:cNvPr>
          <p:cNvSpPr>
            <a:spLocks xmlns:a="http://schemas.openxmlformats.org/drawingml/2006/main" noGrp="1"/>
          </p:cNvSpPr>
          <p:nvPr/>
        </p:nvSpPr>
        <p:spPr>
          <a:xfrm xmlns:a="http://schemas.openxmlformats.org/drawingml/2006/main">
            <a:off x="11506200" y="65151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30</a:t>
            </a:r>
          </a:p>
        </p:txBody>
      </p:sp>
    </p:spTree>
    <p:extLst>
      <p:ext uri="{BB962C8B-B14F-4D97-AF65-F5344CB8AC3E}">
        <p14:creationId xmlns:p14="http://schemas.microsoft.com/office/powerpoint/2010/main" val="17511481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2026-10-21T01:07:41.3790000Z</dcterms:created>
  <dcterms:modified xsi:type="dcterms:W3CDTF">2026-10-21T01:07:41.3790000Z</dcterms:modified>
</coreProperties>
</file>